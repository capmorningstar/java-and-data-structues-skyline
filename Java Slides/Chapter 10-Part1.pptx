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91"/>
  </p:notesMasterIdLst>
  <p:sldIdLst>
    <p:sldId id="256" r:id="rId2"/>
    <p:sldId id="381" r:id="rId3"/>
    <p:sldId id="282" r:id="rId4"/>
    <p:sldId id="257" r:id="rId5"/>
    <p:sldId id="625" r:id="rId6"/>
    <p:sldId id="278" r:id="rId7"/>
    <p:sldId id="291" r:id="rId8"/>
    <p:sldId id="626" r:id="rId9"/>
    <p:sldId id="396" r:id="rId10"/>
    <p:sldId id="394" r:id="rId11"/>
    <p:sldId id="565" r:id="rId12"/>
    <p:sldId id="627" r:id="rId13"/>
    <p:sldId id="566" r:id="rId14"/>
    <p:sldId id="581" r:id="rId15"/>
    <p:sldId id="628" r:id="rId16"/>
    <p:sldId id="567" r:id="rId17"/>
    <p:sldId id="568" r:id="rId18"/>
    <p:sldId id="569" r:id="rId19"/>
    <p:sldId id="629" r:id="rId20"/>
    <p:sldId id="570" r:id="rId21"/>
    <p:sldId id="571" r:id="rId22"/>
    <p:sldId id="630" r:id="rId23"/>
    <p:sldId id="572" r:id="rId24"/>
    <p:sldId id="596" r:id="rId25"/>
    <p:sldId id="573" r:id="rId26"/>
    <p:sldId id="631" r:id="rId27"/>
    <p:sldId id="574" r:id="rId28"/>
    <p:sldId id="575" r:id="rId29"/>
    <p:sldId id="576" r:id="rId30"/>
    <p:sldId id="597" r:id="rId31"/>
    <p:sldId id="577" r:id="rId32"/>
    <p:sldId id="632" r:id="rId33"/>
    <p:sldId id="578" r:id="rId34"/>
    <p:sldId id="579" r:id="rId35"/>
    <p:sldId id="633" r:id="rId36"/>
    <p:sldId id="580" r:id="rId37"/>
    <p:sldId id="582" r:id="rId38"/>
    <p:sldId id="583" r:id="rId39"/>
    <p:sldId id="635" r:id="rId40"/>
    <p:sldId id="585" r:id="rId41"/>
    <p:sldId id="586" r:id="rId42"/>
    <p:sldId id="636" r:id="rId43"/>
    <p:sldId id="587" r:id="rId44"/>
    <p:sldId id="588" r:id="rId45"/>
    <p:sldId id="589" r:id="rId46"/>
    <p:sldId id="598" r:id="rId47"/>
    <p:sldId id="590" r:id="rId48"/>
    <p:sldId id="591" r:id="rId49"/>
    <p:sldId id="637" r:id="rId50"/>
    <p:sldId id="592" r:id="rId51"/>
    <p:sldId id="593" r:id="rId52"/>
    <p:sldId id="638" r:id="rId53"/>
    <p:sldId id="594" r:id="rId54"/>
    <p:sldId id="599" r:id="rId55"/>
    <p:sldId id="634" r:id="rId56"/>
    <p:sldId id="620" r:id="rId57"/>
    <p:sldId id="621" r:id="rId58"/>
    <p:sldId id="584" r:id="rId59"/>
    <p:sldId id="595" r:id="rId60"/>
    <p:sldId id="600" r:id="rId61"/>
    <p:sldId id="639" r:id="rId62"/>
    <p:sldId id="601" r:id="rId63"/>
    <p:sldId id="602" r:id="rId64"/>
    <p:sldId id="603" r:id="rId65"/>
    <p:sldId id="604" r:id="rId66"/>
    <p:sldId id="640" r:id="rId67"/>
    <p:sldId id="605" r:id="rId68"/>
    <p:sldId id="641" r:id="rId69"/>
    <p:sldId id="606" r:id="rId70"/>
    <p:sldId id="607" r:id="rId71"/>
    <p:sldId id="623" r:id="rId72"/>
    <p:sldId id="642" r:id="rId73"/>
    <p:sldId id="608" r:id="rId74"/>
    <p:sldId id="622" r:id="rId75"/>
    <p:sldId id="643" r:id="rId76"/>
    <p:sldId id="609" r:id="rId77"/>
    <p:sldId id="610" r:id="rId78"/>
    <p:sldId id="611" r:id="rId79"/>
    <p:sldId id="644" r:id="rId80"/>
    <p:sldId id="613" r:id="rId81"/>
    <p:sldId id="614" r:id="rId82"/>
    <p:sldId id="615" r:id="rId83"/>
    <p:sldId id="645" r:id="rId84"/>
    <p:sldId id="612" r:id="rId85"/>
    <p:sldId id="624" r:id="rId86"/>
    <p:sldId id="616" r:id="rId87"/>
    <p:sldId id="618" r:id="rId88"/>
    <p:sldId id="619" r:id="rId89"/>
    <p:sldId id="290" r:id="rId90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5" d="100"/>
          <a:sy n="85" d="100"/>
        </p:scale>
        <p:origin x="882" y="90"/>
      </p:cViewPr>
      <p:guideLst/>
    </p:cSldViewPr>
  </p:slideViewPr>
  <p:outlineViewPr>
    <p:cViewPr>
      <p:scale>
        <a:sx n="33" d="100"/>
        <a:sy n="33" d="100"/>
      </p:scale>
      <p:origin x="0" y="-365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6822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181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164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563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1098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024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150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467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79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464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0205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3279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689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2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545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3043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0476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707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05510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716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924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9275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194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685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28837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5142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1320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7466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5965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09579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90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2575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5342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4407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4103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95901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5781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978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4023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7435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6634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5817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57976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487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986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77079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484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0143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7930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75232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6200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01428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4451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7150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19567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1748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25543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1627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353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76424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7976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94054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39264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58671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7728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3892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887615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949127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513328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913593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189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847464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42595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70701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436791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271471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93565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98793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22449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426481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67437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315378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23143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96712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109251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02518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590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49" y="1073925"/>
            <a:ext cx="5780325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10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190044" y="2884950"/>
            <a:ext cx="496836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 dirty="0"/>
              <a:t> Streams and File I/O</a:t>
            </a:r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878763"/>
              </p:ext>
            </p:extLst>
          </p:nvPr>
        </p:nvGraphicFramePr>
        <p:xfrm>
          <a:off x="720000" y="1087419"/>
          <a:ext cx="7437014" cy="370840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156800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280214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Streams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Buffering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I/O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Echoing a file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Input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CSV files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Output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Regular expressions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Reading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Object serialization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17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Writing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EOF (End-of-File)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07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Files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Records in a file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60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Text file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Sequential file access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8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Binary file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Random file access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94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Closing a file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6352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32859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876116" y="1573482"/>
            <a:ext cx="2605443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Closing a file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4978213" y="1572746"/>
            <a:ext cx="2696252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Confirmation of  a program’s activities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3522134" y="3298996"/>
            <a:ext cx="2619022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The two names of a file in a program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  <p:extLst>
      <p:ext uri="{BB962C8B-B14F-4D97-AF65-F5344CB8AC3E}">
        <p14:creationId xmlns:p14="http://schemas.microsoft.com/office/powerpoint/2010/main" val="316649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32859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876116" y="1573482"/>
            <a:ext cx="2605443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File names in Strings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4978213" y="1572746"/>
            <a:ext cx="2696252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Know file structure before using it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3522134" y="3298996"/>
            <a:ext cx="2619022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Updating a file in place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530577" y="3005789"/>
            <a:ext cx="2540001" cy="1127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Scanner to read from a file</a:t>
            </a: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5892800" y="3006475"/>
            <a:ext cx="3002844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regular expressions (</a:t>
            </a:r>
            <a:r>
              <a:rPr lang="en-US" dirty="0" err="1">
                <a:solidFill>
                  <a:schemeClr val="tx1"/>
                </a:solidFill>
                <a:highlight>
                  <a:srgbClr val="00FFFF"/>
                </a:highlight>
              </a:rPr>
              <a:t>line.split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)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661072" y="1275889"/>
            <a:ext cx="2228884" cy="1127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Processing file I/O exceptions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1022;p50">
            <a:extLst>
              <a:ext uri="{FF2B5EF4-FFF2-40B4-BE49-F238E27FC236}">
                <a16:creationId xmlns:a16="http://schemas.microsoft.com/office/drawing/2014/main" id="{AA5AC291-A870-4499-9DC3-672B5D715923}"/>
              </a:ext>
            </a:extLst>
          </p:cNvPr>
          <p:cNvSpPr txBox="1">
            <a:spLocks/>
          </p:cNvSpPr>
          <p:nvPr/>
        </p:nvSpPr>
        <p:spPr>
          <a:xfrm>
            <a:off x="6073422" y="1275888"/>
            <a:ext cx="2228884" cy="112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How to use a </a:t>
            </a:r>
            <a:r>
              <a:rPr lang="en-US" dirty="0" err="1">
                <a:solidFill>
                  <a:schemeClr val="tx1"/>
                </a:solidFill>
                <a:highlight>
                  <a:srgbClr val="00FFFF"/>
                </a:highlight>
              </a:rPr>
              <a:t>PrintWriter</a:t>
            </a:r>
            <a:endParaRPr lang="en-US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432639" y="3005789"/>
            <a:ext cx="2637937" cy="1127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Specifics of </a:t>
            </a:r>
            <a:r>
              <a:rPr lang="en-US" dirty="0" err="1">
                <a:solidFill>
                  <a:schemeClr val="tx1"/>
                </a:solidFill>
                <a:highlight>
                  <a:srgbClr val="00FFFF"/>
                </a:highlight>
              </a:rPr>
              <a:t>ObjectOutputStream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 methods</a:t>
            </a: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637938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Writing </a:t>
            </a:r>
            <a:r>
              <a:rPr lang="en-US">
                <a:solidFill>
                  <a:schemeClr val="tx1"/>
                </a:solidFill>
                <a:highlight>
                  <a:srgbClr val="00FFFF"/>
                </a:highlight>
              </a:rPr>
              <a:t>code for EOF 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Processing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661072" y="1275889"/>
            <a:ext cx="2228884" cy="1127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Getting a file name into a file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1022;p50">
            <a:extLst>
              <a:ext uri="{FF2B5EF4-FFF2-40B4-BE49-F238E27FC236}">
                <a16:creationId xmlns:a16="http://schemas.microsoft.com/office/drawing/2014/main" id="{AA5AC291-A870-4499-9DC3-672B5D715923}"/>
              </a:ext>
            </a:extLst>
          </p:cNvPr>
          <p:cNvSpPr txBox="1">
            <a:spLocks/>
          </p:cNvSpPr>
          <p:nvPr/>
        </p:nvSpPr>
        <p:spPr>
          <a:xfrm>
            <a:off x="5825067" y="1275888"/>
            <a:ext cx="2765777" cy="112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How to use </a:t>
            </a:r>
            <a:r>
              <a:rPr lang="en-US" dirty="0" err="1">
                <a:solidFill>
                  <a:schemeClr val="tx1"/>
                </a:solidFill>
                <a:highlight>
                  <a:srgbClr val="00FFFF"/>
                </a:highlight>
              </a:rPr>
              <a:t>ObjectOutputStream</a:t>
            </a: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, </a:t>
            </a:r>
            <a:r>
              <a:rPr lang="en-US" dirty="0" err="1">
                <a:solidFill>
                  <a:schemeClr val="tx1"/>
                </a:solidFill>
                <a:highlight>
                  <a:srgbClr val="00FFFF"/>
                </a:highlight>
              </a:rPr>
              <a:t>ObjectInputStream</a:t>
            </a:r>
            <a:endParaRPr lang="en-US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89398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49" y="1073925"/>
            <a:ext cx="5737441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10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Introducing Streams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Streams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stream is like the duck game for kids at a fair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ducks go by, and pick one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what people mean by streaming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data comes by, you catch it, but you don’t store it</a:t>
            </a:r>
          </a:p>
        </p:txBody>
      </p:sp>
    </p:spTree>
    <p:extLst>
      <p:ext uri="{BB962C8B-B14F-4D97-AF65-F5344CB8AC3E}">
        <p14:creationId xmlns:p14="http://schemas.microsoft.com/office/powerpoint/2010/main" val="413477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Input, Output and Other Vocabulary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2621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Vocabulary-Input and Output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Input means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Data coming from the world INTO the computer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Output means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Data going OUT from the computer to the world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Streams can be either input or output based on how they are used</a:t>
            </a:r>
          </a:p>
        </p:txBody>
      </p:sp>
    </p:spTree>
    <p:extLst>
      <p:ext uri="{BB962C8B-B14F-4D97-AF65-F5344CB8AC3E}">
        <p14:creationId xmlns:p14="http://schemas.microsoft.com/office/powerpoint/2010/main" val="4210677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Vocabulary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I/O means input and output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“Read” means to examine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“Write” means to create or change data</a:t>
            </a:r>
          </a:p>
        </p:txBody>
      </p:sp>
    </p:spTree>
    <p:extLst>
      <p:ext uri="{BB962C8B-B14F-4D97-AF65-F5344CB8AC3E}">
        <p14:creationId xmlns:p14="http://schemas.microsoft.com/office/powerpoint/2010/main" val="670148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Files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7952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Files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file is data that is stored in permanent (secondary) storage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several ways to store data in a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will classify files as text files or binary files</a:t>
            </a:r>
          </a:p>
        </p:txBody>
      </p:sp>
    </p:spTree>
    <p:extLst>
      <p:ext uri="{BB962C8B-B14F-4D97-AF65-F5344CB8AC3E}">
        <p14:creationId xmlns:p14="http://schemas.microsoft.com/office/powerpoint/2010/main" val="3372466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Text Files vs. Binary Files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All files are actually binary files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However, some can be interpreted as text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have to open them with a text editor (like </a:t>
            </a:r>
            <a:r>
              <a:rPr lang="en-US" sz="2800" b="1" dirty="0" err="1"/>
              <a:t>jGrasp</a:t>
            </a:r>
            <a:r>
              <a:rPr lang="en-US" sz="2800" b="1" dirty="0"/>
              <a:t>) to see this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 that here, “binary files” means non-text files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see some examples</a:t>
            </a:r>
          </a:p>
        </p:txBody>
      </p:sp>
    </p:spTree>
    <p:extLst>
      <p:ext uri="{BB962C8B-B14F-4D97-AF65-F5344CB8AC3E}">
        <p14:creationId xmlns:p14="http://schemas.microsoft.com/office/powerpoint/2010/main" val="2004742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Comparing the Two Types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Each type of file has its advantages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text file is easy to see and edit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binary file takes less space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Based on the data you store in a file, you don’t have a choice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If you are storing text, you have to use a text file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If you are storing a picture, you have to use a binary file</a:t>
            </a:r>
          </a:p>
        </p:txBody>
      </p:sp>
    </p:spTree>
    <p:extLst>
      <p:ext uri="{BB962C8B-B14F-4D97-AF65-F5344CB8AC3E}">
        <p14:creationId xmlns:p14="http://schemas.microsoft.com/office/powerpoint/2010/main" val="1063702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Using a </a:t>
            </a:r>
            <a:r>
              <a:rPr lang="en-US" sz="3500" dirty="0" err="1"/>
              <a:t>PrintWriter</a:t>
            </a:r>
            <a:r>
              <a:rPr lang="en-US" sz="3500" dirty="0"/>
              <a:t> for File Output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7234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</a:t>
            </a:r>
            <a:r>
              <a:rPr lang="en-US" sz="3600" dirty="0" err="1"/>
              <a:t>PrintWriter</a:t>
            </a:r>
            <a:r>
              <a:rPr lang="en-US" sz="3600" dirty="0"/>
              <a:t> Object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</a:t>
            </a:r>
            <a:r>
              <a:rPr lang="en-US" sz="2800" b="1" dirty="0" err="1"/>
              <a:t>PrintWriter</a:t>
            </a:r>
            <a:r>
              <a:rPr lang="en-US" sz="2800" b="1" dirty="0"/>
              <a:t> is an easy way to create a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uses a stream variable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should think of a </a:t>
            </a:r>
            <a:r>
              <a:rPr lang="en-US" sz="2800" b="1" dirty="0" err="1"/>
              <a:t>PrintWriter</a:t>
            </a:r>
            <a:r>
              <a:rPr lang="en-US" sz="2800" b="1" dirty="0"/>
              <a:t> as the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requires an import</a:t>
            </a:r>
          </a:p>
          <a:p>
            <a:pPr marL="596900" lvl="1" indent="0" algn="l"/>
            <a:r>
              <a:rPr lang="en-US" sz="2600" b="1"/>
              <a:t>   </a:t>
            </a:r>
            <a:r>
              <a:rPr lang="en-US" sz="2600" b="1" dirty="0"/>
              <a:t> </a:t>
            </a:r>
            <a:r>
              <a:rPr lang="en-US" sz="2800" b="1"/>
              <a:t>import </a:t>
            </a:r>
            <a:r>
              <a:rPr lang="en-US" sz="2800" b="1" dirty="0" err="1"/>
              <a:t>io.PrintWriter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TextFileOutputDemo.java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78768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Using a </a:t>
            </a:r>
            <a:r>
              <a:rPr lang="en-US" sz="3600" dirty="0" err="1"/>
              <a:t>PrintWriter</a:t>
            </a:r>
            <a:endParaRPr lang="en-US" sz="36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Choose a file name</a:t>
            </a:r>
          </a:p>
          <a:p>
            <a:pPr marL="596900" lvl="1" indent="0" algn="l"/>
            <a:r>
              <a:rPr lang="en-US" sz="2600" b="1" dirty="0"/>
              <a:t>      String </a:t>
            </a:r>
            <a:r>
              <a:rPr lang="en-US" sz="2600" b="1" dirty="0" err="1"/>
              <a:t>fileName</a:t>
            </a:r>
            <a:r>
              <a:rPr lang="en-US" sz="2600" b="1" dirty="0"/>
              <a:t> = "out.txt";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name could also be read from the keyboard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Create a </a:t>
            </a:r>
            <a:r>
              <a:rPr lang="en-US" sz="2800" b="1" dirty="0" err="1"/>
              <a:t>PrintWriter</a:t>
            </a:r>
            <a:r>
              <a:rPr lang="en-US" sz="2800" b="1" dirty="0"/>
              <a:t> object</a:t>
            </a:r>
          </a:p>
          <a:p>
            <a:pPr marL="596900" lvl="1" indent="0"/>
            <a:r>
              <a:rPr lang="en-US" sz="2600" b="1" dirty="0" err="1"/>
              <a:t>PrintWriter</a:t>
            </a:r>
            <a:r>
              <a:rPr lang="en-US" sz="2600" b="1" dirty="0"/>
              <a:t> </a:t>
            </a:r>
            <a:r>
              <a:rPr lang="en-US" sz="2600" b="1" dirty="0" err="1"/>
              <a:t>outputStream</a:t>
            </a:r>
            <a:r>
              <a:rPr lang="en-US" sz="2600" b="1" dirty="0"/>
              <a:t> = null;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Setting it to null is a good safety feature</a:t>
            </a:r>
          </a:p>
        </p:txBody>
      </p:sp>
    </p:spTree>
    <p:extLst>
      <p:ext uri="{BB962C8B-B14F-4D97-AF65-F5344CB8AC3E}">
        <p14:creationId xmlns:p14="http://schemas.microsoft.com/office/powerpoint/2010/main" val="2924016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A Sample Text File Program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3867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Next Steps: Set Up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Set up a scanner and prompt for input</a:t>
            </a:r>
          </a:p>
          <a:p>
            <a:pPr marL="596900" lvl="1" indent="0" algn="l"/>
            <a:r>
              <a:rPr lang="en-US" sz="2600" b="1" dirty="0"/>
              <a:t>     </a:t>
            </a:r>
            <a:r>
              <a:rPr lang="en-US" sz="2600" b="1" dirty="0" err="1"/>
              <a:t>System.out.println</a:t>
            </a:r>
            <a:endParaRPr lang="en-US" sz="2600" b="1" dirty="0"/>
          </a:p>
          <a:p>
            <a:pPr marL="596900" lvl="1" indent="0" algn="l"/>
            <a:r>
              <a:rPr lang="en-US" sz="2600" b="1" dirty="0"/>
              <a:t>                   ("Enter three lines of text:");</a:t>
            </a:r>
          </a:p>
          <a:p>
            <a:pPr marL="596900" lvl="1" indent="0" algn="l"/>
            <a:r>
              <a:rPr lang="en-US" sz="2600" b="1" dirty="0"/>
              <a:t>    Scanner keyboard </a:t>
            </a:r>
          </a:p>
          <a:p>
            <a:pPr marL="596900" lvl="1" indent="0" algn="l"/>
            <a:r>
              <a:rPr lang="en-US" sz="2600" b="1" dirty="0"/>
              <a:t>                      = new Scanner(System.in);</a:t>
            </a:r>
          </a:p>
        </p:txBody>
      </p:sp>
    </p:spTree>
    <p:extLst>
      <p:ext uri="{BB962C8B-B14F-4D97-AF65-F5344CB8AC3E}">
        <p14:creationId xmlns:p14="http://schemas.microsoft.com/office/powerpoint/2010/main" val="196317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76588" cy="590038"/>
          </a:xfrm>
        </p:spPr>
        <p:txBody>
          <a:bodyPr/>
          <a:lstStyle/>
          <a:p>
            <a:pPr algn="l"/>
            <a:r>
              <a:rPr lang="en-US" sz="3600" dirty="0"/>
              <a:t>Finishing: Adding Data to the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34155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Write the data to the file</a:t>
            </a:r>
          </a:p>
          <a:p>
            <a:pPr marL="596900" lvl="1" indent="0" algn="l"/>
            <a:r>
              <a:rPr lang="en-US" sz="2600" b="1" dirty="0"/>
              <a:t>   for (int count = 1; count &lt;= 3; count++)</a:t>
            </a:r>
          </a:p>
          <a:p>
            <a:pPr marL="596900" lvl="1" indent="0" algn="l"/>
            <a:r>
              <a:rPr lang="en-US" sz="2600" b="1" dirty="0"/>
              <a:t>   {</a:t>
            </a:r>
          </a:p>
          <a:p>
            <a:pPr marL="596900" lvl="1" indent="0" algn="l"/>
            <a:r>
              <a:rPr lang="en-US" sz="2600" b="1" dirty="0"/>
              <a:t>        String line = </a:t>
            </a:r>
            <a:r>
              <a:rPr lang="en-US" sz="2600" b="1" dirty="0" err="1"/>
              <a:t>keyboard.nextLine</a:t>
            </a:r>
            <a:r>
              <a:rPr lang="en-US" sz="2600" b="1" dirty="0"/>
              <a:t>( );</a:t>
            </a:r>
          </a:p>
          <a:p>
            <a:pPr marL="596900" lvl="1" indent="0" algn="l"/>
            <a:r>
              <a:rPr lang="en-US" sz="2600" b="1" dirty="0"/>
              <a:t>        </a:t>
            </a:r>
            <a:r>
              <a:rPr lang="en-US" sz="2600" b="1" dirty="0" err="1"/>
              <a:t>outputStream.println</a:t>
            </a:r>
            <a:r>
              <a:rPr lang="en-US" sz="2600" b="1" dirty="0"/>
              <a:t>(count + " “</a:t>
            </a:r>
          </a:p>
          <a:p>
            <a:pPr marL="596900" lvl="1" indent="0" algn="l"/>
            <a:r>
              <a:rPr lang="en-US" sz="2600" b="1" dirty="0"/>
              <a:t>                                                        + line);</a:t>
            </a:r>
          </a:p>
          <a:p>
            <a:pPr marL="596900" lvl="1" indent="0" algn="l"/>
            <a:r>
              <a:rPr lang="en-US" sz="2600" b="1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1599930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Closing the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After you are done processing, you should close the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 good safety feature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ensures that the file is complete</a:t>
            </a:r>
          </a:p>
        </p:txBody>
      </p:sp>
    </p:spTree>
    <p:extLst>
      <p:ext uri="{BB962C8B-B14F-4D97-AF65-F5344CB8AC3E}">
        <p14:creationId xmlns:p14="http://schemas.microsoft.com/office/powerpoint/2010/main" val="3135755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Buffers and Buffering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5220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Buffering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Buffering is a commonly-used technique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is usually used for communication between slow and fast devices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a faster device communicates with a slower device, regular communication won’t work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92178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Buffering in Action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was typed: Here is a sentence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was received: He </a:t>
            </a:r>
            <a:r>
              <a:rPr lang="en-US" sz="2800" b="1" dirty="0" err="1"/>
              <a:t>ia</a:t>
            </a:r>
            <a:r>
              <a:rPr lang="en-US" sz="2800" b="1" dirty="0"/>
              <a:t> </a:t>
            </a:r>
            <a:r>
              <a:rPr lang="en-US" sz="2800" b="1" dirty="0" err="1"/>
              <a:t>sene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Unfortunately, some of the letters got lost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I type really fast and the computer can’t keep up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is impossible, of course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29654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What is a buffer?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computer is much faster than most of the devices it works with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a storage area in memory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computer uses this storage area to communicate</a:t>
            </a:r>
          </a:p>
        </p:txBody>
      </p:sp>
    </p:spTree>
    <p:extLst>
      <p:ext uri="{BB962C8B-B14F-4D97-AF65-F5344CB8AC3E}">
        <p14:creationId xmlns:p14="http://schemas.microsoft.com/office/powerpoint/2010/main" val="4102338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How Buffering Works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computer sends data to the storage area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slower device gets data from the storage area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the storage area becomes full, the computer waits</a:t>
            </a:r>
          </a:p>
        </p:txBody>
      </p:sp>
    </p:spTree>
    <p:extLst>
      <p:ext uri="{BB962C8B-B14F-4D97-AF65-F5344CB8AC3E}">
        <p14:creationId xmlns:p14="http://schemas.microsoft.com/office/powerpoint/2010/main" val="1234936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Buffering for Disks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you put data on a disk, it doesn’t immediately go to the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goes to a buffer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the buffer is full, the computer writes it to the disk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Getting data from a disk is similar</a:t>
            </a:r>
          </a:p>
        </p:txBody>
      </p:sp>
    </p:spTree>
    <p:extLst>
      <p:ext uri="{BB962C8B-B14F-4D97-AF65-F5344CB8AC3E}">
        <p14:creationId xmlns:p14="http://schemas.microsoft.com/office/powerpoint/2010/main" val="3689268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Knowing How and Why to Close a File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6513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Closing a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Closing a file forces a “buffer flush”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means it copies the buffer to the disk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That last buffer doesn’t have to be full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may not have been written to the disk yet</a:t>
            </a:r>
          </a:p>
        </p:txBody>
      </p:sp>
    </p:spTree>
    <p:extLst>
      <p:ext uri="{BB962C8B-B14F-4D97-AF65-F5344CB8AC3E}">
        <p14:creationId xmlns:p14="http://schemas.microsoft.com/office/powerpoint/2010/main" val="3176383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Last Step: Confirmation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program prints a message telling that the data was actually written to the file</a:t>
            </a:r>
          </a:p>
          <a:p>
            <a:pPr marL="596900" lvl="1" indent="0" algn="l"/>
            <a:r>
              <a:rPr lang="en-US" sz="2600" b="1" dirty="0"/>
              <a:t>    </a:t>
            </a:r>
            <a:r>
              <a:rPr lang="en-US" sz="2600" b="1" dirty="0" err="1"/>
              <a:t>System.out.println</a:t>
            </a:r>
            <a:endParaRPr lang="en-US" sz="2600" b="1" dirty="0"/>
          </a:p>
          <a:p>
            <a:pPr marL="596900" lvl="1" indent="0" algn="l"/>
            <a:r>
              <a:rPr lang="en-US" sz="2600" b="1" dirty="0"/>
              <a:t>        ("Those lines were written to ”</a:t>
            </a:r>
          </a:p>
          <a:p>
            <a:pPr marL="596900" lvl="1" indent="0" algn="l"/>
            <a:r>
              <a:rPr lang="en-US" sz="2600" b="1" dirty="0"/>
              <a:t>                                            + </a:t>
            </a:r>
            <a:r>
              <a:rPr lang="en-US" sz="2600" b="1" dirty="0" err="1"/>
              <a:t>fileName</a:t>
            </a:r>
            <a:r>
              <a:rPr lang="en-US" sz="2600" b="1" dirty="0"/>
              <a:t>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We now know that the program completed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2031396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Exceptions in File I/O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2091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File I/O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code will process files then it has to be able to handle certain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are all checked exceptions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need to account for these exceptions</a:t>
            </a:r>
          </a:p>
        </p:txBody>
      </p:sp>
    </p:spTree>
    <p:extLst>
      <p:ext uri="{BB962C8B-B14F-4D97-AF65-F5344CB8AC3E}">
        <p14:creationId xmlns:p14="http://schemas.microsoft.com/office/powerpoint/2010/main" val="395937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Exceptions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FileNotFoundException</a:t>
            </a:r>
            <a:endParaRPr lang="en-US" sz="2800" b="1" dirty="0"/>
          </a:p>
          <a:p>
            <a:pPr marL="1054100" lvl="1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exception must be imported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import </a:t>
            </a:r>
            <a:r>
              <a:rPr lang="en-US" sz="2400" b="1" dirty="0" err="1"/>
              <a:t>io.FileNotFoundException</a:t>
            </a:r>
            <a:r>
              <a:rPr lang="en-US" sz="24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 we have to watch for the exception and handle it if it occurs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try and catch blocks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code is on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3735898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 err="1"/>
              <a:t>FileNotFoundException</a:t>
            </a:r>
            <a:r>
              <a:rPr lang="en-US" sz="3600" dirty="0"/>
              <a:t> Code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58063" cy="3961646"/>
          </a:xfrm>
        </p:spPr>
        <p:txBody>
          <a:bodyPr/>
          <a:lstStyle/>
          <a:p>
            <a:pPr marL="139700" indent="0"/>
            <a:r>
              <a:rPr lang="en-US" sz="2400" b="1" dirty="0"/>
              <a:t>try</a:t>
            </a:r>
          </a:p>
          <a:p>
            <a:pPr marL="139700" indent="0"/>
            <a:r>
              <a:rPr lang="en-US" sz="2400" b="1" dirty="0"/>
              <a:t>{</a:t>
            </a:r>
          </a:p>
          <a:p>
            <a:pPr marL="139700" indent="0"/>
            <a:r>
              <a:rPr lang="en-US" sz="2400" b="1" dirty="0"/>
              <a:t>     </a:t>
            </a:r>
            <a:r>
              <a:rPr lang="en-US" sz="2400" b="1" dirty="0" err="1"/>
              <a:t>outputStream</a:t>
            </a:r>
            <a:r>
              <a:rPr lang="en-US" sz="2400" b="1" dirty="0"/>
              <a:t> = new </a:t>
            </a:r>
            <a:r>
              <a:rPr lang="en-US" sz="2400" b="1" dirty="0" err="1"/>
              <a:t>PrintWriter</a:t>
            </a:r>
            <a:r>
              <a:rPr lang="en-US" sz="2400" b="1" dirty="0"/>
              <a:t>(</a:t>
            </a:r>
            <a:r>
              <a:rPr lang="en-US" sz="2400" b="1" dirty="0" err="1"/>
              <a:t>fileName</a:t>
            </a:r>
            <a:r>
              <a:rPr lang="en-US" sz="2400" b="1" dirty="0"/>
              <a:t>);</a:t>
            </a:r>
          </a:p>
          <a:p>
            <a:pPr marL="139700" indent="0"/>
            <a:r>
              <a:rPr lang="en-US" sz="2400" b="1" dirty="0"/>
              <a:t>}</a:t>
            </a:r>
          </a:p>
          <a:p>
            <a:pPr marL="139700" indent="0"/>
            <a:r>
              <a:rPr lang="en-US" sz="2400" b="1" dirty="0"/>
              <a:t>catch(</a:t>
            </a:r>
            <a:r>
              <a:rPr lang="en-US" sz="2400" b="1" dirty="0" err="1"/>
              <a:t>FileNotFoundException</a:t>
            </a:r>
            <a:r>
              <a:rPr lang="en-US" sz="2400" b="1" dirty="0"/>
              <a:t> e)</a:t>
            </a:r>
          </a:p>
          <a:p>
            <a:pPr marL="139700" indent="0"/>
            <a:r>
              <a:rPr lang="en-US" sz="2400" b="1" dirty="0"/>
              <a:t>{</a:t>
            </a:r>
          </a:p>
          <a:p>
            <a:pPr marL="139700" indent="0"/>
            <a:r>
              <a:rPr lang="en-US" sz="2400" b="1" dirty="0"/>
              <a:t>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("Error opening the file “</a:t>
            </a:r>
          </a:p>
          <a:p>
            <a:pPr marL="139700" indent="0"/>
            <a:r>
              <a:rPr lang="en-US" sz="2400" b="1" dirty="0"/>
              <a:t>                                                                + </a:t>
            </a:r>
            <a:r>
              <a:rPr lang="en-US" sz="2400" b="1" dirty="0" err="1"/>
              <a:t>fileName</a:t>
            </a:r>
            <a:r>
              <a:rPr lang="en-US" sz="2400" b="1" dirty="0"/>
              <a:t>);</a:t>
            </a:r>
          </a:p>
          <a:p>
            <a:pPr marL="139700" indent="0"/>
            <a:r>
              <a:rPr lang="en-US" sz="2400" b="1" dirty="0"/>
              <a:t>     </a:t>
            </a:r>
            <a:r>
              <a:rPr lang="en-US" sz="2400" b="1" dirty="0" err="1"/>
              <a:t>System.exit</a:t>
            </a:r>
            <a:r>
              <a:rPr lang="en-US" sz="2400" b="1" dirty="0"/>
              <a:t>(0);</a:t>
            </a:r>
          </a:p>
          <a:p>
            <a:pPr marL="139700" indent="0"/>
            <a:r>
              <a:rPr lang="en-US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7393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Reading a Text File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6273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Reading from a File: imports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9601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many ways to read files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Most require some imports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import </a:t>
            </a:r>
            <a:r>
              <a:rPr lang="en-US" sz="2600" b="1" dirty="0" err="1"/>
              <a:t>java.util.Scanner</a:t>
            </a:r>
            <a:r>
              <a:rPr lang="en-US" sz="2600" b="1" dirty="0"/>
              <a:t>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import </a:t>
            </a:r>
            <a:r>
              <a:rPr lang="en-US" sz="2600" b="1" dirty="0" err="1"/>
              <a:t>java.io.File</a:t>
            </a:r>
            <a:r>
              <a:rPr lang="en-US" sz="2600" b="1" dirty="0"/>
              <a:t>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import </a:t>
            </a:r>
            <a:r>
              <a:rPr lang="en-US" sz="2600" b="1" dirty="0" err="1"/>
              <a:t>java.io.FileNotFoundException</a:t>
            </a:r>
            <a:r>
              <a:rPr lang="en-US" sz="26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013352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Using a Scanner for a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use a Scanner to read from a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TextFileInputDemo.java is an example of this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examples echoes a file to the screen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“Echoes” means it prints the file without any processing</a:t>
            </a:r>
          </a:p>
        </p:txBody>
      </p:sp>
    </p:spTree>
    <p:extLst>
      <p:ext uri="{BB962C8B-B14F-4D97-AF65-F5344CB8AC3E}">
        <p14:creationId xmlns:p14="http://schemas.microsoft.com/office/powerpoint/2010/main" val="14856205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A Sample Program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2323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Beginning of the Program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Set up the file name and open the file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String </a:t>
            </a:r>
            <a:r>
              <a:rPr lang="en-US" sz="2600" b="1" dirty="0" err="1"/>
              <a:t>fileName</a:t>
            </a:r>
            <a:r>
              <a:rPr lang="en-US" sz="2600" b="1" dirty="0"/>
              <a:t> = "out.txt";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Scanner </a:t>
            </a:r>
            <a:r>
              <a:rPr lang="en-US" sz="2600" b="1" dirty="0" err="1"/>
              <a:t>inputStream</a:t>
            </a:r>
            <a:r>
              <a:rPr lang="en-US" sz="2600" b="1" dirty="0"/>
              <a:t> = null;</a:t>
            </a:r>
          </a:p>
        </p:txBody>
      </p:sp>
    </p:spTree>
    <p:extLst>
      <p:ext uri="{BB962C8B-B14F-4D97-AF65-F5344CB8AC3E}">
        <p14:creationId xmlns:p14="http://schemas.microsoft.com/office/powerpoint/2010/main" val="814193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Title the </a:t>
            </a:r>
            <a:r>
              <a:rPr lang="en-US" sz="3600" dirty="0" err="1"/>
              <a:t>Ouptut</a:t>
            </a:r>
            <a:endParaRPr lang="en-US" sz="36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517626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   </a:t>
            </a:r>
            <a:r>
              <a:rPr lang="en-US" sz="2600" b="1" dirty="0" err="1"/>
              <a:t>System.out.println</a:t>
            </a:r>
            <a:r>
              <a:rPr lang="en-US" sz="2600" b="1" dirty="0"/>
              <a:t>("The file “</a:t>
            </a:r>
          </a:p>
          <a:p>
            <a:pPr marL="139700" indent="0"/>
            <a:r>
              <a:rPr lang="en-US" sz="2600" b="1" dirty="0"/>
              <a:t>           + </a:t>
            </a:r>
            <a:r>
              <a:rPr lang="en-US" sz="2600" b="1" dirty="0" err="1"/>
              <a:t>fileName</a:t>
            </a:r>
            <a:endParaRPr lang="en-US" sz="2600" b="1" dirty="0"/>
          </a:p>
          <a:p>
            <a:pPr marL="139700" indent="0"/>
            <a:r>
              <a:rPr lang="en-US" sz="2600" b="1" dirty="0"/>
              <a:t>           + "\</a:t>
            </a:r>
            <a:r>
              <a:rPr lang="en-US" sz="2600" b="1" dirty="0" err="1"/>
              <a:t>ncontains</a:t>
            </a:r>
            <a:r>
              <a:rPr lang="en-US" sz="2600" b="1" dirty="0"/>
              <a:t> the following lines:\n");</a:t>
            </a:r>
          </a:p>
        </p:txBody>
      </p:sp>
    </p:spTree>
    <p:extLst>
      <p:ext uri="{BB962C8B-B14F-4D97-AF65-F5344CB8AC3E}">
        <p14:creationId xmlns:p14="http://schemas.microsoft.com/office/powerpoint/2010/main" val="959900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Opening the File with Try/Catch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88329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try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{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</a:t>
            </a:r>
            <a:r>
              <a:rPr lang="en-US" sz="2400" b="1" dirty="0" err="1"/>
              <a:t>inputStream</a:t>
            </a:r>
            <a:r>
              <a:rPr lang="en-US" sz="2400" b="1" dirty="0"/>
              <a:t> = new Scanner(new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                                                     (</a:t>
            </a:r>
            <a:r>
              <a:rPr lang="en-US" sz="2400" b="1" dirty="0" err="1"/>
              <a:t>fileName</a:t>
            </a:r>
            <a:r>
              <a:rPr lang="en-US" sz="2400" b="1" dirty="0"/>
              <a:t>));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catch(</a:t>
            </a:r>
            <a:r>
              <a:rPr lang="en-US" sz="2400" b="1" dirty="0" err="1"/>
              <a:t>FileNotFoundException</a:t>
            </a:r>
            <a:r>
              <a:rPr lang="en-US" sz="2400" b="1" dirty="0"/>
              <a:t> e)</a:t>
            </a:r>
          </a:p>
        </p:txBody>
      </p:sp>
    </p:spTree>
    <p:extLst>
      <p:ext uri="{BB962C8B-B14F-4D97-AF65-F5344CB8AC3E}">
        <p14:creationId xmlns:p14="http://schemas.microsoft.com/office/powerpoint/2010/main" val="12100494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41324" cy="590038"/>
          </a:xfrm>
        </p:spPr>
        <p:txBody>
          <a:bodyPr/>
          <a:lstStyle/>
          <a:p>
            <a:pPr algn="l"/>
            <a:r>
              <a:rPr lang="en-US" sz="3600" dirty="0"/>
              <a:t>Opening the File: The Catch Block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88329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catch(</a:t>
            </a:r>
            <a:r>
              <a:rPr lang="en-US" sz="2400" b="1" dirty="0" err="1"/>
              <a:t>FileNotFoundException</a:t>
            </a:r>
            <a:r>
              <a:rPr lang="en-US" sz="2400" b="1" dirty="0"/>
              <a:t> e)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{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	</a:t>
            </a:r>
            <a:r>
              <a:rPr lang="en-US" sz="2400" b="1" dirty="0" err="1"/>
              <a:t>System.out.println</a:t>
            </a:r>
            <a:endParaRPr lang="en-US" sz="24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             ("Error opening the file " + </a:t>
            </a:r>
            <a:r>
              <a:rPr lang="en-US" sz="2400" b="1" dirty="0" err="1"/>
              <a:t>fileName</a:t>
            </a:r>
            <a:r>
              <a:rPr lang="en-US" sz="2400" b="1" dirty="0"/>
              <a:t>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     </a:t>
            </a:r>
            <a:r>
              <a:rPr lang="en-US" sz="2400" b="1" dirty="0" err="1"/>
              <a:t>System.exit</a:t>
            </a:r>
            <a:r>
              <a:rPr lang="en-US" sz="2400" b="1" dirty="0"/>
              <a:t>(0);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53892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Using a Scanner to Read the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similar to our old use of a Scanner</a:t>
            </a:r>
          </a:p>
          <a:p>
            <a:pPr marL="596900" lvl="1" indent="0" algn="l"/>
            <a:r>
              <a:rPr lang="en-US" sz="2600" b="1" dirty="0"/>
              <a:t>while (</a:t>
            </a:r>
            <a:r>
              <a:rPr lang="en-US" sz="2600" b="1" dirty="0" err="1"/>
              <a:t>inputStream.hasNextLine</a:t>
            </a:r>
            <a:r>
              <a:rPr lang="en-US" sz="2600" b="1" dirty="0"/>
              <a:t>())</a:t>
            </a:r>
          </a:p>
          <a:p>
            <a:pPr marL="596900" lvl="1" indent="0" algn="l"/>
            <a:r>
              <a:rPr lang="en-US" sz="2600" b="1" dirty="0"/>
              <a:t>{</a:t>
            </a:r>
          </a:p>
          <a:p>
            <a:pPr marL="596900" lvl="1" indent="0" algn="l"/>
            <a:r>
              <a:rPr lang="en-US" sz="2600" b="1" dirty="0"/>
              <a:t>     String line = </a:t>
            </a:r>
            <a:r>
              <a:rPr lang="en-US" sz="2600" b="1" dirty="0" err="1"/>
              <a:t>inputStream.nextLine</a:t>
            </a:r>
            <a:r>
              <a:rPr lang="en-US" sz="2600" b="1" dirty="0"/>
              <a:t>();</a:t>
            </a:r>
          </a:p>
          <a:p>
            <a:pPr marL="596900" lvl="1" indent="0" algn="l"/>
            <a:r>
              <a:rPr lang="en-US" sz="2600" b="1" dirty="0"/>
              <a:t>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(line);</a:t>
            </a:r>
          </a:p>
          <a:p>
            <a:pPr marL="596900" lvl="1" indent="0" algn="l"/>
            <a:r>
              <a:rPr lang="en-US" sz="2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22520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Closing the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line is</a:t>
            </a:r>
          </a:p>
          <a:p>
            <a:pPr marL="596900" lvl="1" indent="0" algn="l"/>
            <a:r>
              <a:rPr lang="en-US" sz="2600" b="1" dirty="0"/>
              <a:t>	</a:t>
            </a:r>
            <a:r>
              <a:rPr lang="en-US" sz="2600" b="1" dirty="0" err="1"/>
              <a:t>inputStream.close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this is not really necessary for input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is necessary for output</a:t>
            </a:r>
          </a:p>
        </p:txBody>
      </p:sp>
    </p:spTree>
    <p:extLst>
      <p:ext uri="{BB962C8B-B14F-4D97-AF65-F5344CB8AC3E}">
        <p14:creationId xmlns:p14="http://schemas.microsoft.com/office/powerpoint/2010/main" val="2782328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Using CSV Files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927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CSV Files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CSV stands for comma separated values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main use of CSV files is to move data between different programs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from p. 772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book has a sample program that reads in data from a file</a:t>
            </a:r>
          </a:p>
        </p:txBody>
      </p:sp>
    </p:spTree>
    <p:extLst>
      <p:ext uri="{BB962C8B-B14F-4D97-AF65-F5344CB8AC3E}">
        <p14:creationId xmlns:p14="http://schemas.microsoft.com/office/powerpoint/2010/main" val="34833722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Line in the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line in the file has the format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SKU (int)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Quantity (int)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Price (double)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Description (String)</a:t>
            </a:r>
          </a:p>
        </p:txBody>
      </p:sp>
    </p:spTree>
    <p:extLst>
      <p:ext uri="{BB962C8B-B14F-4D97-AF65-F5344CB8AC3E}">
        <p14:creationId xmlns:p14="http://schemas.microsoft.com/office/powerpoint/2010/main" val="3766277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Using Regular Expressions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5423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Regular Expressions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Regular expressions can do a lot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allow you to specify data to find or change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allow for a lot more flexibility in searches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get more details about them online</a:t>
            </a:r>
          </a:p>
        </p:txBody>
      </p:sp>
    </p:spTree>
    <p:extLst>
      <p:ext uri="{BB962C8B-B14F-4D97-AF65-F5344CB8AC3E}">
        <p14:creationId xmlns:p14="http://schemas.microsoft.com/office/powerpoint/2010/main" val="1961620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885199" cy="590038"/>
          </a:xfrm>
        </p:spPr>
        <p:txBody>
          <a:bodyPr/>
          <a:lstStyle/>
          <a:p>
            <a:pPr algn="l"/>
            <a:r>
              <a:rPr lang="en-US" sz="3600" dirty="0"/>
              <a:t>Regular Expressions in a Program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Our program uses them to split a line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String [] parts = </a:t>
            </a:r>
            <a:r>
              <a:rPr lang="en-US" sz="2600" b="1" dirty="0" err="1"/>
              <a:t>line.split</a:t>
            </a:r>
            <a:r>
              <a:rPr lang="en-US" sz="2600" b="1" dirty="0"/>
              <a:t> (“,”);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splits line based on commas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split is a method in the String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fact, the argument to split() can be any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1312864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File Names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16886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Writing Code for Any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Different file objects receive file names in different ways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Some methods require a file object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Other methods require a String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constructor for the Scanner requires a File object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the only way to get the file name into the program</a:t>
            </a:r>
          </a:p>
        </p:txBody>
      </p:sp>
    </p:spTree>
    <p:extLst>
      <p:ext uri="{BB962C8B-B14F-4D97-AF65-F5344CB8AC3E}">
        <p14:creationId xmlns:p14="http://schemas.microsoft.com/office/powerpoint/2010/main" val="41750062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File Object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has a constructor that accepts a full (absolute) path name or file name as a string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9193016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File Has Two Names? 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book says, “A file has two names in a program.”  (p. 758)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Its actual name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appears as the argument to </a:t>
            </a:r>
            <a:r>
              <a:rPr lang="en-US" sz="2400" b="1" dirty="0" err="1"/>
              <a:t>PrintWriter</a:t>
            </a:r>
            <a:endParaRPr lang="en-US" sz="24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Its “nickname”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is the name we use for it in the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457328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Getting a File Name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Accessing a file requires knowing the file’s name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file name can be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read from the keyboard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hardcoded into the program as a string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hardcoded into the creation of the file object</a:t>
            </a:r>
          </a:p>
        </p:txBody>
      </p:sp>
    </p:spTree>
    <p:extLst>
      <p:ext uri="{BB962C8B-B14F-4D97-AF65-F5344CB8AC3E}">
        <p14:creationId xmlns:p14="http://schemas.microsoft.com/office/powerpoint/2010/main" val="5097608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File Names in Strings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Full path names use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\ for Windows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/ for Linux (Mac)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Windows, a string requires \\ instead of \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allows / instead of \ for Windows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will change this to be correct for both Linux and Windows</a:t>
            </a:r>
          </a:p>
        </p:txBody>
      </p:sp>
    </p:spTree>
    <p:extLst>
      <p:ext uri="{BB962C8B-B14F-4D97-AF65-F5344CB8AC3E}">
        <p14:creationId xmlns:p14="http://schemas.microsoft.com/office/powerpoint/2010/main" val="32429702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Output for Binary Files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97191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Creating a Binary File for Output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88329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BinaryOutputDemo.java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requires more complicated file handling than a text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have to import </a:t>
            </a:r>
            <a:r>
              <a:rPr lang="en-US" sz="2800" b="1" dirty="0" err="1"/>
              <a:t>ObjectOutputStream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     import </a:t>
            </a:r>
            <a:r>
              <a:rPr lang="en-US" sz="2800" b="1" dirty="0" err="1"/>
              <a:t>java.io.FileOutputStream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</a:t>
            </a:r>
            <a:r>
              <a:rPr lang="en-US" sz="2800" b="1" dirty="0" err="1"/>
              <a:t>ObjectOutputStream</a:t>
            </a:r>
            <a:r>
              <a:rPr lang="en-US" sz="2800" b="1" dirty="0"/>
              <a:t> constructor can throw the exceptions </a:t>
            </a:r>
            <a:r>
              <a:rPr lang="en-US" sz="2800" b="1" dirty="0" err="1"/>
              <a:t>IOException</a:t>
            </a:r>
            <a:r>
              <a:rPr lang="en-US" sz="2800" b="1" dirty="0"/>
              <a:t> and </a:t>
            </a:r>
            <a:r>
              <a:rPr lang="en-US" sz="2800" b="1" dirty="0" err="1"/>
              <a:t>FileNotFoundException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275620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Output to </a:t>
            </a:r>
            <a:r>
              <a:rPr lang="en-US" sz="3600" dirty="0" err="1"/>
              <a:t>ObjectOutputStreams</a:t>
            </a:r>
            <a:endParaRPr lang="en-US" sz="36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ObjectOutputStreams</a:t>
            </a:r>
            <a:r>
              <a:rPr lang="en-US" sz="2800" b="1" dirty="0"/>
              <a:t> Don’t Use </a:t>
            </a:r>
            <a:r>
              <a:rPr lang="en-US" sz="2800" b="1" dirty="0" err="1"/>
              <a:t>System.out.print</a:t>
            </a:r>
            <a:r>
              <a:rPr lang="en-US" sz="2800" b="1" dirty="0"/>
              <a:t>---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separate writes for each type of data items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 err="1"/>
              <a:t>writeInt</a:t>
            </a:r>
            <a:r>
              <a:rPr lang="en-US" sz="2800" b="1" dirty="0"/>
              <a:t> (an int)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 err="1"/>
              <a:t>writeDouble</a:t>
            </a:r>
            <a:r>
              <a:rPr lang="en-US" sz="2800" b="1" dirty="0"/>
              <a:t> (a double)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 err="1"/>
              <a:t>writeChar</a:t>
            </a:r>
            <a:r>
              <a:rPr lang="en-US" sz="2800" b="1" dirty="0"/>
              <a:t> (a char)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9105811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</a:t>
            </a:r>
            <a:r>
              <a:rPr lang="en-US" sz="3600" dirty="0" err="1"/>
              <a:t>writeChar</a:t>
            </a:r>
            <a:r>
              <a:rPr lang="en-US" sz="3600" dirty="0"/>
              <a:t>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/>
              <a:t>Check </a:t>
            </a:r>
            <a:r>
              <a:rPr lang="en-US" sz="2800" b="1" dirty="0"/>
              <a:t>the use of </a:t>
            </a:r>
            <a:r>
              <a:rPr lang="en-US" sz="2800" b="1" dirty="0" err="1"/>
              <a:t>writeChar</a:t>
            </a:r>
            <a:r>
              <a:rPr lang="en-US" sz="2800" b="1" dirty="0"/>
              <a:t> on p. 778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is a bit unusual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writes a char as an int</a:t>
            </a:r>
          </a:p>
        </p:txBody>
      </p:sp>
    </p:spTree>
    <p:extLst>
      <p:ext uri="{BB962C8B-B14F-4D97-AF65-F5344CB8AC3E}">
        <p14:creationId xmlns:p14="http://schemas.microsoft.com/office/powerpoint/2010/main" val="20938637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Writing a String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no </a:t>
            </a:r>
            <a:r>
              <a:rPr lang="en-US" sz="2800" b="1" dirty="0" err="1"/>
              <a:t>writeString</a:t>
            </a:r>
            <a:r>
              <a:rPr lang="en-US" sz="2800" b="1" dirty="0"/>
              <a:t> method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Use </a:t>
            </a:r>
            <a:r>
              <a:rPr lang="en-US" sz="2800" b="1" dirty="0" err="1"/>
              <a:t>writeUTF</a:t>
            </a:r>
            <a:r>
              <a:rPr lang="en-US" sz="2800" b="1" dirty="0"/>
              <a:t>() instead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UTF stands for Unicode Text Format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Unicode allows for many languages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also processes ASCII efficiently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Also see pp. 779-780 for a list of other </a:t>
            </a:r>
            <a:r>
              <a:rPr lang="en-US" sz="2800" b="1" dirty="0" err="1"/>
              <a:t>ObjectOutputStream</a:t>
            </a:r>
            <a:r>
              <a:rPr lang="en-US" sz="2800" b="1" dirty="0"/>
              <a:t> methods</a:t>
            </a:r>
          </a:p>
        </p:txBody>
      </p:sp>
    </p:spTree>
    <p:extLst>
      <p:ext uri="{BB962C8B-B14F-4D97-AF65-F5344CB8AC3E}">
        <p14:creationId xmlns:p14="http://schemas.microsoft.com/office/powerpoint/2010/main" val="34704580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Reading a Binary File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82038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Reading Data from a Binary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BinaryInputDemo.java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Files created using </a:t>
            </a:r>
            <a:r>
              <a:rPr lang="en-US" sz="2800" b="1" dirty="0" err="1"/>
              <a:t>ObjectOutputStream</a:t>
            </a:r>
            <a:r>
              <a:rPr lang="en-US" sz="2800" b="1" dirty="0"/>
              <a:t> can be read using </a:t>
            </a:r>
            <a:r>
              <a:rPr lang="en-US" sz="2800" b="1" dirty="0" err="1"/>
              <a:t>ObjectInputStream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Methods for </a:t>
            </a:r>
            <a:r>
              <a:rPr lang="en-US" sz="2800" b="1" dirty="0" err="1"/>
              <a:t>ObjectInputStream</a:t>
            </a:r>
            <a:r>
              <a:rPr lang="en-US" sz="2800" b="1" dirty="0"/>
              <a:t> are listed on pp. 783-784</a:t>
            </a:r>
          </a:p>
        </p:txBody>
      </p:sp>
    </p:spTree>
    <p:extLst>
      <p:ext uri="{BB962C8B-B14F-4D97-AF65-F5344CB8AC3E}">
        <p14:creationId xmlns:p14="http://schemas.microsoft.com/office/powerpoint/2010/main" val="29435087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Don’t Confuse Text and Binary Files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23010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Dangers of Using a Binary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a good comment for reading data on p.782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Are reading a binary file, and 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Don’t know the format of the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</a:t>
            </a:r>
            <a:r>
              <a:rPr lang="en-US" sz="2600" b="1" dirty="0" err="1"/>
              <a:t>ObjectInputStream</a:t>
            </a:r>
            <a:r>
              <a:rPr lang="en-US" sz="2600" b="1" dirty="0"/>
              <a:t> will happily read and misinterpret the data</a:t>
            </a:r>
          </a:p>
        </p:txBody>
      </p:sp>
    </p:spTree>
    <p:extLst>
      <p:ext uri="{BB962C8B-B14F-4D97-AF65-F5344CB8AC3E}">
        <p14:creationId xmlns:p14="http://schemas.microsoft.com/office/powerpoint/2010/main" val="1945646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More Warnings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Also, see Gotcha on p. 787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Don’t mix up binary and text files!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Object serialization is one way that helps to avoid these problems</a:t>
            </a:r>
          </a:p>
        </p:txBody>
      </p:sp>
    </p:spTree>
    <p:extLst>
      <p:ext uri="{BB962C8B-B14F-4D97-AF65-F5344CB8AC3E}">
        <p14:creationId xmlns:p14="http://schemas.microsoft.com/office/powerpoint/2010/main" val="13830235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Moral of the Story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Know what the file looks like before using it!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088470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End-Of-File Processing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02656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EOF (End-of-File)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EOF stands for end-of-file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happens when a files tries to read past EOF?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no more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should the objects respond?</a:t>
            </a:r>
          </a:p>
        </p:txBody>
      </p:sp>
    </p:spTree>
    <p:extLst>
      <p:ext uri="{BB962C8B-B14F-4D97-AF65-F5344CB8AC3E}">
        <p14:creationId xmlns:p14="http://schemas.microsoft.com/office/powerpoint/2010/main" val="15432351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EOF Processing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</a:t>
            </a:r>
            <a:r>
              <a:rPr lang="en-US" sz="2800" b="1" dirty="0" err="1"/>
              <a:t>ObjectInputStream</a:t>
            </a:r>
            <a:r>
              <a:rPr lang="en-US" sz="2800" b="1" dirty="0"/>
              <a:t> throws an </a:t>
            </a:r>
            <a:r>
              <a:rPr lang="en-US" sz="2800" b="1" dirty="0" err="1"/>
              <a:t>EOFException</a:t>
            </a:r>
            <a:r>
              <a:rPr lang="en-US" sz="2800" b="1" dirty="0"/>
              <a:t> when reaching EOF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Scanner returns null data</a:t>
            </a:r>
          </a:p>
        </p:txBody>
      </p:sp>
    </p:spTree>
    <p:extLst>
      <p:ext uri="{BB962C8B-B14F-4D97-AF65-F5344CB8AC3E}">
        <p14:creationId xmlns:p14="http://schemas.microsoft.com/office/powerpoint/2010/main" val="34450179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Tracking the Type of a Data Item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05071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737655" cy="590038"/>
          </a:xfrm>
        </p:spPr>
        <p:txBody>
          <a:bodyPr/>
          <a:lstStyle/>
          <a:p>
            <a:pPr algn="l"/>
            <a:r>
              <a:rPr lang="en-US" sz="3400" dirty="0"/>
              <a:t>Object Serialization (Not in the Text)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Object serialization writes data type information with the data itself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makes it harder to mess up when reading the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also takes a little more room in the file</a:t>
            </a:r>
          </a:p>
        </p:txBody>
      </p:sp>
    </p:spTree>
    <p:extLst>
      <p:ext uri="{BB962C8B-B14F-4D97-AF65-F5344CB8AC3E}">
        <p14:creationId xmlns:p14="http://schemas.microsoft.com/office/powerpoint/2010/main" val="25270722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Setting Up Object Serialization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36355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serialize a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class implements the interface Serializable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Create the class like this</a:t>
            </a:r>
          </a:p>
          <a:p>
            <a:pPr marL="596900" lvl="1" indent="0" algn="l"/>
            <a:r>
              <a:rPr lang="en-US" sz="2600" b="1" dirty="0"/>
              <a:t>    public class --- implements Serializable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needs the import</a:t>
            </a:r>
          </a:p>
          <a:p>
            <a:pPr marL="596900" lvl="1" indent="0" algn="l"/>
            <a:r>
              <a:rPr lang="en-US" sz="2600" b="1" dirty="0"/>
              <a:t>    import </a:t>
            </a:r>
            <a:r>
              <a:rPr lang="en-US" sz="2600" b="1" dirty="0" err="1"/>
              <a:t>java.io.Serializable</a:t>
            </a: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7468332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737655" cy="590038"/>
          </a:xfrm>
        </p:spPr>
        <p:txBody>
          <a:bodyPr/>
          <a:lstStyle/>
          <a:p>
            <a:pPr algn="l"/>
            <a:r>
              <a:rPr lang="en-US" sz="3600" dirty="0"/>
              <a:t>Actually Using Object Serialization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6071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write to the file, use </a:t>
            </a:r>
            <a:r>
              <a:rPr lang="en-US" sz="2800" b="1" dirty="0" err="1"/>
              <a:t>writeObject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read from a file with serialized objects, you have to cast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example</a:t>
            </a:r>
          </a:p>
          <a:p>
            <a:pPr marL="596900" lvl="1" indent="0" algn="l"/>
            <a:r>
              <a:rPr lang="en-US" sz="2600" b="1" dirty="0"/>
              <a:t>    </a:t>
            </a:r>
            <a:r>
              <a:rPr lang="en-US" sz="2600" b="1" dirty="0" err="1"/>
              <a:t>readOne</a:t>
            </a:r>
            <a:r>
              <a:rPr lang="en-US" sz="2600" b="1" dirty="0"/>
              <a:t> = (Species)</a:t>
            </a:r>
          </a:p>
          <a:p>
            <a:pPr marL="596900" lvl="1" indent="0" algn="l"/>
            <a:r>
              <a:rPr lang="en-US" sz="2600" b="1" dirty="0"/>
              <a:t>                       </a:t>
            </a:r>
            <a:r>
              <a:rPr lang="en-US" sz="2600" b="1" dirty="0" err="1"/>
              <a:t>inputStream.readObject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Look at the files Species.java and TestSpecies.java for examples</a:t>
            </a:r>
          </a:p>
        </p:txBody>
      </p:sp>
    </p:spTree>
    <p:extLst>
      <p:ext uri="{BB962C8B-B14F-4D97-AF65-F5344CB8AC3E}">
        <p14:creationId xmlns:p14="http://schemas.microsoft.com/office/powerpoint/2010/main" val="23528202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A File and Its Records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79005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Records in a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Usually, data in a file is stored as records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example, if you are storing information about clients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might keep track of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client company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company’s contact person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company’s address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client ID</a:t>
            </a:r>
          </a:p>
        </p:txBody>
      </p:sp>
    </p:spTree>
    <p:extLst>
      <p:ext uri="{BB962C8B-B14F-4D97-AF65-F5344CB8AC3E}">
        <p14:creationId xmlns:p14="http://schemas.microsoft.com/office/powerpoint/2010/main" val="12335475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 Look at the File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486C69-AD1A-4CC0-9E46-E4C033AEF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607384"/>
              </p:ext>
            </p:extLst>
          </p:nvPr>
        </p:nvGraphicFramePr>
        <p:xfrm>
          <a:off x="1461220" y="2047176"/>
          <a:ext cx="6096000" cy="2225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61002">
                  <a:extLst>
                    <a:ext uri="{9D8B030D-6E8A-4147-A177-3AD203B41FA5}">
                      <a16:colId xmlns:a16="http://schemas.microsoft.com/office/drawing/2014/main" val="1082384886"/>
                    </a:ext>
                  </a:extLst>
                </a:gridCol>
                <a:gridCol w="1919111">
                  <a:extLst>
                    <a:ext uri="{9D8B030D-6E8A-4147-A177-3AD203B41FA5}">
                      <a16:colId xmlns:a16="http://schemas.microsoft.com/office/drawing/2014/main" val="4017847287"/>
                    </a:ext>
                  </a:extLst>
                </a:gridCol>
                <a:gridCol w="1291887">
                  <a:extLst>
                    <a:ext uri="{9D8B030D-6E8A-4147-A177-3AD203B41FA5}">
                      <a16:colId xmlns:a16="http://schemas.microsoft.com/office/drawing/2014/main" val="376994537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50603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Company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Company ID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219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ABC Corp.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George Washington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 Birch St.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A36588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79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 Inc.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Thomas Jefferson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 Elm St.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B459865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23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GHI Company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James Madison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 Oak St.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C453210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32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JKL &amp; Family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James Monroe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 Ash St.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D876428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5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MNO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Quincy Adams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 Maple St.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E843156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10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418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The Records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Each line is a record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format of each record is the same as every other record’s format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top line is not part of the file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just describes the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file has five records</a:t>
            </a:r>
          </a:p>
        </p:txBody>
      </p:sp>
    </p:spTree>
    <p:extLst>
      <p:ext uri="{BB962C8B-B14F-4D97-AF65-F5344CB8AC3E}">
        <p14:creationId xmlns:p14="http://schemas.microsoft.com/office/powerpoint/2010/main" val="40432346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500" dirty="0"/>
              <a:t>Sequential and Random Access Files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27263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78326" cy="590038"/>
          </a:xfrm>
        </p:spPr>
        <p:txBody>
          <a:bodyPr/>
          <a:lstStyle/>
          <a:p>
            <a:pPr algn="l"/>
            <a:r>
              <a:rPr lang="en-US" sz="3400" dirty="0"/>
              <a:t>Storing, Retrieving Records in a File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two ways to access records in a file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are sequential and random access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Sequential access means records have to be accessed in order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Random access allows records to be accessed in any order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023090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78326" cy="590038"/>
          </a:xfrm>
        </p:spPr>
        <p:txBody>
          <a:bodyPr/>
          <a:lstStyle/>
          <a:p>
            <a:pPr algn="l"/>
            <a:r>
              <a:rPr lang="en-US" sz="3400" dirty="0"/>
              <a:t>Sequential Access Files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sequential access means records have to be accessed in order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example of a sequential access file is a Word document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Sequential access means if you want to access Record 875, you have to first access Record 0, Record 1, …, Record 874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very slow!</a:t>
            </a:r>
          </a:p>
        </p:txBody>
      </p:sp>
    </p:spTree>
    <p:extLst>
      <p:ext uri="{BB962C8B-B14F-4D97-AF65-F5344CB8AC3E}">
        <p14:creationId xmlns:p14="http://schemas.microsoft.com/office/powerpoint/2010/main" val="41134692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Random Access Files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order to access records in any order, all records have to be the same length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makes record access very fast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calculate the position of any record</a:t>
            </a:r>
          </a:p>
        </p:txBody>
      </p:sp>
    </p:spTree>
    <p:extLst>
      <p:ext uri="{BB962C8B-B14F-4D97-AF65-F5344CB8AC3E}">
        <p14:creationId xmlns:p14="http://schemas.microsoft.com/office/powerpoint/2010/main" val="1204269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Advantages and Disadvantages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2F006F-6F36-4943-A968-F6DA16B0E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845363"/>
              </p:ext>
            </p:extLst>
          </p:nvPr>
        </p:nvGraphicFramePr>
        <p:xfrm>
          <a:off x="1478518" y="1649783"/>
          <a:ext cx="6096000" cy="274320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643793">
                  <a:extLst>
                    <a:ext uri="{9D8B030D-6E8A-4147-A177-3AD203B41FA5}">
                      <a16:colId xmlns:a16="http://schemas.microsoft.com/office/drawing/2014/main" val="3272962103"/>
                    </a:ext>
                  </a:extLst>
                </a:gridCol>
                <a:gridCol w="575733">
                  <a:extLst>
                    <a:ext uri="{9D8B030D-6E8A-4147-A177-3AD203B41FA5}">
                      <a16:colId xmlns:a16="http://schemas.microsoft.com/office/drawing/2014/main" val="176695089"/>
                    </a:ext>
                  </a:extLst>
                </a:gridCol>
                <a:gridCol w="4876474">
                  <a:extLst>
                    <a:ext uri="{9D8B030D-6E8A-4147-A177-3AD203B41FA5}">
                      <a16:colId xmlns:a16="http://schemas.microsoft.com/office/drawing/2014/main" val="1484965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Sequential access means records have to be accessed in order.  This is slow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591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Records can be of varying lengths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270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Seq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The file cannot be updated in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14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Easy to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727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Records can be accessed in any order.  This is fast.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41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All records must have the same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440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Wasteful of 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35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2649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An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/>
              <a:t>See TransactionReader</a:t>
            </a:r>
            <a:r>
              <a:rPr lang="en-US" sz="2800" b="1" dirty="0"/>
              <a:t>.java</a:t>
            </a:r>
          </a:p>
        </p:txBody>
      </p:sp>
    </p:spTree>
    <p:extLst>
      <p:ext uri="{BB962C8B-B14F-4D97-AF65-F5344CB8AC3E}">
        <p14:creationId xmlns:p14="http://schemas.microsoft.com/office/powerpoint/2010/main" val="32716209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2591</TotalTime>
  <Words>2503</Words>
  <Application>Microsoft Office PowerPoint</Application>
  <PresentationFormat>On-screen Show (16:9)</PresentationFormat>
  <Paragraphs>447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4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10</vt:lpstr>
      <vt:lpstr>Vocabulary, Concepts, and  Skills</vt:lpstr>
      <vt:lpstr>VOCABULARY</vt:lpstr>
      <vt:lpstr>CONCEPTS</vt:lpstr>
      <vt:lpstr>CONCEPTS</vt:lpstr>
      <vt:lpstr>SKILLS</vt:lpstr>
      <vt:lpstr>SKILLS</vt:lpstr>
      <vt:lpstr>Chapter 10</vt:lpstr>
      <vt:lpstr>Introducing Streams</vt:lpstr>
      <vt:lpstr>Streams</vt:lpstr>
      <vt:lpstr>Input, Output and Other Vocabulary</vt:lpstr>
      <vt:lpstr>Vocabulary-Input and Output</vt:lpstr>
      <vt:lpstr>More Vocabulary</vt:lpstr>
      <vt:lpstr>Files</vt:lpstr>
      <vt:lpstr>Files</vt:lpstr>
      <vt:lpstr>Text Files vs. Binary Files</vt:lpstr>
      <vt:lpstr>Comparing the Two Types</vt:lpstr>
      <vt:lpstr>Using a PrintWriter for File Output</vt:lpstr>
      <vt:lpstr>The PrintWriter Object</vt:lpstr>
      <vt:lpstr>Using a PrintWriter</vt:lpstr>
      <vt:lpstr>A Sample Text File Program</vt:lpstr>
      <vt:lpstr>Next Steps: Set Up</vt:lpstr>
      <vt:lpstr>Finishing: Adding Data to the File</vt:lpstr>
      <vt:lpstr>Closing the File</vt:lpstr>
      <vt:lpstr>Buffers and Buffering</vt:lpstr>
      <vt:lpstr>Buffering</vt:lpstr>
      <vt:lpstr>Buffering in Action</vt:lpstr>
      <vt:lpstr>What is a buffer?</vt:lpstr>
      <vt:lpstr>How Buffering Works</vt:lpstr>
      <vt:lpstr>Buffering for Disks</vt:lpstr>
      <vt:lpstr>Knowing How and Why to Close a File</vt:lpstr>
      <vt:lpstr>Closing a File</vt:lpstr>
      <vt:lpstr>The Last Step: Confirmation</vt:lpstr>
      <vt:lpstr>Exceptions in File I/O</vt:lpstr>
      <vt:lpstr>File I/O Exceptions</vt:lpstr>
      <vt:lpstr>The Exceptions</vt:lpstr>
      <vt:lpstr>FileNotFoundException Code</vt:lpstr>
      <vt:lpstr>Reading a Text File</vt:lpstr>
      <vt:lpstr>Reading from a File: imports</vt:lpstr>
      <vt:lpstr>Using a Scanner for a File</vt:lpstr>
      <vt:lpstr>A Sample Program</vt:lpstr>
      <vt:lpstr>The Beginning of the Program</vt:lpstr>
      <vt:lpstr>Title the Ouptut</vt:lpstr>
      <vt:lpstr>Opening the File with Try/Catch</vt:lpstr>
      <vt:lpstr>Opening the File: The Catch Block</vt:lpstr>
      <vt:lpstr>Using a Scanner to Read the File</vt:lpstr>
      <vt:lpstr>Closing the File</vt:lpstr>
      <vt:lpstr>Using CSV Files</vt:lpstr>
      <vt:lpstr>CSV Files</vt:lpstr>
      <vt:lpstr>A Line in the File</vt:lpstr>
      <vt:lpstr>Using Regular Expressions</vt:lpstr>
      <vt:lpstr>Regular Expressions</vt:lpstr>
      <vt:lpstr>Regular Expressions in a Program</vt:lpstr>
      <vt:lpstr>File Names</vt:lpstr>
      <vt:lpstr>Writing Code for Any File</vt:lpstr>
      <vt:lpstr>The File Object</vt:lpstr>
      <vt:lpstr>A File Has Two Names? </vt:lpstr>
      <vt:lpstr>Getting a File Name</vt:lpstr>
      <vt:lpstr>File Names in Strings</vt:lpstr>
      <vt:lpstr>Output for Binary Files</vt:lpstr>
      <vt:lpstr>Creating a Binary File for Output</vt:lpstr>
      <vt:lpstr>Output to ObjectOutputStreams</vt:lpstr>
      <vt:lpstr>The writeChar Method</vt:lpstr>
      <vt:lpstr>Writing a String</vt:lpstr>
      <vt:lpstr>Reading a Binary File</vt:lpstr>
      <vt:lpstr>Reading Data from a Binary File</vt:lpstr>
      <vt:lpstr>Don’t Confuse Text and Binary Files</vt:lpstr>
      <vt:lpstr>Dangers of Using a Binary File</vt:lpstr>
      <vt:lpstr>More Warnings</vt:lpstr>
      <vt:lpstr>The Moral of the Story</vt:lpstr>
      <vt:lpstr>End-Of-File Processing</vt:lpstr>
      <vt:lpstr>EOF (End-of-File)</vt:lpstr>
      <vt:lpstr>EOF Processing</vt:lpstr>
      <vt:lpstr>Tracking the Type of a Data Item</vt:lpstr>
      <vt:lpstr>Object Serialization (Not in the Text)</vt:lpstr>
      <vt:lpstr>Setting Up Object Serialization</vt:lpstr>
      <vt:lpstr>Actually Using Object Serialization</vt:lpstr>
      <vt:lpstr>A File and Its Records</vt:lpstr>
      <vt:lpstr>Records in a File</vt:lpstr>
      <vt:lpstr>A Look at the File</vt:lpstr>
      <vt:lpstr>The Records</vt:lpstr>
      <vt:lpstr>Sequential and Random Access Files</vt:lpstr>
      <vt:lpstr>Storing, Retrieving Records in a File</vt:lpstr>
      <vt:lpstr>Sequential Access Files</vt:lpstr>
      <vt:lpstr>Random Access Files</vt:lpstr>
      <vt:lpstr>Advantages and Disadvantages</vt:lpstr>
      <vt:lpstr>An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James Hoffman</cp:lastModifiedBy>
  <cp:revision>239</cp:revision>
  <cp:lastPrinted>2022-06-21T15:58:31Z</cp:lastPrinted>
  <dcterms:modified xsi:type="dcterms:W3CDTF">2022-07-25T07:51:48Z</dcterms:modified>
</cp:coreProperties>
</file>