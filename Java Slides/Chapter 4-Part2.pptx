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6" r:id="rId1"/>
  </p:sldMasterIdLst>
  <p:notesMasterIdLst>
    <p:notesMasterId r:id="rId46"/>
  </p:notesMasterIdLst>
  <p:sldIdLst>
    <p:sldId id="256" r:id="rId2"/>
    <p:sldId id="381" r:id="rId3"/>
    <p:sldId id="282" r:id="rId4"/>
    <p:sldId id="257" r:id="rId5"/>
    <p:sldId id="278" r:id="rId6"/>
    <p:sldId id="291" r:id="rId7"/>
    <p:sldId id="396" r:id="rId8"/>
    <p:sldId id="487" r:id="rId9"/>
    <p:sldId id="447" r:id="rId10"/>
    <p:sldId id="448" r:id="rId11"/>
    <p:sldId id="449" r:id="rId12"/>
    <p:sldId id="450" r:id="rId13"/>
    <p:sldId id="451" r:id="rId14"/>
    <p:sldId id="452" r:id="rId15"/>
    <p:sldId id="453" r:id="rId16"/>
    <p:sldId id="488" r:id="rId17"/>
    <p:sldId id="454" r:id="rId18"/>
    <p:sldId id="489" r:id="rId19"/>
    <p:sldId id="455" r:id="rId20"/>
    <p:sldId id="456" r:id="rId21"/>
    <p:sldId id="473" r:id="rId22"/>
    <p:sldId id="490" r:id="rId23"/>
    <p:sldId id="457" r:id="rId24"/>
    <p:sldId id="458" r:id="rId25"/>
    <p:sldId id="475" r:id="rId26"/>
    <p:sldId id="459" r:id="rId27"/>
    <p:sldId id="491" r:id="rId28"/>
    <p:sldId id="460" r:id="rId29"/>
    <p:sldId id="476" r:id="rId30"/>
    <p:sldId id="492" r:id="rId31"/>
    <p:sldId id="461" r:id="rId32"/>
    <p:sldId id="462" r:id="rId33"/>
    <p:sldId id="466" r:id="rId34"/>
    <p:sldId id="493" r:id="rId35"/>
    <p:sldId id="463" r:id="rId36"/>
    <p:sldId id="477" r:id="rId37"/>
    <p:sldId id="464" r:id="rId38"/>
    <p:sldId id="465" r:id="rId39"/>
    <p:sldId id="494" r:id="rId40"/>
    <p:sldId id="467" r:id="rId41"/>
    <p:sldId id="478" r:id="rId42"/>
    <p:sldId id="495" r:id="rId43"/>
    <p:sldId id="496" r:id="rId44"/>
    <p:sldId id="290" r:id="rId45"/>
  </p:sldIdLst>
  <p:sldSz cx="9144000" cy="5143500" type="screen16x9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BC2007-4194-44C9-A730-8082A69096D6}">
  <a:tblStyle styleId="{2ABC2007-4194-44C9-A730-8082A69096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291" autoAdjust="0"/>
  </p:normalViewPr>
  <p:slideViewPr>
    <p:cSldViewPr snapToGrid="0">
      <p:cViewPr varScale="1">
        <p:scale>
          <a:sx n="81" d="100"/>
          <a:sy n="81" d="100"/>
        </p:scale>
        <p:origin x="860" y="184"/>
      </p:cViewPr>
      <p:guideLst/>
    </p:cSldViewPr>
  </p:slideViewPr>
  <p:outlineViewPr>
    <p:cViewPr>
      <p:scale>
        <a:sx n="33" d="100"/>
        <a:sy n="33" d="100"/>
      </p:scale>
      <p:origin x="0" y="-1715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6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91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p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0468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2340c23162_0_4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2340c23162_0_426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b06bd4b87_3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b06bd4b87_3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1b06bd4b87_0_1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1b06bd4b87_0_103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955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28929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22328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1036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4822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92579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454434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62592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59542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748451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560389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02841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6579020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622230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608211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4019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0499946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55110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827045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921196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174115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197444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80471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14166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7465407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59747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18926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9763681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408813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12853356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29651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623492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45312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607645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81553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122390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883007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11b06bd4b87_3_2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11b06bd4b87_3_239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-220289" y="-1490778"/>
            <a:ext cx="7753988" cy="10833124"/>
            <a:chOff x="6260625" y="2712350"/>
            <a:chExt cx="1146175" cy="1601325"/>
          </a:xfrm>
        </p:grpSpPr>
        <p:sp>
          <p:nvSpPr>
            <p:cNvPr id="15" name="Google Shape;15;p2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867506" y="76192"/>
            <a:ext cx="8571314" cy="12073351"/>
            <a:chOff x="6949425" y="870600"/>
            <a:chExt cx="1155475" cy="1627575"/>
          </a:xfrm>
        </p:grpSpPr>
        <p:sp>
          <p:nvSpPr>
            <p:cNvPr id="19" name="Google Shape;19;p2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2299200" y="4005325"/>
            <a:ext cx="50028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>
                <a:latin typeface="Kalam"/>
                <a:ea typeface="Kalam"/>
                <a:cs typeface="Kalam"/>
                <a:sym typeface="Kal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 rot="4708122">
            <a:off x="-420349" y="4144939"/>
            <a:ext cx="1749022" cy="106863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9"/>
          <p:cNvSpPr/>
          <p:nvPr/>
        </p:nvSpPr>
        <p:spPr>
          <a:xfrm rot="9194259">
            <a:off x="-821300" y="166653"/>
            <a:ext cx="1749085" cy="106867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7955007" y="4562601"/>
            <a:ext cx="1748875" cy="106854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 rot="-3536633">
            <a:off x="8337458" y="2223975"/>
            <a:ext cx="1749127" cy="106869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" name="Google Shape;99;p9"/>
          <p:cNvGrpSpPr/>
          <p:nvPr/>
        </p:nvGrpSpPr>
        <p:grpSpPr>
          <a:xfrm rot="-378169">
            <a:off x="-87121" y="-1214070"/>
            <a:ext cx="9470435" cy="13231336"/>
            <a:chOff x="6260625" y="2712350"/>
            <a:chExt cx="1146175" cy="1601325"/>
          </a:xfrm>
        </p:grpSpPr>
        <p:sp>
          <p:nvSpPr>
            <p:cNvPr id="100" name="Google Shape;100;p9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9"/>
          <p:cNvSpPr/>
          <p:nvPr/>
        </p:nvSpPr>
        <p:spPr>
          <a:xfrm rot="-8843714">
            <a:off x="1265283" y="-668707"/>
            <a:ext cx="1749242" cy="106876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9"/>
          <p:cNvSpPr/>
          <p:nvPr/>
        </p:nvSpPr>
        <p:spPr>
          <a:xfrm rot="1954942">
            <a:off x="58062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9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1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dk2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rot="4500129">
            <a:off x="-649059" y="4144978"/>
            <a:ext cx="1749167" cy="106872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 rot="-1249095">
            <a:off x="-364075" y="67598"/>
            <a:ext cx="1749027" cy="106863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"/>
          <p:cNvSpPr/>
          <p:nvPr/>
        </p:nvSpPr>
        <p:spPr>
          <a:xfrm rot="-1495489">
            <a:off x="7852382" y="4750776"/>
            <a:ext cx="1748931" cy="106857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"/>
          <p:cNvSpPr/>
          <p:nvPr/>
        </p:nvSpPr>
        <p:spPr>
          <a:xfrm rot="-3926649">
            <a:off x="8427123" y="1490058"/>
            <a:ext cx="1749134" cy="106870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15"/>
          <p:cNvGrpSpPr/>
          <p:nvPr/>
        </p:nvGrpSpPr>
        <p:grpSpPr>
          <a:xfrm rot="-142207">
            <a:off x="-87233" y="-7684437"/>
            <a:ext cx="9470464" cy="13231378"/>
            <a:chOff x="6260625" y="2712350"/>
            <a:chExt cx="1146175" cy="1601325"/>
          </a:xfrm>
        </p:grpSpPr>
        <p:sp>
          <p:nvSpPr>
            <p:cNvPr id="165" name="Google Shape;165;p1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" name="Google Shape;168;p15"/>
          <p:cNvSpPr/>
          <p:nvPr/>
        </p:nvSpPr>
        <p:spPr>
          <a:xfrm rot="-9271741">
            <a:off x="6641536" y="-654848"/>
            <a:ext cx="1749238" cy="106876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"/>
          <p:cNvSpPr/>
          <p:nvPr/>
        </p:nvSpPr>
        <p:spPr>
          <a:xfrm rot="1954942">
            <a:off x="5183323" y="4725972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 rot="401543">
            <a:off x="4192767" y="2033924"/>
            <a:ext cx="3912862" cy="9853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 b="0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title" idx="2" hasCustomPrompt="1"/>
          </p:nvPr>
        </p:nvSpPr>
        <p:spPr>
          <a:xfrm rot="403209">
            <a:off x="5670273" y="1259281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1"/>
          </p:nvPr>
        </p:nvSpPr>
        <p:spPr>
          <a:xfrm rot="403335">
            <a:off x="4612715" y="3175705"/>
            <a:ext cx="2831969" cy="744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_1_1_1">
    <p:bg>
      <p:bgPr>
        <a:solidFill>
          <a:schemeClr val="dk2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/>
          <p:nvPr/>
        </p:nvSpPr>
        <p:spPr>
          <a:xfrm rot="3768282" flipH="1">
            <a:off x="-931716" y="1741180"/>
            <a:ext cx="1749337" cy="10688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3"/>
          <p:cNvSpPr/>
          <p:nvPr/>
        </p:nvSpPr>
        <p:spPr>
          <a:xfrm rot="6409989" flipH="1">
            <a:off x="7764090" y="4068206"/>
            <a:ext cx="1749137" cy="106870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3"/>
          <p:cNvSpPr/>
          <p:nvPr/>
        </p:nvSpPr>
        <p:spPr>
          <a:xfrm rot="-8265081" flipH="1">
            <a:off x="8314617" y="1588466"/>
            <a:ext cx="1749442" cy="10688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3"/>
          <p:cNvSpPr/>
          <p:nvPr/>
        </p:nvSpPr>
        <p:spPr>
          <a:xfrm rot="6223746" flipH="1">
            <a:off x="-393038" y="-373249"/>
            <a:ext cx="1748818" cy="106850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2" name="Google Shape;262;p23"/>
          <p:cNvGrpSpPr/>
          <p:nvPr/>
        </p:nvGrpSpPr>
        <p:grpSpPr>
          <a:xfrm rot="120893">
            <a:off x="111404" y="-7238609"/>
            <a:ext cx="9470166" cy="13230961"/>
            <a:chOff x="6260625" y="2712350"/>
            <a:chExt cx="1146175" cy="1601325"/>
          </a:xfrm>
        </p:grpSpPr>
        <p:sp>
          <p:nvSpPr>
            <p:cNvPr id="263" name="Google Shape;263;p2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23"/>
          <p:cNvSpPr/>
          <p:nvPr/>
        </p:nvSpPr>
        <p:spPr>
          <a:xfrm rot="-1800044" flipH="1">
            <a:off x="5811361" y="4682406"/>
            <a:ext cx="1749012" cy="10686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subTitle" idx="1"/>
          </p:nvPr>
        </p:nvSpPr>
        <p:spPr>
          <a:xfrm>
            <a:off x="5292700" y="1800150"/>
            <a:ext cx="2907600" cy="12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title"/>
          </p:nvPr>
        </p:nvSpPr>
        <p:spPr>
          <a:xfrm>
            <a:off x="1236800" y="445025"/>
            <a:ext cx="6670500" cy="10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chemeClr val="dk2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3"/>
          <p:cNvSpPr/>
          <p:nvPr/>
        </p:nvSpPr>
        <p:spPr>
          <a:xfrm rot="8996590">
            <a:off x="-745209" y="14290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3"/>
          <p:cNvSpPr/>
          <p:nvPr/>
        </p:nvSpPr>
        <p:spPr>
          <a:xfrm rot="4388496">
            <a:off x="7873446" y="3631720"/>
            <a:ext cx="1749005" cy="106862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3"/>
          <p:cNvSpPr/>
          <p:nvPr/>
        </p:nvSpPr>
        <p:spPr>
          <a:xfrm rot="-5790320">
            <a:off x="8184332" y="-444059"/>
            <a:ext cx="1749118" cy="106869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2" name="Google Shape;432;p33"/>
          <p:cNvGrpSpPr/>
          <p:nvPr/>
        </p:nvGrpSpPr>
        <p:grpSpPr>
          <a:xfrm rot="-458563">
            <a:off x="-426488" y="-7796978"/>
            <a:ext cx="9470500" cy="13231427"/>
            <a:chOff x="6260625" y="2712350"/>
            <a:chExt cx="1146175" cy="1601325"/>
          </a:xfrm>
        </p:grpSpPr>
        <p:sp>
          <p:nvSpPr>
            <p:cNvPr id="433" name="Google Shape;433;p3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33"/>
          <p:cNvSpPr/>
          <p:nvPr/>
        </p:nvSpPr>
        <p:spPr>
          <a:xfrm rot="-8803004">
            <a:off x="4354940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3"/>
          <p:cNvSpPr/>
          <p:nvPr/>
        </p:nvSpPr>
        <p:spPr>
          <a:xfrm rot="-1954942" flipH="1">
            <a:off x="5501823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3"/>
          <p:cNvSpPr txBox="1">
            <a:spLocks noGrp="1"/>
          </p:cNvSpPr>
          <p:nvPr>
            <p:ph type="title" hasCustomPrompt="1"/>
          </p:nvPr>
        </p:nvSpPr>
        <p:spPr>
          <a:xfrm>
            <a:off x="1819150" y="575600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9" name="Google Shape;439;p33"/>
          <p:cNvSpPr txBox="1">
            <a:spLocks noGrp="1"/>
          </p:cNvSpPr>
          <p:nvPr>
            <p:ph type="subTitle" idx="1"/>
          </p:nvPr>
        </p:nvSpPr>
        <p:spPr>
          <a:xfrm>
            <a:off x="1819150" y="1357827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33"/>
          <p:cNvSpPr txBox="1">
            <a:spLocks noGrp="1"/>
          </p:cNvSpPr>
          <p:nvPr>
            <p:ph type="title" idx="2" hasCustomPrompt="1"/>
          </p:nvPr>
        </p:nvSpPr>
        <p:spPr>
          <a:xfrm>
            <a:off x="1819150" y="1955542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1" name="Google Shape;441;p33"/>
          <p:cNvSpPr txBox="1">
            <a:spLocks noGrp="1"/>
          </p:cNvSpPr>
          <p:nvPr>
            <p:ph type="subTitle" idx="3"/>
          </p:nvPr>
        </p:nvSpPr>
        <p:spPr>
          <a:xfrm>
            <a:off x="1819150" y="273776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33"/>
          <p:cNvSpPr txBox="1">
            <a:spLocks noGrp="1"/>
          </p:cNvSpPr>
          <p:nvPr>
            <p:ph type="title" idx="4" hasCustomPrompt="1"/>
          </p:nvPr>
        </p:nvSpPr>
        <p:spPr>
          <a:xfrm>
            <a:off x="1819150" y="3340471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3" name="Google Shape;443;p33"/>
          <p:cNvSpPr txBox="1">
            <a:spLocks noGrp="1"/>
          </p:cNvSpPr>
          <p:nvPr>
            <p:ph type="subTitle" idx="5"/>
          </p:nvPr>
        </p:nvSpPr>
        <p:spPr>
          <a:xfrm>
            <a:off x="1819150" y="412269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dk2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5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5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5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5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5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0" name="Google Shape;470;p35"/>
          <p:cNvGrpSpPr/>
          <p:nvPr/>
        </p:nvGrpSpPr>
        <p:grpSpPr>
          <a:xfrm rot="-400934">
            <a:off x="84239" y="-1490912"/>
            <a:ext cx="7753939" cy="10833054"/>
            <a:chOff x="6260625" y="2712350"/>
            <a:chExt cx="1146175" cy="1601325"/>
          </a:xfrm>
        </p:grpSpPr>
        <p:sp>
          <p:nvSpPr>
            <p:cNvPr id="471" name="Google Shape;471;p3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" name="Google Shape;474;p35"/>
          <p:cNvGrpSpPr/>
          <p:nvPr/>
        </p:nvGrpSpPr>
        <p:grpSpPr>
          <a:xfrm rot="460823">
            <a:off x="639485" y="-711"/>
            <a:ext cx="8571368" cy="12073428"/>
            <a:chOff x="6949425" y="870600"/>
            <a:chExt cx="1155475" cy="1627575"/>
          </a:xfrm>
        </p:grpSpPr>
        <p:sp>
          <p:nvSpPr>
            <p:cNvPr id="475" name="Google Shape;475;p35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7" name="Google Shape;477;p3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8" name="Google Shape;478;p35"/>
          <p:cNvSpPr txBox="1">
            <a:spLocks noGrp="1"/>
          </p:cNvSpPr>
          <p:nvPr>
            <p:ph type="subTitle" idx="1"/>
          </p:nvPr>
        </p:nvSpPr>
        <p:spPr>
          <a:xfrm rot="209466">
            <a:off x="3537381" y="1620421"/>
            <a:ext cx="3522537" cy="14138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79" name="Google Shape;479;p35"/>
          <p:cNvSpPr txBox="1"/>
          <p:nvPr/>
        </p:nvSpPr>
        <p:spPr>
          <a:xfrm>
            <a:off x="2726825" y="3482857"/>
            <a:ext cx="46104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CREDITS: This presentation template was created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, including icons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 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and infographics &amp; images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dirty="0">
              <a:solidFill>
                <a:schemeClr val="accent1"/>
              </a:solidFill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2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6"/>
          <p:cNvSpPr/>
          <p:nvPr/>
        </p:nvSpPr>
        <p:spPr>
          <a:xfrm rot="8996590">
            <a:off x="-1067434" y="-60085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6"/>
          <p:cNvSpPr/>
          <p:nvPr/>
        </p:nvSpPr>
        <p:spPr>
          <a:xfrm rot="-1049239">
            <a:off x="7873446" y="4546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6"/>
          <p:cNvSpPr/>
          <p:nvPr/>
        </p:nvSpPr>
        <p:spPr>
          <a:xfrm rot="-3705843">
            <a:off x="8331951" y="1340731"/>
            <a:ext cx="1749037" cy="106864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" name="Google Shape;484;p36"/>
          <p:cNvGrpSpPr/>
          <p:nvPr/>
        </p:nvGrpSpPr>
        <p:grpSpPr>
          <a:xfrm rot="10273671">
            <a:off x="217120" y="-293383"/>
            <a:ext cx="9470444" cy="13231373"/>
            <a:chOff x="6260625" y="2712350"/>
            <a:chExt cx="1146175" cy="1601325"/>
          </a:xfrm>
        </p:grpSpPr>
        <p:sp>
          <p:nvSpPr>
            <p:cNvPr id="485" name="Google Shape;485;p36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8" name="Google Shape;488;p36"/>
          <p:cNvSpPr/>
          <p:nvPr/>
        </p:nvSpPr>
        <p:spPr>
          <a:xfrm rot="-8803004">
            <a:off x="5686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6"/>
          <p:cNvSpPr/>
          <p:nvPr/>
        </p:nvSpPr>
        <p:spPr>
          <a:xfrm rot="-1954942" flipH="1">
            <a:off x="31965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">
    <p:bg>
      <p:bgPr>
        <a:solidFill>
          <a:schemeClr val="dk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/>
          <p:nvPr/>
        </p:nvSpPr>
        <p:spPr>
          <a:xfrm rot="-8803004">
            <a:off x="4162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37"/>
          <p:cNvSpPr/>
          <p:nvPr/>
        </p:nvSpPr>
        <p:spPr>
          <a:xfrm rot="5665293">
            <a:off x="-789192" y="4062093"/>
            <a:ext cx="1749184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7"/>
          <p:cNvSpPr/>
          <p:nvPr/>
        </p:nvSpPr>
        <p:spPr>
          <a:xfrm rot="-1049239">
            <a:off x="7873446" y="4165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7"/>
          <p:cNvSpPr/>
          <p:nvPr/>
        </p:nvSpPr>
        <p:spPr>
          <a:xfrm rot="-5400000">
            <a:off x="8255749" y="-10708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7"/>
          <p:cNvSpPr/>
          <p:nvPr/>
        </p:nvSpPr>
        <p:spPr>
          <a:xfrm rot="-1954942" flipH="1">
            <a:off x="44919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6" name="Google Shape;496;p37"/>
          <p:cNvGrpSpPr/>
          <p:nvPr/>
        </p:nvGrpSpPr>
        <p:grpSpPr>
          <a:xfrm rot="-393538">
            <a:off x="-522989" y="-7879675"/>
            <a:ext cx="9470363" cy="13231254"/>
            <a:chOff x="6260625" y="2712350"/>
            <a:chExt cx="1146175" cy="1601325"/>
          </a:xfrm>
        </p:grpSpPr>
        <p:sp>
          <p:nvSpPr>
            <p:cNvPr id="497" name="Google Shape;497;p3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/>
          <p:nvPr/>
        </p:nvSpPr>
        <p:spPr>
          <a:xfrm rot="-7129687">
            <a:off x="7946841" y="-111053"/>
            <a:ext cx="1749110" cy="106868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6"/>
          <p:cNvSpPr/>
          <p:nvPr/>
        </p:nvSpPr>
        <p:spPr>
          <a:xfrm rot="1652016">
            <a:off x="3144222" y="4661942"/>
            <a:ext cx="1749169" cy="106872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6"/>
          <p:cNvSpPr/>
          <p:nvPr/>
        </p:nvSpPr>
        <p:spPr>
          <a:xfrm rot="-9750761">
            <a:off x="-43638" y="-47475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 rot="10019859">
            <a:off x="7711913" y="4074159"/>
            <a:ext cx="1749120" cy="106869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/>
          <p:nvPr/>
        </p:nvSpPr>
        <p:spPr>
          <a:xfrm rot="7229292">
            <a:off x="-894848" y="2251427"/>
            <a:ext cx="1749185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499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dk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/>
          <p:nvPr/>
        </p:nvSpPr>
        <p:spPr>
          <a:xfrm rot="-7461925" flipH="1">
            <a:off x="8408645" y="1233599"/>
            <a:ext cx="1749147" cy="106870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7"/>
          <p:cNvSpPr/>
          <p:nvPr/>
        </p:nvSpPr>
        <p:spPr>
          <a:xfrm rot="6122756">
            <a:off x="-792938" y="4234941"/>
            <a:ext cx="1749085" cy="106867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7"/>
          <p:cNvSpPr/>
          <p:nvPr/>
        </p:nvSpPr>
        <p:spPr>
          <a:xfrm rot="-2228693">
            <a:off x="8168268" y="3835041"/>
            <a:ext cx="1749245" cy="10687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7"/>
          <p:cNvSpPr/>
          <p:nvPr/>
        </p:nvSpPr>
        <p:spPr>
          <a:xfrm rot="10097674">
            <a:off x="-466956" y="-11245"/>
            <a:ext cx="1749222" cy="106875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2" name="Google Shape;192;p17"/>
          <p:cNvGrpSpPr/>
          <p:nvPr/>
        </p:nvGrpSpPr>
        <p:grpSpPr>
          <a:xfrm rot="-491913">
            <a:off x="-10878" y="-380844"/>
            <a:ext cx="9470554" cy="13231501"/>
            <a:chOff x="6260625" y="2712350"/>
            <a:chExt cx="1146175" cy="1601325"/>
          </a:xfrm>
        </p:grpSpPr>
        <p:sp>
          <p:nvSpPr>
            <p:cNvPr id="193" name="Google Shape;193;p1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7"/>
          <p:cNvSpPr/>
          <p:nvPr/>
        </p:nvSpPr>
        <p:spPr>
          <a:xfrm rot="-1996996" flipH="1">
            <a:off x="2524617" y="4878143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941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accen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"/>
          <p:cNvSpPr/>
          <p:nvPr/>
        </p:nvSpPr>
        <p:spPr>
          <a:xfrm rot="-8803004">
            <a:off x="1311492" y="-596389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1"/>
          <p:cNvSpPr/>
          <p:nvPr/>
        </p:nvSpPr>
        <p:spPr>
          <a:xfrm rot="9243454">
            <a:off x="-592793" y="90497"/>
            <a:ext cx="1749178" cy="106872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1"/>
          <p:cNvSpPr/>
          <p:nvPr/>
        </p:nvSpPr>
        <p:spPr>
          <a:xfrm rot="4712302">
            <a:off x="-546090" y="4303606"/>
            <a:ext cx="1748947" cy="106858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1"/>
          <p:cNvSpPr/>
          <p:nvPr/>
        </p:nvSpPr>
        <p:spPr>
          <a:xfrm rot="-2262248">
            <a:off x="8203522" y="4074196"/>
            <a:ext cx="1749095" cy="106867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1"/>
          <p:cNvSpPr txBox="1">
            <a:spLocks noGrp="1"/>
          </p:cNvSpPr>
          <p:nvPr>
            <p:ph type="subTitle" idx="1"/>
          </p:nvPr>
        </p:nvSpPr>
        <p:spPr>
          <a:xfrm>
            <a:off x="3446700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31"/>
          <p:cNvSpPr txBox="1">
            <a:spLocks noGrp="1"/>
          </p:cNvSpPr>
          <p:nvPr>
            <p:ph type="subTitle" idx="2"/>
          </p:nvPr>
        </p:nvSpPr>
        <p:spPr>
          <a:xfrm>
            <a:off x="61733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31"/>
          <p:cNvSpPr txBox="1">
            <a:spLocks noGrp="1"/>
          </p:cNvSpPr>
          <p:nvPr>
            <p:ph type="subTitle" idx="3"/>
          </p:nvPr>
        </p:nvSpPr>
        <p:spPr>
          <a:xfrm>
            <a:off x="3446700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31"/>
          <p:cNvSpPr txBox="1">
            <a:spLocks noGrp="1"/>
          </p:cNvSpPr>
          <p:nvPr>
            <p:ph type="subTitle" idx="4"/>
          </p:nvPr>
        </p:nvSpPr>
        <p:spPr>
          <a:xfrm>
            <a:off x="61733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31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4" name="Google Shape;394;p31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5" name="Google Shape;395;p31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6" name="Google Shape;396;p31"/>
          <p:cNvSpPr txBox="1">
            <a:spLocks noGrp="1"/>
          </p:cNvSpPr>
          <p:nvPr>
            <p:ph type="subTitle" idx="8"/>
          </p:nvPr>
        </p:nvSpPr>
        <p:spPr>
          <a:xfrm>
            <a:off x="6173375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7" name="Google Shape;39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1"/>
          <p:cNvSpPr/>
          <p:nvPr/>
        </p:nvSpPr>
        <p:spPr>
          <a:xfrm rot="-1954942" flipH="1">
            <a:off x="5227098" y="491021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1"/>
          <p:cNvSpPr/>
          <p:nvPr/>
        </p:nvSpPr>
        <p:spPr>
          <a:xfrm rot="-5400000">
            <a:off x="8051131" y="42307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"/>
          <p:cNvSpPr txBox="1">
            <a:spLocks noGrp="1"/>
          </p:cNvSpPr>
          <p:nvPr>
            <p:ph type="subTitle" idx="9"/>
          </p:nvPr>
        </p:nvSpPr>
        <p:spPr>
          <a:xfrm>
            <a:off x="7199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31"/>
          <p:cNvSpPr txBox="1">
            <a:spLocks noGrp="1"/>
          </p:cNvSpPr>
          <p:nvPr>
            <p:ph type="subTitle" idx="13"/>
          </p:nvPr>
        </p:nvSpPr>
        <p:spPr>
          <a:xfrm>
            <a:off x="7199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31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9809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1" r:id="rId4"/>
    <p:sldLayoutId id="2147483669" r:id="rId5"/>
    <p:sldLayoutId id="2147483679" r:id="rId6"/>
    <p:sldLayoutId id="2147483681" r:id="rId7"/>
    <p:sldLayoutId id="2147483682" r:id="rId8"/>
    <p:sldLayoutId id="2147483683" r:id="rId9"/>
    <p:sldLayoutId id="2147483687" r:id="rId10"/>
    <p:sldLayoutId id="2147483688" r:id="rId11"/>
    <p:sldLayoutId id="214748368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1"/>
          <p:cNvGrpSpPr/>
          <p:nvPr/>
        </p:nvGrpSpPr>
        <p:grpSpPr>
          <a:xfrm rot="-760393">
            <a:off x="2457501" y="659143"/>
            <a:ext cx="4821173" cy="3295457"/>
            <a:chOff x="8224325" y="1877325"/>
            <a:chExt cx="449175" cy="307025"/>
          </a:xfrm>
        </p:grpSpPr>
        <p:sp>
          <p:nvSpPr>
            <p:cNvPr id="511" name="Google Shape;511;p41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3" name="Google Shape;513;p41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515" name="Google Shape;515;p41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en-US" sz="4000" dirty="0"/>
              <a:t>Introduction to Object-Oriented Programming: Java</a:t>
            </a:r>
            <a:endParaRPr sz="4000" dirty="0"/>
          </a:p>
        </p:txBody>
      </p:sp>
      <p:grpSp>
        <p:nvGrpSpPr>
          <p:cNvPr id="602" name="Google Shape;602;p41"/>
          <p:cNvGrpSpPr/>
          <p:nvPr/>
        </p:nvGrpSpPr>
        <p:grpSpPr>
          <a:xfrm>
            <a:off x="1749478" y="952791"/>
            <a:ext cx="1422751" cy="1049964"/>
            <a:chOff x="6409858" y="765723"/>
            <a:chExt cx="1553730" cy="1146624"/>
          </a:xfrm>
        </p:grpSpPr>
        <p:grpSp>
          <p:nvGrpSpPr>
            <p:cNvPr id="603" name="Google Shape;603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4" name="Google Shape;604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6" name="Google Shape;606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7" name="Google Shape;607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1" name="Google Shape;1162;p56">
            <a:extLst>
              <a:ext uri="{FF2B5EF4-FFF2-40B4-BE49-F238E27FC236}">
                <a16:creationId xmlns:a16="http://schemas.microsoft.com/office/drawing/2014/main" id="{1D01D9F1-042B-4F37-BD7D-65D56A7E7138}"/>
              </a:ext>
            </a:extLst>
          </p:cNvPr>
          <p:cNvGrpSpPr/>
          <p:nvPr/>
        </p:nvGrpSpPr>
        <p:grpSpPr>
          <a:xfrm rot="235971">
            <a:off x="6899074" y="2624521"/>
            <a:ext cx="1094784" cy="1564101"/>
            <a:chOff x="2545977" y="765737"/>
            <a:chExt cx="1317340" cy="1882063"/>
          </a:xfrm>
        </p:grpSpPr>
        <p:grpSp>
          <p:nvGrpSpPr>
            <p:cNvPr id="102" name="Google Shape;1163;p56">
              <a:extLst>
                <a:ext uri="{FF2B5EF4-FFF2-40B4-BE49-F238E27FC236}">
                  <a16:creationId xmlns:a16="http://schemas.microsoft.com/office/drawing/2014/main" id="{E205E7D0-1C1F-4311-9100-08F94FC1AF69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9" name="Google Shape;1164;p56">
                <a:extLst>
                  <a:ext uri="{FF2B5EF4-FFF2-40B4-BE49-F238E27FC236}">
                    <a16:creationId xmlns:a16="http://schemas.microsoft.com/office/drawing/2014/main" id="{CEE6372F-0005-4BF8-B410-F68BBF82A6C2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65;p56">
                <a:extLst>
                  <a:ext uri="{FF2B5EF4-FFF2-40B4-BE49-F238E27FC236}">
                    <a16:creationId xmlns:a16="http://schemas.microsoft.com/office/drawing/2014/main" id="{3589FFFE-4FA2-494C-A024-B01D4EB5F69C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66;p56">
                <a:extLst>
                  <a:ext uri="{FF2B5EF4-FFF2-40B4-BE49-F238E27FC236}">
                    <a16:creationId xmlns:a16="http://schemas.microsoft.com/office/drawing/2014/main" id="{72CE383B-3FDE-442A-B077-EAAF30A87898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67;p56">
                <a:extLst>
                  <a:ext uri="{FF2B5EF4-FFF2-40B4-BE49-F238E27FC236}">
                    <a16:creationId xmlns:a16="http://schemas.microsoft.com/office/drawing/2014/main" id="{B4697377-C252-4517-B5CA-3D32B0458C11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68;p56">
                <a:extLst>
                  <a:ext uri="{FF2B5EF4-FFF2-40B4-BE49-F238E27FC236}">
                    <a16:creationId xmlns:a16="http://schemas.microsoft.com/office/drawing/2014/main" id="{012DCA13-73DE-45EA-B4DB-2A52FCF60F02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169;p56">
              <a:extLst>
                <a:ext uri="{FF2B5EF4-FFF2-40B4-BE49-F238E27FC236}">
                  <a16:creationId xmlns:a16="http://schemas.microsoft.com/office/drawing/2014/main" id="{5BB73C19-52B1-4D83-9C6D-C81966E87022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4" name="Google Shape;1170;p56">
                <a:extLst>
                  <a:ext uri="{FF2B5EF4-FFF2-40B4-BE49-F238E27FC236}">
                    <a16:creationId xmlns:a16="http://schemas.microsoft.com/office/drawing/2014/main" id="{7ABCEA79-BD9D-4576-979D-307ECAF38C79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171;p56">
                <a:extLst>
                  <a:ext uri="{FF2B5EF4-FFF2-40B4-BE49-F238E27FC236}">
                    <a16:creationId xmlns:a16="http://schemas.microsoft.com/office/drawing/2014/main" id="{80F7D46B-7510-44BF-94BC-46055A90E4CA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172;p56">
                <a:extLst>
                  <a:ext uri="{FF2B5EF4-FFF2-40B4-BE49-F238E27FC236}">
                    <a16:creationId xmlns:a16="http://schemas.microsoft.com/office/drawing/2014/main" id="{80C39A46-F217-4DD6-94FE-E5ECF841EE12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173;p56">
                <a:extLst>
                  <a:ext uri="{FF2B5EF4-FFF2-40B4-BE49-F238E27FC236}">
                    <a16:creationId xmlns:a16="http://schemas.microsoft.com/office/drawing/2014/main" id="{3816B59C-1E76-4CC7-B77A-C2E0B8D03B2E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174;p56">
                <a:extLst>
                  <a:ext uri="{FF2B5EF4-FFF2-40B4-BE49-F238E27FC236}">
                    <a16:creationId xmlns:a16="http://schemas.microsoft.com/office/drawing/2014/main" id="{78827BD8-75E8-4D1E-96B6-F31D01C22611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4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600"/>
              </a:spcAft>
            </a:pPr>
            <a:r>
              <a:rPr lang="en-US" sz="3200" b="1" dirty="0"/>
              <a:t>Chapter 4-Flow of control: Loops</a:t>
            </a:r>
            <a:endParaRPr sz="32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524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Vocabulary, Concepts, and  Skills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2"/>
          <p:cNvSpPr/>
          <p:nvPr/>
        </p:nvSpPr>
        <p:spPr>
          <a:xfrm>
            <a:off x="612700" y="1185376"/>
            <a:ext cx="7913100" cy="3680135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VOCABULARY</a:t>
            </a:r>
            <a:endParaRPr dirty="0"/>
          </a:p>
        </p:txBody>
      </p:sp>
      <p:sp>
        <p:nvSpPr>
          <p:cNvPr id="619" name="Google Shape;619;p42"/>
          <p:cNvSpPr/>
          <p:nvPr/>
        </p:nvSpPr>
        <p:spPr>
          <a:xfrm rot="2369484" flipH="1">
            <a:off x="7614645" y="1036251"/>
            <a:ext cx="1395379" cy="626570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E3D35F-F779-4EAD-9964-332587CDF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4918913"/>
              </p:ext>
            </p:extLst>
          </p:nvPr>
        </p:nvGraphicFramePr>
        <p:xfrm>
          <a:off x="860320" y="1512717"/>
          <a:ext cx="7437013" cy="2966720"/>
        </p:xfrm>
        <a:graphic>
          <a:graphicData uri="http://schemas.openxmlformats.org/drawingml/2006/table">
            <a:tbl>
              <a:tblPr firstRow="1" bandRow="1">
                <a:tableStyleId>{2ABC2007-4194-44C9-A730-8082A69096D6}</a:tableStyleId>
              </a:tblPr>
              <a:tblGrid>
                <a:gridCol w="4016480">
                  <a:extLst>
                    <a:ext uri="{9D8B030D-6E8A-4147-A177-3AD203B41FA5}">
                      <a16:colId xmlns:a16="http://schemas.microsoft.com/office/drawing/2014/main" val="2268517981"/>
                    </a:ext>
                  </a:extLst>
                </a:gridCol>
                <a:gridCol w="3420533">
                  <a:extLst>
                    <a:ext uri="{9D8B030D-6E8A-4147-A177-3AD203B41FA5}">
                      <a16:colId xmlns:a16="http://schemas.microsoft.com/office/drawing/2014/main" val="853732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Loop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Infinite loop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49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Loop control variable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Sentinel-controlled loop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419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The body of a loop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Pre-test, post-test loop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3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Iteration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Assertion statement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45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Flow chart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Priming read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482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Boolean expression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800" b="1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660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8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888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endParaRPr lang="en-US" sz="18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4935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3"/>
          <p:cNvSpPr/>
          <p:nvPr/>
        </p:nvSpPr>
        <p:spPr>
          <a:xfrm rot="-51583">
            <a:off x="1322081" y="1210281"/>
            <a:ext cx="6997988" cy="346568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6" name="Google Shape;1426;p63"/>
          <p:cNvSpPr/>
          <p:nvPr/>
        </p:nvSpPr>
        <p:spPr>
          <a:xfrm rot="368388" flipH="1">
            <a:off x="907814" y="752590"/>
            <a:ext cx="1475671" cy="983527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3"/>
          <p:cNvSpPr/>
          <p:nvPr/>
        </p:nvSpPr>
        <p:spPr>
          <a:xfrm rot="-9526585" flipH="1">
            <a:off x="4150346" y="4192931"/>
            <a:ext cx="1475686" cy="983555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CONCEPTS</a:t>
            </a:r>
            <a:endParaRPr dirty="0"/>
          </a:p>
        </p:txBody>
      </p:sp>
      <p:sp>
        <p:nvSpPr>
          <p:cNvPr id="1429" name="Google Shape;1429;p63"/>
          <p:cNvSpPr/>
          <p:nvPr/>
        </p:nvSpPr>
        <p:spPr>
          <a:xfrm>
            <a:off x="2436163" y="2535780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63"/>
          <p:cNvSpPr/>
          <p:nvPr/>
        </p:nvSpPr>
        <p:spPr>
          <a:xfrm>
            <a:off x="4481559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63"/>
          <p:cNvSpPr/>
          <p:nvPr/>
        </p:nvSpPr>
        <p:spPr>
          <a:xfrm>
            <a:off x="6526965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2" name="Google Shape;1432;p63"/>
          <p:cNvCxnSpPr>
            <a:stCxn id="1433" idx="6"/>
            <a:endCxn id="1429" idx="2"/>
          </p:cNvCxnSpPr>
          <p:nvPr/>
        </p:nvCxnSpPr>
        <p:spPr>
          <a:xfrm>
            <a:off x="1671163" y="2918280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4" name="Google Shape;1434;p63"/>
          <p:cNvCxnSpPr>
            <a:stCxn id="1429" idx="6"/>
            <a:endCxn id="1430" idx="2"/>
          </p:cNvCxnSpPr>
          <p:nvPr/>
        </p:nvCxnSpPr>
        <p:spPr>
          <a:xfrm>
            <a:off x="3201163" y="2918280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63"/>
          <p:cNvCxnSpPr>
            <a:stCxn id="1430" idx="6"/>
            <a:endCxn id="1431" idx="2"/>
          </p:cNvCxnSpPr>
          <p:nvPr/>
        </p:nvCxnSpPr>
        <p:spPr>
          <a:xfrm>
            <a:off x="5246559" y="2918292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63"/>
          <p:cNvCxnSpPr>
            <a:stCxn id="1431" idx="6"/>
            <a:endCxn id="1437" idx="2"/>
          </p:cNvCxnSpPr>
          <p:nvPr/>
        </p:nvCxnSpPr>
        <p:spPr>
          <a:xfrm>
            <a:off x="7291965" y="2918292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39" name="Google Shape;1439;p63"/>
          <p:cNvSpPr txBox="1"/>
          <p:nvPr/>
        </p:nvSpPr>
        <p:spPr>
          <a:xfrm>
            <a:off x="1561584" y="3278651"/>
            <a:ext cx="2460778" cy="7068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Types of Loops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1" name="Google Shape;1441;p63"/>
          <p:cNvSpPr txBox="1"/>
          <p:nvPr/>
        </p:nvSpPr>
        <p:spPr>
          <a:xfrm>
            <a:off x="5263668" y="3271522"/>
            <a:ext cx="2889874" cy="871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Off-By-One Errors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3" name="Google Shape;1443;p63"/>
          <p:cNvSpPr txBox="1"/>
          <p:nvPr/>
        </p:nvSpPr>
        <p:spPr>
          <a:xfrm>
            <a:off x="3945378" y="1607358"/>
            <a:ext cx="1837358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Structured Programming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4" name="Google Shape;1444;p63"/>
          <p:cNvSpPr/>
          <p:nvPr/>
        </p:nvSpPr>
        <p:spPr>
          <a:xfrm>
            <a:off x="2522864" y="2603648"/>
            <a:ext cx="591634" cy="582552"/>
          </a:xfrm>
          <a:custGeom>
            <a:avLst/>
            <a:gdLst/>
            <a:ahLst/>
            <a:cxnLst/>
            <a:rect l="l" t="t" r="r" b="b"/>
            <a:pathLst>
              <a:path w="10814" h="10648" extrusionOk="0">
                <a:moveTo>
                  <a:pt x="5372" y="1066"/>
                </a:moveTo>
                <a:lnTo>
                  <a:pt x="5764" y="1780"/>
                </a:lnTo>
                <a:lnTo>
                  <a:pt x="5372" y="2173"/>
                </a:lnTo>
                <a:lnTo>
                  <a:pt x="4979" y="1780"/>
                </a:lnTo>
                <a:lnTo>
                  <a:pt x="5372" y="1066"/>
                </a:lnTo>
                <a:close/>
                <a:moveTo>
                  <a:pt x="2356" y="2066"/>
                </a:moveTo>
                <a:lnTo>
                  <a:pt x="3141" y="3654"/>
                </a:lnTo>
                <a:lnTo>
                  <a:pt x="3052" y="3796"/>
                </a:lnTo>
                <a:cubicBezTo>
                  <a:pt x="2987" y="3731"/>
                  <a:pt x="2903" y="3700"/>
                  <a:pt x="2820" y="3700"/>
                </a:cubicBezTo>
                <a:cubicBezTo>
                  <a:pt x="2720" y="3700"/>
                  <a:pt x="2620" y="3745"/>
                  <a:pt x="2552" y="3832"/>
                </a:cubicBezTo>
                <a:lnTo>
                  <a:pt x="1696" y="4867"/>
                </a:lnTo>
                <a:lnTo>
                  <a:pt x="982" y="4867"/>
                </a:lnTo>
                <a:lnTo>
                  <a:pt x="2356" y="2066"/>
                </a:lnTo>
                <a:close/>
                <a:moveTo>
                  <a:pt x="8458" y="2066"/>
                </a:moveTo>
                <a:lnTo>
                  <a:pt x="9832" y="4867"/>
                </a:lnTo>
                <a:lnTo>
                  <a:pt x="9047" y="4867"/>
                </a:lnTo>
                <a:lnTo>
                  <a:pt x="8173" y="3832"/>
                </a:lnTo>
                <a:cubicBezTo>
                  <a:pt x="8105" y="3745"/>
                  <a:pt x="8011" y="3700"/>
                  <a:pt x="7913" y="3700"/>
                </a:cubicBezTo>
                <a:cubicBezTo>
                  <a:pt x="7831" y="3700"/>
                  <a:pt x="7746" y="3731"/>
                  <a:pt x="7673" y="3796"/>
                </a:cubicBezTo>
                <a:lnTo>
                  <a:pt x="7638" y="3725"/>
                </a:lnTo>
                <a:lnTo>
                  <a:pt x="8458" y="2066"/>
                </a:lnTo>
                <a:close/>
                <a:moveTo>
                  <a:pt x="6121" y="2405"/>
                </a:moveTo>
                <a:cubicBezTo>
                  <a:pt x="6282" y="2708"/>
                  <a:pt x="7120" y="4207"/>
                  <a:pt x="7209" y="4367"/>
                </a:cubicBezTo>
                <a:lnTo>
                  <a:pt x="5907" y="5902"/>
                </a:lnTo>
                <a:cubicBezTo>
                  <a:pt x="5835" y="6009"/>
                  <a:pt x="5818" y="6134"/>
                  <a:pt x="5853" y="6241"/>
                </a:cubicBezTo>
                <a:lnTo>
                  <a:pt x="4890" y="6241"/>
                </a:lnTo>
                <a:cubicBezTo>
                  <a:pt x="4925" y="6134"/>
                  <a:pt x="4908" y="6009"/>
                  <a:pt x="4836" y="5902"/>
                </a:cubicBezTo>
                <a:lnTo>
                  <a:pt x="3516" y="4332"/>
                </a:lnTo>
                <a:cubicBezTo>
                  <a:pt x="3587" y="4278"/>
                  <a:pt x="3516" y="4403"/>
                  <a:pt x="4622" y="2405"/>
                </a:cubicBezTo>
                <a:lnTo>
                  <a:pt x="5122" y="2904"/>
                </a:lnTo>
                <a:cubicBezTo>
                  <a:pt x="5193" y="2976"/>
                  <a:pt x="5282" y="3011"/>
                  <a:pt x="5372" y="3011"/>
                </a:cubicBezTo>
                <a:cubicBezTo>
                  <a:pt x="5461" y="3011"/>
                  <a:pt x="5550" y="2976"/>
                  <a:pt x="5621" y="2904"/>
                </a:cubicBezTo>
                <a:lnTo>
                  <a:pt x="6121" y="2405"/>
                </a:lnTo>
                <a:close/>
                <a:moveTo>
                  <a:pt x="2820" y="4599"/>
                </a:moveTo>
                <a:lnTo>
                  <a:pt x="3819" y="5777"/>
                </a:lnTo>
                <a:lnTo>
                  <a:pt x="3516" y="5777"/>
                </a:lnTo>
                <a:cubicBezTo>
                  <a:pt x="3230" y="5777"/>
                  <a:pt x="3070" y="6116"/>
                  <a:pt x="3248" y="6330"/>
                </a:cubicBezTo>
                <a:lnTo>
                  <a:pt x="3873" y="7169"/>
                </a:lnTo>
                <a:lnTo>
                  <a:pt x="3516" y="7169"/>
                </a:lnTo>
                <a:cubicBezTo>
                  <a:pt x="3230" y="7169"/>
                  <a:pt x="3070" y="7490"/>
                  <a:pt x="3248" y="7722"/>
                </a:cubicBezTo>
                <a:lnTo>
                  <a:pt x="3873" y="8560"/>
                </a:lnTo>
                <a:lnTo>
                  <a:pt x="1785" y="8560"/>
                </a:lnTo>
                <a:lnTo>
                  <a:pt x="2410" y="7722"/>
                </a:lnTo>
                <a:cubicBezTo>
                  <a:pt x="2588" y="7490"/>
                  <a:pt x="2427" y="7169"/>
                  <a:pt x="2142" y="7169"/>
                </a:cubicBezTo>
                <a:lnTo>
                  <a:pt x="1785" y="7169"/>
                </a:lnTo>
                <a:lnTo>
                  <a:pt x="2410" y="6330"/>
                </a:lnTo>
                <a:cubicBezTo>
                  <a:pt x="2588" y="6116"/>
                  <a:pt x="2427" y="5777"/>
                  <a:pt x="2142" y="5777"/>
                </a:cubicBezTo>
                <a:lnTo>
                  <a:pt x="1839" y="5777"/>
                </a:lnTo>
                <a:cubicBezTo>
                  <a:pt x="1946" y="5634"/>
                  <a:pt x="2731" y="4706"/>
                  <a:pt x="2820" y="4599"/>
                </a:cubicBezTo>
                <a:close/>
                <a:moveTo>
                  <a:pt x="7923" y="4599"/>
                </a:moveTo>
                <a:cubicBezTo>
                  <a:pt x="8012" y="4706"/>
                  <a:pt x="8779" y="5634"/>
                  <a:pt x="8904" y="5777"/>
                </a:cubicBezTo>
                <a:lnTo>
                  <a:pt x="8601" y="5777"/>
                </a:lnTo>
                <a:cubicBezTo>
                  <a:pt x="8316" y="5777"/>
                  <a:pt x="8155" y="6116"/>
                  <a:pt x="8333" y="6330"/>
                </a:cubicBezTo>
                <a:lnTo>
                  <a:pt x="8958" y="7169"/>
                </a:lnTo>
                <a:lnTo>
                  <a:pt x="8601" y="7169"/>
                </a:lnTo>
                <a:cubicBezTo>
                  <a:pt x="8316" y="7169"/>
                  <a:pt x="8155" y="7490"/>
                  <a:pt x="8333" y="7722"/>
                </a:cubicBezTo>
                <a:lnTo>
                  <a:pt x="8958" y="8560"/>
                </a:lnTo>
                <a:lnTo>
                  <a:pt x="6870" y="8560"/>
                </a:lnTo>
                <a:lnTo>
                  <a:pt x="7495" y="7722"/>
                </a:lnTo>
                <a:cubicBezTo>
                  <a:pt x="7673" y="7490"/>
                  <a:pt x="7513" y="7169"/>
                  <a:pt x="7227" y="7169"/>
                </a:cubicBezTo>
                <a:lnTo>
                  <a:pt x="6870" y="7169"/>
                </a:lnTo>
                <a:lnTo>
                  <a:pt x="7495" y="6330"/>
                </a:lnTo>
                <a:cubicBezTo>
                  <a:pt x="7673" y="6116"/>
                  <a:pt x="7513" y="5777"/>
                  <a:pt x="7227" y="5777"/>
                </a:cubicBezTo>
                <a:lnTo>
                  <a:pt x="6924" y="5777"/>
                </a:lnTo>
                <a:lnTo>
                  <a:pt x="7923" y="4599"/>
                </a:lnTo>
                <a:close/>
                <a:moveTo>
                  <a:pt x="6174" y="6937"/>
                </a:moveTo>
                <a:lnTo>
                  <a:pt x="5907" y="7311"/>
                </a:lnTo>
                <a:cubicBezTo>
                  <a:pt x="5728" y="7543"/>
                  <a:pt x="5889" y="7864"/>
                  <a:pt x="6174" y="7864"/>
                </a:cubicBezTo>
                <a:lnTo>
                  <a:pt x="6531" y="7864"/>
                </a:lnTo>
                <a:lnTo>
                  <a:pt x="5907" y="8703"/>
                </a:lnTo>
                <a:cubicBezTo>
                  <a:pt x="5728" y="8917"/>
                  <a:pt x="5889" y="9256"/>
                  <a:pt x="6174" y="9256"/>
                </a:cubicBezTo>
                <a:lnTo>
                  <a:pt x="7566" y="9256"/>
                </a:lnTo>
                <a:lnTo>
                  <a:pt x="7566" y="9952"/>
                </a:lnTo>
                <a:lnTo>
                  <a:pt x="3177" y="9952"/>
                </a:lnTo>
                <a:lnTo>
                  <a:pt x="3177" y="9256"/>
                </a:lnTo>
                <a:lnTo>
                  <a:pt x="4569" y="9256"/>
                </a:lnTo>
                <a:cubicBezTo>
                  <a:pt x="4854" y="9256"/>
                  <a:pt x="5015" y="8917"/>
                  <a:pt x="4836" y="8703"/>
                </a:cubicBezTo>
                <a:lnTo>
                  <a:pt x="4212" y="7864"/>
                </a:lnTo>
                <a:lnTo>
                  <a:pt x="4569" y="7864"/>
                </a:lnTo>
                <a:cubicBezTo>
                  <a:pt x="4854" y="7864"/>
                  <a:pt x="5015" y="7543"/>
                  <a:pt x="4836" y="7311"/>
                </a:cubicBezTo>
                <a:lnTo>
                  <a:pt x="4569" y="6937"/>
                </a:lnTo>
                <a:close/>
                <a:moveTo>
                  <a:pt x="5372" y="0"/>
                </a:moveTo>
                <a:cubicBezTo>
                  <a:pt x="5251" y="0"/>
                  <a:pt x="5131" y="58"/>
                  <a:pt x="5068" y="174"/>
                </a:cubicBezTo>
                <a:lnTo>
                  <a:pt x="3552" y="2922"/>
                </a:lnTo>
                <a:lnTo>
                  <a:pt x="2659" y="1120"/>
                </a:lnTo>
                <a:cubicBezTo>
                  <a:pt x="2597" y="995"/>
                  <a:pt x="2472" y="933"/>
                  <a:pt x="2347" y="933"/>
                </a:cubicBezTo>
                <a:cubicBezTo>
                  <a:pt x="2222" y="933"/>
                  <a:pt x="2097" y="995"/>
                  <a:pt x="2035" y="1120"/>
                </a:cubicBezTo>
                <a:lnTo>
                  <a:pt x="108" y="5045"/>
                </a:lnTo>
                <a:cubicBezTo>
                  <a:pt x="1" y="5277"/>
                  <a:pt x="161" y="5545"/>
                  <a:pt x="429" y="5545"/>
                </a:cubicBezTo>
                <a:lnTo>
                  <a:pt x="1125" y="5545"/>
                </a:lnTo>
                <a:lnTo>
                  <a:pt x="822" y="5902"/>
                </a:lnTo>
                <a:cubicBezTo>
                  <a:pt x="643" y="6134"/>
                  <a:pt x="804" y="6473"/>
                  <a:pt x="1089" y="6473"/>
                </a:cubicBezTo>
                <a:lnTo>
                  <a:pt x="1446" y="6473"/>
                </a:lnTo>
                <a:lnTo>
                  <a:pt x="822" y="7311"/>
                </a:lnTo>
                <a:cubicBezTo>
                  <a:pt x="643" y="7543"/>
                  <a:pt x="804" y="7864"/>
                  <a:pt x="1089" y="7864"/>
                </a:cubicBezTo>
                <a:lnTo>
                  <a:pt x="1446" y="7864"/>
                </a:lnTo>
                <a:lnTo>
                  <a:pt x="822" y="8703"/>
                </a:lnTo>
                <a:cubicBezTo>
                  <a:pt x="643" y="8917"/>
                  <a:pt x="804" y="9256"/>
                  <a:pt x="1089" y="9256"/>
                </a:cubicBezTo>
                <a:lnTo>
                  <a:pt x="2481" y="9256"/>
                </a:lnTo>
                <a:lnTo>
                  <a:pt x="2481" y="9952"/>
                </a:lnTo>
                <a:lnTo>
                  <a:pt x="393" y="9952"/>
                </a:lnTo>
                <a:cubicBezTo>
                  <a:pt x="215" y="9952"/>
                  <a:pt x="54" y="10095"/>
                  <a:pt x="54" y="10291"/>
                </a:cubicBezTo>
                <a:cubicBezTo>
                  <a:pt x="54" y="10487"/>
                  <a:pt x="215" y="10648"/>
                  <a:pt x="393" y="10648"/>
                </a:cubicBezTo>
                <a:lnTo>
                  <a:pt x="10350" y="10648"/>
                </a:lnTo>
                <a:cubicBezTo>
                  <a:pt x="10528" y="10648"/>
                  <a:pt x="10689" y="10487"/>
                  <a:pt x="10689" y="10291"/>
                </a:cubicBezTo>
                <a:cubicBezTo>
                  <a:pt x="10689" y="10095"/>
                  <a:pt x="10528" y="9952"/>
                  <a:pt x="10350" y="9952"/>
                </a:cubicBezTo>
                <a:lnTo>
                  <a:pt x="8262" y="9952"/>
                </a:lnTo>
                <a:lnTo>
                  <a:pt x="8262" y="9256"/>
                </a:lnTo>
                <a:lnTo>
                  <a:pt x="9654" y="9256"/>
                </a:lnTo>
                <a:cubicBezTo>
                  <a:pt x="9939" y="9256"/>
                  <a:pt x="10100" y="8917"/>
                  <a:pt x="9921" y="8703"/>
                </a:cubicBezTo>
                <a:lnTo>
                  <a:pt x="9297" y="7864"/>
                </a:lnTo>
                <a:lnTo>
                  <a:pt x="9654" y="7864"/>
                </a:lnTo>
                <a:cubicBezTo>
                  <a:pt x="9939" y="7864"/>
                  <a:pt x="10100" y="7543"/>
                  <a:pt x="9921" y="7311"/>
                </a:cubicBezTo>
                <a:lnTo>
                  <a:pt x="9297" y="6473"/>
                </a:lnTo>
                <a:lnTo>
                  <a:pt x="9654" y="6473"/>
                </a:lnTo>
                <a:cubicBezTo>
                  <a:pt x="9939" y="6473"/>
                  <a:pt x="10100" y="6134"/>
                  <a:pt x="9921" y="5902"/>
                </a:cubicBezTo>
                <a:lnTo>
                  <a:pt x="9618" y="5545"/>
                </a:lnTo>
                <a:lnTo>
                  <a:pt x="10385" y="5545"/>
                </a:lnTo>
                <a:cubicBezTo>
                  <a:pt x="10635" y="5545"/>
                  <a:pt x="10814" y="5277"/>
                  <a:pt x="10689" y="5045"/>
                </a:cubicBezTo>
                <a:lnTo>
                  <a:pt x="8762" y="1120"/>
                </a:lnTo>
                <a:cubicBezTo>
                  <a:pt x="8699" y="995"/>
                  <a:pt x="8574" y="933"/>
                  <a:pt x="8449" y="933"/>
                </a:cubicBezTo>
                <a:cubicBezTo>
                  <a:pt x="8324" y="933"/>
                  <a:pt x="8200" y="995"/>
                  <a:pt x="8137" y="1120"/>
                </a:cubicBezTo>
                <a:lnTo>
                  <a:pt x="7227" y="2976"/>
                </a:lnTo>
                <a:lnTo>
                  <a:pt x="5675" y="174"/>
                </a:lnTo>
                <a:cubicBezTo>
                  <a:pt x="5612" y="58"/>
                  <a:pt x="5492" y="0"/>
                  <a:pt x="5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45" name="Google Shape;1445;p63"/>
          <p:cNvGrpSpPr/>
          <p:nvPr/>
        </p:nvGrpSpPr>
        <p:grpSpPr>
          <a:xfrm>
            <a:off x="6617560" y="2602909"/>
            <a:ext cx="583810" cy="584029"/>
            <a:chOff x="2790950" y="2362025"/>
            <a:chExt cx="266775" cy="266875"/>
          </a:xfrm>
        </p:grpSpPr>
        <p:sp>
          <p:nvSpPr>
            <p:cNvPr id="1446" name="Google Shape;1446;p63"/>
            <p:cNvSpPr/>
            <p:nvPr/>
          </p:nvSpPr>
          <p:spPr>
            <a:xfrm>
              <a:off x="2930125" y="2541900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6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6"/>
                    <a:pt x="3016" y="339"/>
                  </a:cubicBezTo>
                  <a:cubicBezTo>
                    <a:pt x="3016" y="161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7" name="Google Shape;1447;p63"/>
            <p:cNvSpPr/>
            <p:nvPr/>
          </p:nvSpPr>
          <p:spPr>
            <a:xfrm>
              <a:off x="2970725" y="2576700"/>
              <a:ext cx="34800" cy="17400"/>
            </a:xfrm>
            <a:custGeom>
              <a:avLst/>
              <a:gdLst/>
              <a:ahLst/>
              <a:cxnLst/>
              <a:rect l="l" t="t" r="r" b="b"/>
              <a:pathLst>
                <a:path w="1392" h="696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1053" y="696"/>
                  </a:lnTo>
                  <a:cubicBezTo>
                    <a:pt x="1231" y="696"/>
                    <a:pt x="1392" y="535"/>
                    <a:pt x="1392" y="339"/>
                  </a:cubicBezTo>
                  <a:cubicBezTo>
                    <a:pt x="1392" y="161"/>
                    <a:pt x="1231" y="0"/>
                    <a:pt x="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8" name="Google Shape;1448;p63"/>
            <p:cNvSpPr/>
            <p:nvPr/>
          </p:nvSpPr>
          <p:spPr>
            <a:xfrm>
              <a:off x="2790950" y="2362025"/>
              <a:ext cx="266775" cy="266875"/>
            </a:xfrm>
            <a:custGeom>
              <a:avLst/>
              <a:gdLst/>
              <a:ahLst/>
              <a:cxnLst/>
              <a:rect l="l" t="t" r="r" b="b"/>
              <a:pathLst>
                <a:path w="10671" h="10675" extrusionOk="0">
                  <a:moveTo>
                    <a:pt x="2427" y="2324"/>
                  </a:moveTo>
                  <a:cubicBezTo>
                    <a:pt x="3391" y="2324"/>
                    <a:pt x="4176" y="3092"/>
                    <a:pt x="4176" y="4055"/>
                  </a:cubicBezTo>
                  <a:cubicBezTo>
                    <a:pt x="4176" y="5019"/>
                    <a:pt x="3391" y="5804"/>
                    <a:pt x="2427" y="5804"/>
                  </a:cubicBezTo>
                  <a:cubicBezTo>
                    <a:pt x="1481" y="5804"/>
                    <a:pt x="696" y="5019"/>
                    <a:pt x="696" y="4055"/>
                  </a:cubicBezTo>
                  <a:cubicBezTo>
                    <a:pt x="696" y="3092"/>
                    <a:pt x="1481" y="2324"/>
                    <a:pt x="2427" y="2324"/>
                  </a:cubicBezTo>
                  <a:close/>
                  <a:moveTo>
                    <a:pt x="5219" y="696"/>
                  </a:moveTo>
                  <a:cubicBezTo>
                    <a:pt x="5309" y="696"/>
                    <a:pt x="5398" y="727"/>
                    <a:pt x="5460" y="790"/>
                  </a:cubicBezTo>
                  <a:lnTo>
                    <a:pt x="6888" y="2217"/>
                  </a:lnTo>
                  <a:cubicBezTo>
                    <a:pt x="6941" y="2289"/>
                    <a:pt x="7030" y="2324"/>
                    <a:pt x="7138" y="2324"/>
                  </a:cubicBezTo>
                  <a:lnTo>
                    <a:pt x="8244" y="2324"/>
                  </a:lnTo>
                  <a:cubicBezTo>
                    <a:pt x="9189" y="2324"/>
                    <a:pt x="9975" y="3092"/>
                    <a:pt x="9975" y="4055"/>
                  </a:cubicBezTo>
                  <a:cubicBezTo>
                    <a:pt x="9975" y="5019"/>
                    <a:pt x="9189" y="5804"/>
                    <a:pt x="8244" y="5804"/>
                  </a:cubicBezTo>
                  <a:lnTo>
                    <a:pt x="4140" y="5804"/>
                  </a:lnTo>
                  <a:cubicBezTo>
                    <a:pt x="4336" y="5607"/>
                    <a:pt x="4515" y="5358"/>
                    <a:pt x="4640" y="5108"/>
                  </a:cubicBezTo>
                  <a:lnTo>
                    <a:pt x="5906" y="5108"/>
                  </a:lnTo>
                  <a:cubicBezTo>
                    <a:pt x="6103" y="5108"/>
                    <a:pt x="6263" y="4947"/>
                    <a:pt x="6263" y="4751"/>
                  </a:cubicBezTo>
                  <a:cubicBezTo>
                    <a:pt x="6263" y="4555"/>
                    <a:pt x="6103" y="4412"/>
                    <a:pt x="5906" y="4412"/>
                  </a:cubicBezTo>
                  <a:lnTo>
                    <a:pt x="4854" y="4412"/>
                  </a:lnTo>
                  <a:cubicBezTo>
                    <a:pt x="4854" y="4287"/>
                    <a:pt x="4872" y="4180"/>
                    <a:pt x="4872" y="4055"/>
                  </a:cubicBezTo>
                  <a:cubicBezTo>
                    <a:pt x="4872" y="3377"/>
                    <a:pt x="4586" y="2753"/>
                    <a:pt x="4140" y="2324"/>
                  </a:cubicBezTo>
                  <a:lnTo>
                    <a:pt x="5157" y="2324"/>
                  </a:lnTo>
                  <a:cubicBezTo>
                    <a:pt x="5478" y="2324"/>
                    <a:pt x="5621" y="1950"/>
                    <a:pt x="5407" y="1718"/>
                  </a:cubicBezTo>
                  <a:lnTo>
                    <a:pt x="4979" y="1289"/>
                  </a:lnTo>
                  <a:cubicBezTo>
                    <a:pt x="4836" y="1147"/>
                    <a:pt x="4836" y="933"/>
                    <a:pt x="4979" y="790"/>
                  </a:cubicBezTo>
                  <a:cubicBezTo>
                    <a:pt x="5041" y="727"/>
                    <a:pt x="5130" y="696"/>
                    <a:pt x="5219" y="696"/>
                  </a:cubicBezTo>
                  <a:close/>
                  <a:moveTo>
                    <a:pt x="2427" y="6499"/>
                  </a:moveTo>
                  <a:cubicBezTo>
                    <a:pt x="3391" y="6499"/>
                    <a:pt x="4176" y="7285"/>
                    <a:pt x="4176" y="8230"/>
                  </a:cubicBezTo>
                  <a:cubicBezTo>
                    <a:pt x="4176" y="9194"/>
                    <a:pt x="3391" y="9979"/>
                    <a:pt x="2427" y="9979"/>
                  </a:cubicBezTo>
                  <a:cubicBezTo>
                    <a:pt x="1481" y="9979"/>
                    <a:pt x="696" y="9194"/>
                    <a:pt x="696" y="8230"/>
                  </a:cubicBezTo>
                  <a:cubicBezTo>
                    <a:pt x="696" y="7285"/>
                    <a:pt x="1481" y="6499"/>
                    <a:pt x="2427" y="6499"/>
                  </a:cubicBezTo>
                  <a:close/>
                  <a:moveTo>
                    <a:pt x="8244" y="6499"/>
                  </a:moveTo>
                  <a:cubicBezTo>
                    <a:pt x="9189" y="6499"/>
                    <a:pt x="9975" y="7285"/>
                    <a:pt x="9975" y="8230"/>
                  </a:cubicBezTo>
                  <a:cubicBezTo>
                    <a:pt x="9975" y="9194"/>
                    <a:pt x="9189" y="9979"/>
                    <a:pt x="8244" y="9979"/>
                  </a:cubicBezTo>
                  <a:lnTo>
                    <a:pt x="4140" y="9979"/>
                  </a:lnTo>
                  <a:cubicBezTo>
                    <a:pt x="4336" y="9783"/>
                    <a:pt x="4515" y="9551"/>
                    <a:pt x="4640" y="9283"/>
                  </a:cubicBezTo>
                  <a:lnTo>
                    <a:pt x="6138" y="9283"/>
                  </a:lnTo>
                  <a:cubicBezTo>
                    <a:pt x="6335" y="9283"/>
                    <a:pt x="6495" y="9122"/>
                    <a:pt x="6495" y="8926"/>
                  </a:cubicBezTo>
                  <a:cubicBezTo>
                    <a:pt x="6495" y="8748"/>
                    <a:pt x="6335" y="8587"/>
                    <a:pt x="6138" y="8587"/>
                  </a:cubicBezTo>
                  <a:lnTo>
                    <a:pt x="4854" y="8587"/>
                  </a:lnTo>
                  <a:cubicBezTo>
                    <a:pt x="4854" y="8462"/>
                    <a:pt x="4872" y="8355"/>
                    <a:pt x="4872" y="8230"/>
                  </a:cubicBezTo>
                  <a:cubicBezTo>
                    <a:pt x="4872" y="7552"/>
                    <a:pt x="4586" y="6946"/>
                    <a:pt x="4140" y="6499"/>
                  </a:cubicBezTo>
                  <a:close/>
                  <a:moveTo>
                    <a:pt x="5219" y="0"/>
                  </a:moveTo>
                  <a:cubicBezTo>
                    <a:pt x="4952" y="0"/>
                    <a:pt x="4684" y="103"/>
                    <a:pt x="4479" y="308"/>
                  </a:cubicBezTo>
                  <a:cubicBezTo>
                    <a:pt x="4104" y="665"/>
                    <a:pt x="4086" y="1218"/>
                    <a:pt x="4354" y="1628"/>
                  </a:cubicBezTo>
                  <a:lnTo>
                    <a:pt x="2427" y="1628"/>
                  </a:lnTo>
                  <a:cubicBezTo>
                    <a:pt x="1089" y="1628"/>
                    <a:pt x="0" y="2717"/>
                    <a:pt x="0" y="4055"/>
                  </a:cubicBezTo>
                  <a:cubicBezTo>
                    <a:pt x="0" y="4947"/>
                    <a:pt x="464" y="5714"/>
                    <a:pt x="1178" y="6143"/>
                  </a:cubicBezTo>
                  <a:cubicBezTo>
                    <a:pt x="464" y="6571"/>
                    <a:pt x="0" y="7356"/>
                    <a:pt x="0" y="8230"/>
                  </a:cubicBezTo>
                  <a:cubicBezTo>
                    <a:pt x="0" y="9586"/>
                    <a:pt x="1089" y="10675"/>
                    <a:pt x="2427" y="10675"/>
                  </a:cubicBezTo>
                  <a:lnTo>
                    <a:pt x="8244" y="10675"/>
                  </a:lnTo>
                  <a:cubicBezTo>
                    <a:pt x="9582" y="10675"/>
                    <a:pt x="10670" y="9586"/>
                    <a:pt x="10670" y="8230"/>
                  </a:cubicBezTo>
                  <a:cubicBezTo>
                    <a:pt x="10670" y="7356"/>
                    <a:pt x="10189" y="6571"/>
                    <a:pt x="9493" y="6143"/>
                  </a:cubicBezTo>
                  <a:cubicBezTo>
                    <a:pt x="10189" y="5714"/>
                    <a:pt x="10670" y="4947"/>
                    <a:pt x="10670" y="4055"/>
                  </a:cubicBezTo>
                  <a:cubicBezTo>
                    <a:pt x="10670" y="2717"/>
                    <a:pt x="9582" y="1628"/>
                    <a:pt x="8244" y="1628"/>
                  </a:cubicBezTo>
                  <a:lnTo>
                    <a:pt x="7280" y="1628"/>
                  </a:lnTo>
                  <a:lnTo>
                    <a:pt x="5960" y="308"/>
                  </a:lnTo>
                  <a:cubicBezTo>
                    <a:pt x="5755" y="103"/>
                    <a:pt x="5487" y="0"/>
                    <a:pt x="5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9" name="Google Shape;1449;p63"/>
            <p:cNvSpPr/>
            <p:nvPr/>
          </p:nvSpPr>
          <p:spPr>
            <a:xfrm>
              <a:off x="2825750" y="2541900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57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57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0" name="Google Shape;1450;p63"/>
            <p:cNvSpPr/>
            <p:nvPr/>
          </p:nvSpPr>
          <p:spPr>
            <a:xfrm>
              <a:off x="2930125" y="2437525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43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5"/>
                    <a:pt x="3016" y="339"/>
                  </a:cubicBezTo>
                  <a:cubicBezTo>
                    <a:pt x="3016" y="143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1" name="Google Shape;1451;p63"/>
            <p:cNvSpPr/>
            <p:nvPr/>
          </p:nvSpPr>
          <p:spPr>
            <a:xfrm>
              <a:off x="2970725" y="2472300"/>
              <a:ext cx="34800" cy="17425"/>
            </a:xfrm>
            <a:custGeom>
              <a:avLst/>
              <a:gdLst/>
              <a:ahLst/>
              <a:cxnLst/>
              <a:rect l="l" t="t" r="r" b="b"/>
              <a:pathLst>
                <a:path w="1392" h="697" extrusionOk="0">
                  <a:moveTo>
                    <a:pt x="339" y="1"/>
                  </a:moveTo>
                  <a:cubicBezTo>
                    <a:pt x="161" y="1"/>
                    <a:pt x="0" y="144"/>
                    <a:pt x="0" y="340"/>
                  </a:cubicBezTo>
                  <a:cubicBezTo>
                    <a:pt x="0" y="536"/>
                    <a:pt x="161" y="697"/>
                    <a:pt x="339" y="697"/>
                  </a:cubicBezTo>
                  <a:lnTo>
                    <a:pt x="1053" y="697"/>
                  </a:lnTo>
                  <a:cubicBezTo>
                    <a:pt x="1231" y="697"/>
                    <a:pt x="1392" y="536"/>
                    <a:pt x="1392" y="340"/>
                  </a:cubicBezTo>
                  <a:cubicBezTo>
                    <a:pt x="1392" y="144"/>
                    <a:pt x="1231" y="1"/>
                    <a:pt x="10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2" name="Google Shape;1452;p63"/>
            <p:cNvSpPr/>
            <p:nvPr/>
          </p:nvSpPr>
          <p:spPr>
            <a:xfrm>
              <a:off x="2825750" y="2437525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39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39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453" name="Google Shape;1453;p63"/>
          <p:cNvSpPr/>
          <p:nvPr/>
        </p:nvSpPr>
        <p:spPr>
          <a:xfrm>
            <a:off x="4566298" y="2653680"/>
            <a:ext cx="595518" cy="482487"/>
          </a:xfrm>
          <a:custGeom>
            <a:avLst/>
            <a:gdLst/>
            <a:ahLst/>
            <a:cxnLst/>
            <a:rect l="l" t="t" r="r" b="b"/>
            <a:pathLst>
              <a:path w="10885" h="8819" extrusionOk="0">
                <a:moveTo>
                  <a:pt x="2534" y="932"/>
                </a:moveTo>
                <a:lnTo>
                  <a:pt x="3230" y="1860"/>
                </a:lnTo>
                <a:lnTo>
                  <a:pt x="1838" y="1860"/>
                </a:lnTo>
                <a:lnTo>
                  <a:pt x="2534" y="932"/>
                </a:lnTo>
                <a:close/>
                <a:moveTo>
                  <a:pt x="8333" y="932"/>
                </a:moveTo>
                <a:lnTo>
                  <a:pt x="9029" y="1860"/>
                </a:lnTo>
                <a:lnTo>
                  <a:pt x="7637" y="1860"/>
                </a:lnTo>
                <a:lnTo>
                  <a:pt x="8333" y="932"/>
                </a:lnTo>
                <a:close/>
                <a:moveTo>
                  <a:pt x="2534" y="2556"/>
                </a:moveTo>
                <a:lnTo>
                  <a:pt x="3587" y="3948"/>
                </a:lnTo>
                <a:lnTo>
                  <a:pt x="1499" y="3948"/>
                </a:lnTo>
                <a:lnTo>
                  <a:pt x="2534" y="2556"/>
                </a:lnTo>
                <a:close/>
                <a:moveTo>
                  <a:pt x="8333" y="2556"/>
                </a:moveTo>
                <a:lnTo>
                  <a:pt x="9386" y="3948"/>
                </a:lnTo>
                <a:lnTo>
                  <a:pt x="7298" y="3948"/>
                </a:lnTo>
                <a:lnTo>
                  <a:pt x="8333" y="2556"/>
                </a:lnTo>
                <a:close/>
                <a:moveTo>
                  <a:pt x="2891" y="4644"/>
                </a:moveTo>
                <a:lnTo>
                  <a:pt x="3926" y="6035"/>
                </a:lnTo>
                <a:lnTo>
                  <a:pt x="1142" y="6035"/>
                </a:lnTo>
                <a:lnTo>
                  <a:pt x="2195" y="4644"/>
                </a:lnTo>
                <a:close/>
                <a:moveTo>
                  <a:pt x="8690" y="4644"/>
                </a:moveTo>
                <a:lnTo>
                  <a:pt x="9725" y="6035"/>
                </a:lnTo>
                <a:lnTo>
                  <a:pt x="6941" y="6035"/>
                </a:lnTo>
                <a:lnTo>
                  <a:pt x="7994" y="4644"/>
                </a:lnTo>
                <a:close/>
                <a:moveTo>
                  <a:pt x="2891" y="6731"/>
                </a:moveTo>
                <a:lnTo>
                  <a:pt x="2891" y="8123"/>
                </a:lnTo>
                <a:lnTo>
                  <a:pt x="2195" y="8123"/>
                </a:lnTo>
                <a:lnTo>
                  <a:pt x="2195" y="6731"/>
                </a:lnTo>
                <a:close/>
                <a:moveTo>
                  <a:pt x="8690" y="6731"/>
                </a:moveTo>
                <a:lnTo>
                  <a:pt x="8690" y="8123"/>
                </a:lnTo>
                <a:lnTo>
                  <a:pt x="7994" y="8123"/>
                </a:lnTo>
                <a:lnTo>
                  <a:pt x="7994" y="6731"/>
                </a:lnTo>
                <a:close/>
                <a:moveTo>
                  <a:pt x="2534" y="0"/>
                </a:moveTo>
                <a:cubicBezTo>
                  <a:pt x="2427" y="0"/>
                  <a:pt x="2320" y="49"/>
                  <a:pt x="2249" y="147"/>
                </a:cubicBezTo>
                <a:lnTo>
                  <a:pt x="857" y="2003"/>
                </a:lnTo>
                <a:cubicBezTo>
                  <a:pt x="696" y="2235"/>
                  <a:pt x="857" y="2556"/>
                  <a:pt x="1142" y="2556"/>
                </a:cubicBezTo>
                <a:lnTo>
                  <a:pt x="1660" y="2556"/>
                </a:lnTo>
                <a:lnTo>
                  <a:pt x="518" y="4091"/>
                </a:lnTo>
                <a:cubicBezTo>
                  <a:pt x="339" y="4323"/>
                  <a:pt x="500" y="4644"/>
                  <a:pt x="803" y="4644"/>
                </a:cubicBezTo>
                <a:lnTo>
                  <a:pt x="1321" y="4644"/>
                </a:lnTo>
                <a:lnTo>
                  <a:pt x="161" y="6178"/>
                </a:lnTo>
                <a:cubicBezTo>
                  <a:pt x="0" y="6410"/>
                  <a:pt x="161" y="6731"/>
                  <a:pt x="446" y="6731"/>
                </a:cubicBezTo>
                <a:lnTo>
                  <a:pt x="1499" y="6731"/>
                </a:lnTo>
                <a:lnTo>
                  <a:pt x="1499" y="8123"/>
                </a:lnTo>
                <a:lnTo>
                  <a:pt x="1142" y="8123"/>
                </a:lnTo>
                <a:cubicBezTo>
                  <a:pt x="946" y="8123"/>
                  <a:pt x="803" y="8284"/>
                  <a:pt x="803" y="8480"/>
                </a:cubicBezTo>
                <a:cubicBezTo>
                  <a:pt x="803" y="8658"/>
                  <a:pt x="946" y="8819"/>
                  <a:pt x="1142" y="8819"/>
                </a:cubicBezTo>
                <a:lnTo>
                  <a:pt x="9725" y="8819"/>
                </a:lnTo>
                <a:cubicBezTo>
                  <a:pt x="9921" y="8819"/>
                  <a:pt x="10081" y="8658"/>
                  <a:pt x="10081" y="8480"/>
                </a:cubicBezTo>
                <a:cubicBezTo>
                  <a:pt x="10081" y="8284"/>
                  <a:pt x="9921" y="8123"/>
                  <a:pt x="9725" y="8123"/>
                </a:cubicBezTo>
                <a:lnTo>
                  <a:pt x="9386" y="8123"/>
                </a:lnTo>
                <a:lnTo>
                  <a:pt x="9386" y="6731"/>
                </a:lnTo>
                <a:lnTo>
                  <a:pt x="10420" y="6731"/>
                </a:lnTo>
                <a:cubicBezTo>
                  <a:pt x="10706" y="6731"/>
                  <a:pt x="10884" y="6410"/>
                  <a:pt x="10706" y="6178"/>
                </a:cubicBezTo>
                <a:lnTo>
                  <a:pt x="9546" y="4644"/>
                </a:lnTo>
                <a:lnTo>
                  <a:pt x="10081" y="4644"/>
                </a:lnTo>
                <a:cubicBezTo>
                  <a:pt x="10367" y="4644"/>
                  <a:pt x="10528" y="4323"/>
                  <a:pt x="10349" y="4091"/>
                </a:cubicBezTo>
                <a:lnTo>
                  <a:pt x="9207" y="2556"/>
                </a:lnTo>
                <a:lnTo>
                  <a:pt x="9725" y="2556"/>
                </a:lnTo>
                <a:cubicBezTo>
                  <a:pt x="10010" y="2556"/>
                  <a:pt x="10171" y="2235"/>
                  <a:pt x="10010" y="2003"/>
                </a:cubicBezTo>
                <a:lnTo>
                  <a:pt x="8618" y="147"/>
                </a:lnTo>
                <a:cubicBezTo>
                  <a:pt x="8547" y="49"/>
                  <a:pt x="8440" y="0"/>
                  <a:pt x="8335" y="0"/>
                </a:cubicBezTo>
                <a:cubicBezTo>
                  <a:pt x="8230" y="0"/>
                  <a:pt x="8128" y="49"/>
                  <a:pt x="8065" y="147"/>
                </a:cubicBezTo>
                <a:lnTo>
                  <a:pt x="6673" y="2003"/>
                </a:lnTo>
                <a:cubicBezTo>
                  <a:pt x="6495" y="2235"/>
                  <a:pt x="6656" y="2556"/>
                  <a:pt x="6941" y="2556"/>
                </a:cubicBezTo>
                <a:lnTo>
                  <a:pt x="7459" y="2556"/>
                </a:lnTo>
                <a:lnTo>
                  <a:pt x="6317" y="4091"/>
                </a:lnTo>
                <a:cubicBezTo>
                  <a:pt x="6138" y="4323"/>
                  <a:pt x="6317" y="4644"/>
                  <a:pt x="6602" y="4644"/>
                </a:cubicBezTo>
                <a:lnTo>
                  <a:pt x="7120" y="4644"/>
                </a:lnTo>
                <a:lnTo>
                  <a:pt x="5978" y="6178"/>
                </a:lnTo>
                <a:cubicBezTo>
                  <a:pt x="5799" y="6410"/>
                  <a:pt x="5960" y="6731"/>
                  <a:pt x="6245" y="6731"/>
                </a:cubicBezTo>
                <a:lnTo>
                  <a:pt x="7298" y="6731"/>
                </a:lnTo>
                <a:lnTo>
                  <a:pt x="7298" y="8123"/>
                </a:lnTo>
                <a:lnTo>
                  <a:pt x="3587" y="8123"/>
                </a:lnTo>
                <a:lnTo>
                  <a:pt x="3587" y="6731"/>
                </a:lnTo>
                <a:lnTo>
                  <a:pt x="4622" y="6731"/>
                </a:lnTo>
                <a:cubicBezTo>
                  <a:pt x="4907" y="6731"/>
                  <a:pt x="5068" y="6410"/>
                  <a:pt x="4907" y="6178"/>
                </a:cubicBezTo>
                <a:lnTo>
                  <a:pt x="3747" y="4644"/>
                </a:lnTo>
                <a:lnTo>
                  <a:pt x="4283" y="4644"/>
                </a:lnTo>
                <a:cubicBezTo>
                  <a:pt x="4568" y="4644"/>
                  <a:pt x="4729" y="4323"/>
                  <a:pt x="4550" y="4091"/>
                </a:cubicBezTo>
                <a:lnTo>
                  <a:pt x="3408" y="2556"/>
                </a:lnTo>
                <a:lnTo>
                  <a:pt x="3926" y="2556"/>
                </a:lnTo>
                <a:cubicBezTo>
                  <a:pt x="4211" y="2556"/>
                  <a:pt x="4372" y="2235"/>
                  <a:pt x="4211" y="2003"/>
                </a:cubicBezTo>
                <a:lnTo>
                  <a:pt x="2819" y="147"/>
                </a:lnTo>
                <a:cubicBezTo>
                  <a:pt x="2748" y="49"/>
                  <a:pt x="2641" y="0"/>
                  <a:pt x="25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54" name="Google Shape;1454;p63"/>
          <p:cNvGrpSpPr/>
          <p:nvPr/>
        </p:nvGrpSpPr>
        <p:grpSpPr>
          <a:xfrm rot="515396">
            <a:off x="7473076" y="789300"/>
            <a:ext cx="1026725" cy="757704"/>
            <a:chOff x="6409858" y="765723"/>
            <a:chExt cx="1553730" cy="1146624"/>
          </a:xfrm>
        </p:grpSpPr>
        <p:grpSp>
          <p:nvGrpSpPr>
            <p:cNvPr id="1455" name="Google Shape;1455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6" name="Google Shape;1456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8" name="Google Shape;1458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9" name="Google Shape;1459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50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6" name="Google Shape;1016;p50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Creating Boolean Expressions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7" name="Google Shape;1017;p50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Choosing a Loop Type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8" name="Google Shape;1018;p50"/>
          <p:cNvSpPr txBox="1">
            <a:spLocks noGrp="1"/>
          </p:cNvSpPr>
          <p:nvPr>
            <p:ph type="subTitle" idx="8"/>
          </p:nvPr>
        </p:nvSpPr>
        <p:spPr>
          <a:xfrm>
            <a:off x="6073422" y="3006475"/>
            <a:ext cx="2350553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9" name="Google Shape;1019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SKILLS</a:t>
            </a:r>
            <a:endParaRPr dirty="0"/>
          </a:p>
        </p:txBody>
      </p:sp>
      <p:sp>
        <p:nvSpPr>
          <p:cNvPr id="1022" name="Google Shape;1022;p50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Coding a Loop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23" name="Google Shape;1023;p50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grpSp>
        <p:nvGrpSpPr>
          <p:cNvPr id="1024" name="Google Shape;1024;p50"/>
          <p:cNvGrpSpPr/>
          <p:nvPr/>
        </p:nvGrpSpPr>
        <p:grpSpPr>
          <a:xfrm rot="-1523066">
            <a:off x="107751" y="828933"/>
            <a:ext cx="863325" cy="637118"/>
            <a:chOff x="6409858" y="765723"/>
            <a:chExt cx="1553730" cy="1146624"/>
          </a:xfrm>
        </p:grpSpPr>
        <p:grpSp>
          <p:nvGrpSpPr>
            <p:cNvPr id="1025" name="Google Shape;102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6" name="Google Shape;102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8" name="Google Shape;1028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9" name="Google Shape;1029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1" name="Google Shape;1031;p50"/>
          <p:cNvGrpSpPr/>
          <p:nvPr/>
        </p:nvGrpSpPr>
        <p:grpSpPr>
          <a:xfrm rot="221632">
            <a:off x="8102977" y="103945"/>
            <a:ext cx="926083" cy="683432"/>
            <a:chOff x="6409858" y="765723"/>
            <a:chExt cx="1553730" cy="1146624"/>
          </a:xfrm>
        </p:grpSpPr>
        <p:grpSp>
          <p:nvGrpSpPr>
            <p:cNvPr id="1032" name="Google Shape;1032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3" name="Google Shape;1033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5" name="Google Shape;103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6" name="Google Shape;103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ABC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4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3200" b="1" dirty="0"/>
              <a:t>The Details</a:t>
            </a:r>
            <a:endParaRPr sz="32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64559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The for Loop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573524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Loops 3:  The for Loop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139700" indent="0"/>
            <a:r>
              <a:rPr lang="nn-NO" sz="2600" b="1" dirty="0"/>
              <a:t>    int i;</a:t>
            </a:r>
          </a:p>
          <a:p>
            <a:pPr marL="139700" indent="0"/>
            <a:r>
              <a:rPr lang="nn-NO" sz="2600" b="1" dirty="0"/>
              <a:t>    for (i = 1; i &lt; 11; ++i)</a:t>
            </a:r>
          </a:p>
          <a:p>
            <a:pPr marL="139700" indent="0"/>
            <a:r>
              <a:rPr lang="nn-NO" sz="2600" b="1" dirty="0"/>
              <a:t>    {</a:t>
            </a:r>
          </a:p>
          <a:p>
            <a:pPr marL="139700" indent="0"/>
            <a:r>
              <a:rPr lang="nn-NO" sz="2600" b="1" dirty="0"/>
              <a:t>         System.out.println (i);</a:t>
            </a:r>
          </a:p>
          <a:p>
            <a:pPr marL="139700" indent="0"/>
            <a:r>
              <a:rPr lang="nn-NO" sz="2600" b="1" dirty="0"/>
              <a:t>    }</a:t>
            </a:r>
          </a:p>
          <a:p>
            <a:pPr marL="139700" indent="0"/>
            <a:endParaRPr lang="nn-NO" sz="26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nn-NO" sz="2600" b="1" dirty="0"/>
              <a:t>This will print 1, 2, 3, ..., 10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nn-NO" sz="2600" b="1" dirty="0"/>
              <a:t>The for loop is a counting loop</a:t>
            </a:r>
          </a:p>
        </p:txBody>
      </p:sp>
    </p:spTree>
    <p:extLst>
      <p:ext uri="{BB962C8B-B14F-4D97-AF65-F5344CB8AC3E}">
        <p14:creationId xmlns:p14="http://schemas.microsoft.com/office/powerpoint/2010/main" val="1210605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Anatomy of a for Loop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Let’s dissect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for (</a:t>
            </a:r>
            <a:r>
              <a:rPr lang="en-US" sz="2600" b="1" dirty="0" err="1"/>
              <a:t>i</a:t>
            </a:r>
            <a:r>
              <a:rPr lang="en-US" sz="2600" b="1" dirty="0"/>
              <a:t>=1;  </a:t>
            </a:r>
            <a:r>
              <a:rPr lang="en-US" sz="2600" b="1" dirty="0" err="1"/>
              <a:t>i</a:t>
            </a:r>
            <a:r>
              <a:rPr lang="en-US" sz="2600" b="1" dirty="0"/>
              <a:t>&lt;10;  ++</a:t>
            </a:r>
            <a:r>
              <a:rPr lang="en-US" sz="2600" b="1" dirty="0" err="1"/>
              <a:t>i</a:t>
            </a:r>
            <a:r>
              <a:rPr lang="en-US" sz="2600" b="1" dirty="0"/>
              <a:t>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 err="1"/>
              <a:t>i</a:t>
            </a:r>
            <a:r>
              <a:rPr lang="en-US" sz="2800" b="1" dirty="0"/>
              <a:t> = 1:  The initial value of </a:t>
            </a:r>
            <a:r>
              <a:rPr lang="en-US" sz="2800" b="1" dirty="0" err="1"/>
              <a:t>i</a:t>
            </a: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 err="1"/>
              <a:t>i</a:t>
            </a:r>
            <a:r>
              <a:rPr lang="en-US" sz="2800" b="1" dirty="0"/>
              <a:t> &lt; 10:  Continue looping as long as </a:t>
            </a:r>
            <a:r>
              <a:rPr lang="en-US" sz="2800" b="1" dirty="0" err="1"/>
              <a:t>i</a:t>
            </a:r>
            <a:r>
              <a:rPr lang="en-US" sz="2800" b="1" dirty="0"/>
              <a:t>&lt;10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Test each time before iterating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++</a:t>
            </a:r>
            <a:r>
              <a:rPr lang="en-US" sz="2800" b="1" dirty="0" err="1"/>
              <a:t>i</a:t>
            </a:r>
            <a:r>
              <a:rPr lang="en-US" sz="2800" b="1" dirty="0"/>
              <a:t>:  Do this on each iteration through the loop</a:t>
            </a:r>
          </a:p>
        </p:txBody>
      </p:sp>
    </p:spTree>
    <p:extLst>
      <p:ext uri="{BB962C8B-B14F-4D97-AF65-F5344CB8AC3E}">
        <p14:creationId xmlns:p14="http://schemas.microsoft.com/office/powerpoint/2010/main" val="29962196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 Common Variation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139700" indent="0"/>
            <a:r>
              <a:rPr lang="nn-NO" sz="2600" b="1" dirty="0"/>
              <a:t>    for (int i = 1; i &lt; 0; ++i)</a:t>
            </a:r>
          </a:p>
          <a:p>
            <a:pPr marL="139700" indent="0"/>
            <a:r>
              <a:rPr lang="nn-NO" sz="2600" b="1" dirty="0"/>
              <a:t>    {</a:t>
            </a:r>
          </a:p>
          <a:p>
            <a:pPr marL="139700" indent="0"/>
            <a:r>
              <a:rPr lang="nn-NO" sz="2600" b="1" dirty="0"/>
              <a:t>          System.out.println (i);</a:t>
            </a:r>
          </a:p>
          <a:p>
            <a:pPr marL="139700" indent="0"/>
            <a:r>
              <a:rPr lang="nn-NO" sz="2600" b="1" dirty="0"/>
              <a:t>    }</a:t>
            </a:r>
          </a:p>
          <a:p>
            <a:pPr marL="139700" indent="0"/>
            <a:endParaRPr lang="nn-NO" sz="26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nn-NO" sz="2600" b="1" dirty="0"/>
              <a:t>The variable i is declared right when used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nn-NO" sz="2600" b="1" dirty="0"/>
              <a:t>You cannot use the variable i after the loop ends</a:t>
            </a:r>
          </a:p>
        </p:txBody>
      </p:sp>
    </p:spTree>
    <p:extLst>
      <p:ext uri="{BB962C8B-B14F-4D97-AF65-F5344CB8AC3E}">
        <p14:creationId xmlns:p14="http://schemas.microsoft.com/office/powerpoint/2010/main" val="14605450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for Loop Is a Powerful Loop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for loop is a counting loop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count up or down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count by 2, 5, etc.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for statement is very powerful, and has several variations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Let’s look at one variation</a:t>
            </a:r>
          </a:p>
        </p:txBody>
      </p:sp>
    </p:spTree>
    <p:extLst>
      <p:ext uri="{BB962C8B-B14F-4D97-AF65-F5344CB8AC3E}">
        <p14:creationId xmlns:p14="http://schemas.microsoft.com/office/powerpoint/2010/main" val="2697060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One Variation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 is one variation of the for loop</a:t>
            </a:r>
          </a:p>
          <a:p>
            <a:pPr marL="139700" indent="0"/>
            <a:r>
              <a:rPr lang="en-US" sz="2600" b="1" dirty="0"/>
              <a:t>    for (int </a:t>
            </a:r>
            <a:r>
              <a:rPr lang="en-US" sz="2600" b="1" dirty="0" err="1"/>
              <a:t>i</a:t>
            </a:r>
            <a:r>
              <a:rPr lang="en-US" sz="2600" b="1" dirty="0"/>
              <a:t> = 10; </a:t>
            </a:r>
            <a:r>
              <a:rPr lang="en-US" sz="2600" b="1" dirty="0" err="1"/>
              <a:t>i</a:t>
            </a:r>
            <a:r>
              <a:rPr lang="en-US" sz="2600" b="1" dirty="0"/>
              <a:t> &gt; 0; --</a:t>
            </a:r>
            <a:r>
              <a:rPr lang="en-US" sz="2600" b="1" dirty="0" err="1"/>
              <a:t>i</a:t>
            </a:r>
            <a:r>
              <a:rPr lang="en-US" sz="2600" b="1" dirty="0"/>
              <a:t>)</a:t>
            </a:r>
          </a:p>
          <a:p>
            <a:pPr marL="139700" indent="0"/>
            <a:r>
              <a:rPr lang="en-US" sz="2600" b="1" dirty="0"/>
              <a:t>    {</a:t>
            </a:r>
          </a:p>
          <a:p>
            <a:pPr marL="139700" indent="0"/>
            <a:r>
              <a:rPr lang="en-US" sz="2600" b="1" dirty="0"/>
              <a:t>          </a:t>
            </a:r>
            <a:r>
              <a:rPr lang="en-US" sz="2600" b="1" dirty="0" err="1"/>
              <a:t>System.out.println</a:t>
            </a:r>
            <a:r>
              <a:rPr lang="en-US" sz="2600" b="1" dirty="0"/>
              <a:t> (</a:t>
            </a:r>
            <a:r>
              <a:rPr lang="en-US" sz="2600" b="1" dirty="0" err="1"/>
              <a:t>i</a:t>
            </a:r>
            <a:r>
              <a:rPr lang="en-US" sz="2600" b="1" dirty="0"/>
              <a:t>);</a:t>
            </a:r>
          </a:p>
          <a:p>
            <a:pPr marL="139700" indent="0"/>
            <a:r>
              <a:rPr lang="en-US" sz="2600" b="1" dirty="0"/>
              <a:t>    }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will print 10, 9, 8, …, 1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Now you see the power here</a:t>
            </a:r>
          </a:p>
        </p:txBody>
      </p:sp>
    </p:spTree>
    <p:extLst>
      <p:ext uri="{BB962C8B-B14F-4D97-AF65-F5344CB8AC3E}">
        <p14:creationId xmlns:p14="http://schemas.microsoft.com/office/powerpoint/2010/main" val="37195114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marL="139700"/>
            <a:r>
              <a:rPr lang="en-US" sz="3600" dirty="0"/>
              <a:t>A Bad Variation of the for Loop </a:t>
            </a:r>
            <a:endParaRPr lang="en-US" sz="3300" dirty="0"/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variations allow it to do several things instead of just counting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book explains these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One variation is the use of the comma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Don’t do it!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the book’s discussion on p. 226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Commas in for statements is one reason C got its bad reputation</a:t>
            </a:r>
          </a:p>
        </p:txBody>
      </p:sp>
    </p:spTree>
    <p:extLst>
      <p:ext uri="{BB962C8B-B14F-4D97-AF65-F5344CB8AC3E}">
        <p14:creationId xmlns:p14="http://schemas.microsoft.com/office/powerpoint/2010/main" val="1606002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Another Thing to Avoid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Another thing people do is to use break and continue in loops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There are other ways to accomplish each of these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They decrease readability by changing the program’s behavior inside a loop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Don’t use them!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the discussion on pages 238-240 </a:t>
            </a:r>
          </a:p>
        </p:txBody>
      </p:sp>
    </p:spTree>
    <p:extLst>
      <p:ext uri="{BB962C8B-B14F-4D97-AF65-F5344CB8AC3E}">
        <p14:creationId xmlns:p14="http://schemas.microsoft.com/office/powerpoint/2010/main" val="35914829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Assertion Statements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11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165084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Assertion Statements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232242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use assertion statements</a:t>
            </a:r>
          </a:p>
          <a:p>
            <a:pPr marL="139700" indent="0"/>
            <a:r>
              <a:rPr lang="en-US" sz="2600" b="1" dirty="0"/>
              <a:t>    assert x&gt;0; or</a:t>
            </a:r>
          </a:p>
          <a:p>
            <a:pPr marL="139700" indent="0"/>
            <a:r>
              <a:rPr lang="en-US" sz="2600" b="1" dirty="0"/>
              <a:t>    assert x&gt;0: ”Error.  x should be positive”;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 </a:t>
            </a:r>
            <a:r>
              <a:rPr lang="en-US" sz="2800" b="1" dirty="0"/>
              <a:t>An assertion will do nothing if true, and cause an </a:t>
            </a:r>
            <a:r>
              <a:rPr lang="en-US" sz="2800" b="1" dirty="0" err="1"/>
              <a:t>AssertionError</a:t>
            </a:r>
            <a:r>
              <a:rPr lang="en-US" sz="2800" b="1" dirty="0"/>
              <a:t> if false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To use an assert, assertions have to be enabled before compiling</a:t>
            </a:r>
          </a:p>
        </p:txBody>
      </p:sp>
    </p:spTree>
    <p:extLst>
      <p:ext uri="{BB962C8B-B14F-4D97-AF65-F5344CB8AC3E}">
        <p14:creationId xmlns:p14="http://schemas.microsoft.com/office/powerpoint/2010/main" val="800242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Data Validation Revisited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12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366314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Data Validation Again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As we already discussed, all data that comes from a user needs to be validated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loop is a good way to ensure that user-entered data is valid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can keep asking the user to enter data until a valid value is entered</a:t>
            </a:r>
          </a:p>
        </p:txBody>
      </p:sp>
    </p:spTree>
    <p:extLst>
      <p:ext uri="{BB962C8B-B14F-4D97-AF65-F5344CB8AC3E}">
        <p14:creationId xmlns:p14="http://schemas.microsoft.com/office/powerpoint/2010/main" val="9436013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587947" cy="590038"/>
          </a:xfrm>
        </p:spPr>
        <p:txBody>
          <a:bodyPr/>
          <a:lstStyle/>
          <a:p>
            <a:pPr algn="l"/>
            <a:r>
              <a:rPr lang="en-US" sz="3300" dirty="0"/>
              <a:t>A Loop to Validate Data-Initial Read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375575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the initial read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reads in an int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number should be a positive int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139700" indent="0"/>
            <a:r>
              <a:rPr lang="en-US" sz="2600" b="1" dirty="0"/>
              <a:t>    </a:t>
            </a:r>
            <a:r>
              <a:rPr lang="en-US" sz="2600" b="1" dirty="0" err="1"/>
              <a:t>System.out.print</a:t>
            </a:r>
            <a:r>
              <a:rPr lang="en-US" sz="2600" b="1" dirty="0"/>
              <a:t> ("Please enter an</a:t>
            </a:r>
          </a:p>
          <a:p>
            <a:pPr marL="139700" indent="0"/>
            <a:r>
              <a:rPr lang="en-US" sz="2600" b="1" dirty="0"/>
              <a:t>       integer no higher than " + LIMIT + " &gt; ");</a:t>
            </a:r>
          </a:p>
          <a:p>
            <a:pPr marL="139700" indent="0"/>
            <a:r>
              <a:rPr lang="en-US" sz="2600" b="1" dirty="0"/>
              <a:t>    </a:t>
            </a:r>
            <a:r>
              <a:rPr lang="en-US" sz="2600" b="1" dirty="0" err="1"/>
              <a:t>userEntry</a:t>
            </a:r>
            <a:r>
              <a:rPr lang="en-US" sz="2600" b="1" dirty="0"/>
              <a:t> = </a:t>
            </a:r>
            <a:r>
              <a:rPr lang="en-US" sz="2600" b="1" dirty="0" err="1"/>
              <a:t>input.nextInt</a:t>
            </a:r>
            <a:r>
              <a:rPr lang="en-US" sz="2600" b="1" dirty="0"/>
              <a:t> ();</a:t>
            </a:r>
          </a:p>
        </p:txBody>
      </p:sp>
    </p:spTree>
    <p:extLst>
      <p:ext uri="{BB962C8B-B14F-4D97-AF65-F5344CB8AC3E}">
        <p14:creationId xmlns:p14="http://schemas.microsoft.com/office/powerpoint/2010/main" val="24870215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587947" cy="590038"/>
          </a:xfrm>
        </p:spPr>
        <p:txBody>
          <a:bodyPr/>
          <a:lstStyle/>
          <a:p>
            <a:pPr algn="l"/>
            <a:r>
              <a:rPr lang="en-US" sz="3300" dirty="0"/>
              <a:t>A Loop to Validate Data-The Body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139700" indent="0"/>
            <a:r>
              <a:rPr lang="en-US" sz="2600" b="1" dirty="0"/>
              <a:t>while (</a:t>
            </a:r>
            <a:r>
              <a:rPr lang="en-US" sz="2600" b="1" dirty="0" err="1"/>
              <a:t>userEntry</a:t>
            </a:r>
            <a:r>
              <a:rPr lang="en-US" sz="2600" b="1" dirty="0"/>
              <a:t> &gt; LIMIT)</a:t>
            </a:r>
          </a:p>
          <a:p>
            <a:pPr marL="139700" indent="0"/>
            <a:r>
              <a:rPr lang="en-US" sz="2600" b="1" dirty="0"/>
              <a:t>{</a:t>
            </a:r>
          </a:p>
          <a:p>
            <a:pPr marL="139700" indent="0"/>
            <a:r>
              <a:rPr lang="en-US" sz="2600" b="1" dirty="0"/>
              <a:t>     </a:t>
            </a:r>
            <a:r>
              <a:rPr lang="en-US" sz="2600" b="1" dirty="0" err="1"/>
              <a:t>System.out.println</a:t>
            </a:r>
            <a:r>
              <a:rPr lang="en-US" sz="2600" b="1" dirty="0"/>
              <a:t> (</a:t>
            </a:r>
          </a:p>
          <a:p>
            <a:pPr marL="139700" indent="0"/>
            <a:r>
              <a:rPr lang="en-US" sz="2600" b="1" dirty="0"/>
              <a:t> "The number you entered was too high");</a:t>
            </a:r>
          </a:p>
          <a:p>
            <a:pPr marL="139700" indent="0"/>
            <a:r>
              <a:rPr lang="en-US" sz="2600" b="1" dirty="0"/>
              <a:t>     </a:t>
            </a:r>
            <a:r>
              <a:rPr lang="en-US" sz="2600" b="1" dirty="0" err="1"/>
              <a:t>System.out.print</a:t>
            </a:r>
            <a:r>
              <a:rPr lang="en-US" sz="2600" b="1" dirty="0"/>
              <a:t> (</a:t>
            </a:r>
          </a:p>
          <a:p>
            <a:pPr marL="139700" indent="0"/>
            <a:r>
              <a:rPr lang="en-US" sz="2600" b="1" dirty="0"/>
              <a:t>"Please enter an integer no higher than “</a:t>
            </a:r>
          </a:p>
          <a:p>
            <a:pPr marL="139700" indent="0"/>
            <a:r>
              <a:rPr lang="en-US" sz="2600" b="1" dirty="0"/>
              <a:t>                                                + LIMIT + " &gt; ");</a:t>
            </a:r>
          </a:p>
          <a:p>
            <a:pPr marL="139700" indent="0"/>
            <a:r>
              <a:rPr lang="en-US" sz="2600" b="1" dirty="0"/>
              <a:t>     </a:t>
            </a:r>
            <a:r>
              <a:rPr lang="en-US" sz="2600" b="1" dirty="0" err="1"/>
              <a:t>userEntry</a:t>
            </a:r>
            <a:r>
              <a:rPr lang="en-US" sz="2600" b="1" dirty="0"/>
              <a:t> = </a:t>
            </a:r>
            <a:r>
              <a:rPr lang="en-US" sz="2600" b="1" dirty="0" err="1"/>
              <a:t>input.nextInt</a:t>
            </a:r>
            <a:r>
              <a:rPr lang="en-US" sz="2600" b="1" dirty="0"/>
              <a:t> ();</a:t>
            </a:r>
          </a:p>
          <a:p>
            <a:pPr marL="139700" indent="0"/>
            <a:r>
              <a:rPr lang="en-US" sz="26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26665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Priming Reads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13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549129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Priming Reads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466722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priming read is a read that gets initial data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gets code ready for a loop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allows the loop to start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When using a priming read, there should be a looping read right before the end of the loop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It is usually a copy of the priming read</a:t>
            </a:r>
          </a:p>
        </p:txBody>
      </p:sp>
    </p:spTree>
    <p:extLst>
      <p:ext uri="{BB962C8B-B14F-4D97-AF65-F5344CB8AC3E}">
        <p14:creationId xmlns:p14="http://schemas.microsoft.com/office/powerpoint/2010/main" val="28919300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An Example of a Priming Read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474441" cy="3961646"/>
          </a:xfrm>
        </p:spPr>
        <p:txBody>
          <a:bodyPr/>
          <a:lstStyle/>
          <a:p>
            <a:pPr marL="139700" indent="0"/>
            <a:r>
              <a:rPr lang="en-US" sz="2600" b="1" dirty="0"/>
              <a:t>    int </a:t>
            </a:r>
            <a:r>
              <a:rPr lang="en-US" sz="2600" b="1" dirty="0" err="1"/>
              <a:t>totalItems</a:t>
            </a:r>
            <a:r>
              <a:rPr lang="en-US" sz="2600" b="1" dirty="0"/>
              <a:t> = 0;</a:t>
            </a:r>
          </a:p>
          <a:p>
            <a:pPr marL="139700" indent="0"/>
            <a:r>
              <a:rPr lang="en-US" sz="2600" b="1" dirty="0"/>
              <a:t>    </a:t>
            </a:r>
            <a:r>
              <a:rPr lang="en-US" sz="2600" b="1" dirty="0" err="1"/>
              <a:t>System.out.print</a:t>
            </a:r>
            <a:r>
              <a:rPr lang="en-US" sz="2600" b="1" dirty="0"/>
              <a:t> (</a:t>
            </a:r>
          </a:p>
          <a:p>
            <a:pPr marL="139700" indent="0"/>
            <a:r>
              <a:rPr lang="en-US" sz="2600" b="1" dirty="0"/>
              <a:t>         “Number of items sold this week:  “ +</a:t>
            </a:r>
          </a:p>
          <a:p>
            <a:pPr marL="139700" indent="0"/>
            <a:r>
              <a:rPr lang="en-US" sz="2600" b="1" dirty="0"/>
              <a:t>                                        “(Enter -1 to exit.)”);</a:t>
            </a:r>
          </a:p>
          <a:p>
            <a:pPr marL="139700" indent="0"/>
            <a:r>
              <a:rPr lang="en-US" sz="2600" b="1" dirty="0"/>
              <a:t>    int </a:t>
            </a:r>
            <a:r>
              <a:rPr lang="en-US" sz="2600" b="1" dirty="0" err="1"/>
              <a:t>numItems</a:t>
            </a:r>
            <a:r>
              <a:rPr lang="en-US" sz="2600" b="1" dirty="0"/>
              <a:t> = </a:t>
            </a:r>
            <a:r>
              <a:rPr lang="en-US" sz="2600" b="1" dirty="0" err="1"/>
              <a:t>keyboard.nextInt</a:t>
            </a:r>
            <a:r>
              <a:rPr lang="en-US" sz="2600" b="1" dirty="0"/>
              <a:t>();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This last line is the priming read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800" b="1" dirty="0"/>
              <a:t>It sets up </a:t>
            </a:r>
            <a:r>
              <a:rPr lang="en-US" sz="2800" b="1" dirty="0" err="1"/>
              <a:t>numItems</a:t>
            </a:r>
            <a:r>
              <a:rPr lang="en-US" sz="2800" b="1" dirty="0"/>
              <a:t> for the loop</a:t>
            </a:r>
          </a:p>
        </p:txBody>
      </p:sp>
    </p:spTree>
    <p:extLst>
      <p:ext uri="{BB962C8B-B14F-4D97-AF65-F5344CB8AC3E}">
        <p14:creationId xmlns:p14="http://schemas.microsoft.com/office/powerpoint/2010/main" val="32423545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Loop Itself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581503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while (</a:t>
            </a:r>
            <a:r>
              <a:rPr lang="en-US" sz="2600" b="1" dirty="0" err="1"/>
              <a:t>numItems</a:t>
            </a:r>
            <a:r>
              <a:rPr lang="en-US" sz="2600" b="1" dirty="0"/>
              <a:t> &gt;= 0)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{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      </a:t>
            </a:r>
            <a:r>
              <a:rPr lang="en-US" sz="2600" b="1" dirty="0" err="1"/>
              <a:t>totalItems</a:t>
            </a:r>
            <a:r>
              <a:rPr lang="en-US" sz="2600" b="1" dirty="0"/>
              <a:t> += </a:t>
            </a:r>
            <a:r>
              <a:rPr lang="en-US" sz="2600" b="1" dirty="0" err="1"/>
              <a:t>numItems</a:t>
            </a:r>
            <a:r>
              <a:rPr lang="en-US" sz="2600" b="1" dirty="0"/>
              <a:t>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      </a:t>
            </a:r>
            <a:r>
              <a:rPr lang="en-US" sz="2600" b="1" dirty="0" err="1"/>
              <a:t>System.out.print</a:t>
            </a:r>
            <a:r>
              <a:rPr lang="en-US" sz="2600" b="1" dirty="0"/>
              <a:t> (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        “Number of items sold this week:  “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                                      + “(Enter -1 to exit.”);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      </a:t>
            </a:r>
            <a:r>
              <a:rPr lang="en-US" sz="2600" b="1" dirty="0" err="1"/>
              <a:t>numItems</a:t>
            </a:r>
            <a:r>
              <a:rPr lang="en-US" sz="2600" b="1" dirty="0"/>
              <a:t> = </a:t>
            </a:r>
            <a:r>
              <a:rPr lang="en-US" sz="2600" b="1" dirty="0" err="1"/>
              <a:t>keyboard.nextInt</a:t>
            </a:r>
            <a:r>
              <a:rPr lang="en-US" sz="2600" b="1" dirty="0"/>
              <a:t>();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343646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Using a Priming Read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Again I caution you against using code from the internet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Much internet code tries to avoid using priming reads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Don’t do that!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If you use code from the internet, you will get a zero for that lab</a:t>
            </a:r>
          </a:p>
        </p:txBody>
      </p:sp>
    </p:spTree>
    <p:extLst>
      <p:ext uri="{BB962C8B-B14F-4D97-AF65-F5344CB8AC3E}">
        <p14:creationId xmlns:p14="http://schemas.microsoft.com/office/powerpoint/2010/main" val="28581544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Pre-Test and Post-Test Loops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14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8138662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Pre-test and Post-test Loops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post-test loop is a loop with the test at the end of the loop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This guarantees that the loop will run at least once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 do…while loop is a post-test loop</a:t>
            </a:r>
          </a:p>
        </p:txBody>
      </p:sp>
    </p:spTree>
    <p:extLst>
      <p:ext uri="{BB962C8B-B14F-4D97-AF65-F5344CB8AC3E}">
        <p14:creationId xmlns:p14="http://schemas.microsoft.com/office/powerpoint/2010/main" val="41143469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Pre-test and Post-test Loops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 pre-test loop is a loop with the test at the beginning of the loop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 pre-test loop </a:t>
            </a:r>
            <a:r>
              <a:rPr lang="en-US" sz="2600" b="1"/>
              <a:t>might act </a:t>
            </a:r>
            <a:r>
              <a:rPr lang="en-US" sz="2600" b="1" dirty="0"/>
              <a:t>like it was skipped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It might not even iterate one time!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Both for loops and while loops are pre-test loops</a:t>
            </a:r>
          </a:p>
        </p:txBody>
      </p:sp>
    </p:spTree>
    <p:extLst>
      <p:ext uri="{BB962C8B-B14F-4D97-AF65-F5344CB8AC3E}">
        <p14:creationId xmlns:p14="http://schemas.microsoft.com/office/powerpoint/2010/main" val="8563728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Improving Loop Performance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15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9061767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Improving Loop Importance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 a loop that iterates just a few times, saving time may not pay off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 a loop that iterates tens of thousands of times or more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Speed is a serious issue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Saving even a small amount of time in each iteration cause a noticeable speed-up</a:t>
            </a:r>
          </a:p>
        </p:txBody>
      </p:sp>
    </p:spTree>
    <p:extLst>
      <p:ext uri="{BB962C8B-B14F-4D97-AF65-F5344CB8AC3E}">
        <p14:creationId xmlns:p14="http://schemas.microsoft.com/office/powerpoint/2010/main" val="36672830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An Example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code would run faster if the line</a:t>
            </a:r>
          </a:p>
          <a:p>
            <a:pPr marL="139700" indent="0"/>
            <a:r>
              <a:rPr lang="en-US" sz="2600" b="1" dirty="0"/>
              <a:t>    int j=6;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were removed from the loop</a:t>
            </a:r>
          </a:p>
          <a:p>
            <a:pPr marL="139700" indent="0"/>
            <a:r>
              <a:rPr lang="en-US" sz="2600" b="1" dirty="0"/>
              <a:t>for (int </a:t>
            </a:r>
            <a:r>
              <a:rPr lang="en-US" sz="2600" b="1" dirty="0" err="1"/>
              <a:t>i</a:t>
            </a:r>
            <a:r>
              <a:rPr lang="en-US" sz="2600" b="1" dirty="0"/>
              <a:t>=0;  </a:t>
            </a:r>
            <a:r>
              <a:rPr lang="en-US" sz="2600" b="1" dirty="0" err="1"/>
              <a:t>i</a:t>
            </a:r>
            <a:r>
              <a:rPr lang="en-US" sz="2600" b="1" dirty="0"/>
              <a:t>&lt;10;  </a:t>
            </a:r>
            <a:r>
              <a:rPr lang="en-US" sz="2600" b="1" dirty="0" err="1"/>
              <a:t>i</a:t>
            </a:r>
            <a:r>
              <a:rPr lang="en-US" sz="2600" b="1" dirty="0"/>
              <a:t>++)</a:t>
            </a:r>
          </a:p>
          <a:p>
            <a:pPr marL="139700" indent="0"/>
            <a:r>
              <a:rPr lang="en-US" sz="2600" b="1" dirty="0"/>
              <a:t>    {</a:t>
            </a:r>
          </a:p>
          <a:p>
            <a:pPr marL="139700" indent="0"/>
            <a:r>
              <a:rPr lang="en-US" sz="2600" b="1" dirty="0"/>
              <a:t>         int j=6;</a:t>
            </a:r>
          </a:p>
          <a:p>
            <a:pPr marL="139700" indent="0"/>
            <a:r>
              <a:rPr lang="en-US" sz="2600" b="1" dirty="0"/>
              <a:t>         </a:t>
            </a:r>
            <a:r>
              <a:rPr lang="en-US" sz="2600" b="1" dirty="0" err="1"/>
              <a:t>System.out.println</a:t>
            </a:r>
            <a:r>
              <a:rPr lang="en-US" sz="2600" b="1" dirty="0"/>
              <a:t> (</a:t>
            </a:r>
            <a:r>
              <a:rPr lang="en-US" sz="2600" b="1" dirty="0" err="1"/>
              <a:t>i+j</a:t>
            </a:r>
            <a:r>
              <a:rPr lang="en-US" sz="2600" b="1" dirty="0"/>
              <a:t>);</a:t>
            </a:r>
          </a:p>
          <a:p>
            <a:pPr marL="139700" indent="0"/>
            <a:r>
              <a:rPr lang="en-US" sz="2600" b="1" dirty="0"/>
              <a:t>    }</a:t>
            </a:r>
          </a:p>
        </p:txBody>
      </p:sp>
    </p:spTree>
    <p:extLst>
      <p:ext uri="{BB962C8B-B14F-4D97-AF65-F5344CB8AC3E}">
        <p14:creationId xmlns:p14="http://schemas.microsoft.com/office/powerpoint/2010/main" val="191805700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An Empty Loop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a loop with an empty body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It’s possible to create this kind of loop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pages 224-225 for a discussion of empty loops</a:t>
            </a:r>
          </a:p>
        </p:txBody>
      </p:sp>
    </p:spTree>
    <p:extLst>
      <p:ext uri="{BB962C8B-B14F-4D97-AF65-F5344CB8AC3E}">
        <p14:creationId xmlns:p14="http://schemas.microsoft.com/office/powerpoint/2010/main" val="38800634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The Fizz-Buzz Game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16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8919025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What is the Fizz-Buzz Game?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a game that is used to teach kids multiplication and division facts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is also used as a programming task for a job interview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Since it has been used for a while, people are using other, similar tasks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It’s considered a basic program using a loop and some if statements</a:t>
            </a:r>
          </a:p>
        </p:txBody>
      </p:sp>
    </p:spTree>
    <p:extLst>
      <p:ext uri="{BB962C8B-B14F-4D97-AF65-F5344CB8AC3E}">
        <p14:creationId xmlns:p14="http://schemas.microsoft.com/office/powerpoint/2010/main" val="42633147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Rules of the Fizz-Buzz Game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One player goes first and says “1“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Players take turns, each player saying the next number:  2, 3, 4, …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However, any number divisible by three is replaced with the word “fizz”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And any number divisible by five is replaced with the word “buzz”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Numbers divisible by both become “fizz buzz”</a:t>
            </a:r>
          </a:p>
        </p:txBody>
      </p:sp>
    </p:spTree>
    <p:extLst>
      <p:ext uri="{BB962C8B-B14F-4D97-AF65-F5344CB8AC3E}">
        <p14:creationId xmlns:p14="http://schemas.microsoft.com/office/powerpoint/2010/main" val="167367940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 Brief Session of the Game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459516A-FC59-428A-9007-6D9A77BF62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600219"/>
              </p:ext>
            </p:extLst>
          </p:nvPr>
        </p:nvGraphicFramePr>
        <p:xfrm>
          <a:off x="2190356" y="1401178"/>
          <a:ext cx="4079067" cy="2230255"/>
        </p:xfrm>
        <a:graphic>
          <a:graphicData uri="http://schemas.openxmlformats.org/drawingml/2006/table">
            <a:tbl>
              <a:tblPr firstRow="1" bandRow="1">
                <a:tableStyleId>{2ABC2007-4194-44C9-A730-8082A69096D6}</a:tableStyleId>
              </a:tblPr>
              <a:tblGrid>
                <a:gridCol w="1359689">
                  <a:extLst>
                    <a:ext uri="{9D8B030D-6E8A-4147-A177-3AD203B41FA5}">
                      <a16:colId xmlns:a16="http://schemas.microsoft.com/office/drawing/2014/main" val="3920601100"/>
                    </a:ext>
                  </a:extLst>
                </a:gridCol>
                <a:gridCol w="1359689">
                  <a:extLst>
                    <a:ext uri="{9D8B030D-6E8A-4147-A177-3AD203B41FA5}">
                      <a16:colId xmlns:a16="http://schemas.microsoft.com/office/drawing/2014/main" val="2262794227"/>
                    </a:ext>
                  </a:extLst>
                </a:gridCol>
                <a:gridCol w="1359689">
                  <a:extLst>
                    <a:ext uri="{9D8B030D-6E8A-4147-A177-3AD203B41FA5}">
                      <a16:colId xmlns:a16="http://schemas.microsoft.com/office/drawing/2014/main" val="744005044"/>
                    </a:ext>
                  </a:extLst>
                </a:gridCol>
              </a:tblGrid>
              <a:tr h="446051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Fizz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2323965"/>
                  </a:ext>
                </a:extLst>
              </a:tr>
              <a:tr h="446051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Fizz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7512995"/>
                  </a:ext>
                </a:extLst>
              </a:tr>
              <a:tr h="446051">
                <a:tc>
                  <a:txBody>
                    <a:bodyPr/>
                    <a:lstStyle/>
                    <a:p>
                      <a:r>
                        <a:rPr lang="en-US" dirty="0"/>
                        <a:t>Fizz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5144991"/>
                  </a:ext>
                </a:extLst>
              </a:tr>
              <a:tr h="446051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Fizz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835426"/>
                  </a:ext>
                </a:extLst>
              </a:tr>
              <a:tr h="446051">
                <a:tc>
                  <a:txBody>
                    <a:bodyPr/>
                    <a:lstStyle/>
                    <a:p>
                      <a:r>
                        <a:rPr lang="en-US" dirty="0"/>
                        <a:t>Buzz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Buzz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Fizz Buzz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40616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775590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Following the Connection to Programming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In a programming job interview, you will usually have to write a program or program fragment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will also have to answer questions about programming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if you could program Fizz-Buzz (on your own)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58421683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2047" y="161283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z="3600" dirty="0"/>
              <a:t>Lab 7-A Program with a Loop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17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736248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Lab 7-A Program with a Loop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You have to create a program with a loop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Type in, compile, run, and submit Programming Assignment 7 as described on Canvas</a:t>
            </a:r>
          </a:p>
        </p:txBody>
      </p:sp>
    </p:spTree>
    <p:extLst>
      <p:ext uri="{BB962C8B-B14F-4D97-AF65-F5344CB8AC3E}">
        <p14:creationId xmlns:p14="http://schemas.microsoft.com/office/powerpoint/2010/main" val="298415523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Still More Details about the Lab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210246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These comments refer to all labs from now on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Each lab should have two classes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first class is the actual </a:t>
            </a:r>
            <a:r>
              <a:rPr lang="en-US" sz="2600" b="1"/>
              <a:t>class that </a:t>
            </a:r>
            <a:r>
              <a:rPr lang="en-US" sz="2600" b="1" dirty="0"/>
              <a:t>does what the </a:t>
            </a:r>
            <a:r>
              <a:rPr lang="en-US" sz="2600" b="1"/>
              <a:t>lab requires</a:t>
            </a:r>
            <a:endParaRPr lang="en-US" sz="2600" b="1" dirty="0"/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second class is the test class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second class’ purpose is only to test the first class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classes must be in separate files</a:t>
            </a:r>
          </a:p>
        </p:txBody>
      </p:sp>
    </p:spTree>
    <p:extLst>
      <p:ext uri="{BB962C8B-B14F-4D97-AF65-F5344CB8AC3E}">
        <p14:creationId xmlns:p14="http://schemas.microsoft.com/office/powerpoint/2010/main" val="416052399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Those Two Classes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For an example of the use of two classes, see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TwoClasses.java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TwoClassesTest.java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 err="1"/>
              <a:t>TwoClasses</a:t>
            </a:r>
            <a:r>
              <a:rPr lang="en-US" sz="2800" b="1" dirty="0"/>
              <a:t> is the actual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 err="1"/>
              <a:t>TwoClassesTest</a:t>
            </a:r>
            <a:r>
              <a:rPr lang="en-US" sz="2800" b="1" dirty="0"/>
              <a:t> is the test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Notice that only the test class has a main </a:t>
            </a:r>
            <a:r>
              <a:rPr lang="en-US" sz="2800" b="1"/>
              <a:t>() method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5494369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Ideas to Remember—As Always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Make sure you check the Class Coding Principles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Don’t break those rules!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Also, the rules of academic </a:t>
            </a:r>
            <a:r>
              <a:rPr lang="en-US" sz="2800" b="1"/>
              <a:t>honesty described </a:t>
            </a:r>
            <a:r>
              <a:rPr lang="en-US" sz="2800" b="1" dirty="0"/>
              <a:t>in </a:t>
            </a:r>
            <a:r>
              <a:rPr lang="en-US" sz="2800" b="1"/>
              <a:t>the syllabus apply</a:t>
            </a:r>
            <a:endParaRPr lang="en-US" sz="2800" b="1" dirty="0"/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What you submit must be completely your own work</a:t>
            </a:r>
          </a:p>
        </p:txBody>
      </p:sp>
    </p:spTree>
    <p:extLst>
      <p:ext uri="{BB962C8B-B14F-4D97-AF65-F5344CB8AC3E}">
        <p14:creationId xmlns:p14="http://schemas.microsoft.com/office/powerpoint/2010/main" val="34483710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6" name="Google Shape;2276;p75"/>
          <p:cNvGrpSpPr/>
          <p:nvPr/>
        </p:nvGrpSpPr>
        <p:grpSpPr>
          <a:xfrm rot="-266707">
            <a:off x="2893445" y="270003"/>
            <a:ext cx="4903570" cy="3351744"/>
            <a:chOff x="8224325" y="1877325"/>
            <a:chExt cx="449175" cy="307025"/>
          </a:xfrm>
        </p:grpSpPr>
        <p:sp>
          <p:nvSpPr>
            <p:cNvPr id="2277" name="Google Shape;2277;p75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8" name="Google Shape;2278;p75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rgbClr val="F6EFD3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9" name="Google Shape;2279;p75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rgbClr val="F6E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2280" name="Google Shape;2280;p7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2282" name="Google Shape;2282;p75"/>
          <p:cNvGrpSpPr/>
          <p:nvPr/>
        </p:nvGrpSpPr>
        <p:grpSpPr>
          <a:xfrm rot="-486145">
            <a:off x="6834911" y="655577"/>
            <a:ext cx="1228053" cy="906280"/>
            <a:chOff x="6409858" y="765723"/>
            <a:chExt cx="1553730" cy="1146624"/>
          </a:xfrm>
        </p:grpSpPr>
        <p:grpSp>
          <p:nvGrpSpPr>
            <p:cNvPr id="2283" name="Google Shape;2283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4" name="Google Shape;2284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6" name="Google Shape;2286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7" name="Google Shape;2287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>
                  <a:alpha val="636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89" name="Google Shape;2289;p75"/>
          <p:cNvSpPr/>
          <p:nvPr/>
        </p:nvSpPr>
        <p:spPr>
          <a:xfrm>
            <a:off x="2271901" y="4201127"/>
            <a:ext cx="407383" cy="407383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0" name="Google Shape;2290;p75"/>
          <p:cNvGrpSpPr/>
          <p:nvPr/>
        </p:nvGrpSpPr>
        <p:grpSpPr>
          <a:xfrm>
            <a:off x="2792442" y="4201065"/>
            <a:ext cx="407432" cy="407391"/>
            <a:chOff x="812101" y="2571761"/>
            <a:chExt cx="417066" cy="417024"/>
          </a:xfrm>
        </p:grpSpPr>
        <p:sp>
          <p:nvSpPr>
            <p:cNvPr id="2291" name="Google Shape;2291;p75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75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75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75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5" name="Google Shape;2295;p75"/>
          <p:cNvGrpSpPr/>
          <p:nvPr/>
        </p:nvGrpSpPr>
        <p:grpSpPr>
          <a:xfrm>
            <a:off x="3313036" y="4201065"/>
            <a:ext cx="407391" cy="407391"/>
            <a:chOff x="1323129" y="2571761"/>
            <a:chExt cx="417024" cy="417024"/>
          </a:xfrm>
        </p:grpSpPr>
        <p:sp>
          <p:nvSpPr>
            <p:cNvPr id="2296" name="Google Shape;2296;p75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75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75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75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0" name="Google Shape;2300;p75"/>
          <p:cNvSpPr/>
          <p:nvPr/>
        </p:nvSpPr>
        <p:spPr>
          <a:xfrm>
            <a:off x="3886539" y="4237878"/>
            <a:ext cx="409401" cy="33388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Great Outdoors Month by Slidesgo">
  <a:themeElements>
    <a:clrScheme name="Simple Light">
      <a:dk1>
        <a:srgbClr val="000000"/>
      </a:dk1>
      <a:lt1>
        <a:srgbClr val="04303A"/>
      </a:lt1>
      <a:dk2>
        <a:srgbClr val="648E71"/>
      </a:dk2>
      <a:lt2>
        <a:srgbClr val="AED080"/>
      </a:lt2>
      <a:accent1>
        <a:srgbClr val="F6EFD3"/>
      </a:accent1>
      <a:accent2>
        <a:srgbClr val="FABC6E"/>
      </a:accent2>
      <a:accent3>
        <a:srgbClr val="EF7963"/>
      </a:accent3>
      <a:accent4>
        <a:srgbClr val="662C26"/>
      </a:accent4>
      <a:accent5>
        <a:srgbClr val="B6DFE7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1698</TotalTime>
  <Words>1474</Words>
  <Application>Microsoft Office PowerPoint</Application>
  <PresentationFormat>On-screen Show (16:9)</PresentationFormat>
  <Paragraphs>236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Bebas Neue</vt:lpstr>
      <vt:lpstr>Kalam</vt:lpstr>
      <vt:lpstr>Special Elite</vt:lpstr>
      <vt:lpstr>US Great Outdoors Month by Slidesgo</vt:lpstr>
      <vt:lpstr>Introduction to Object-Oriented Programming: Java</vt:lpstr>
      <vt:lpstr>Chapter 4</vt:lpstr>
      <vt:lpstr>Vocabulary, Concepts, and  Skills</vt:lpstr>
      <vt:lpstr>VOCABULARY</vt:lpstr>
      <vt:lpstr>CONCEPTS</vt:lpstr>
      <vt:lpstr>SKILLS</vt:lpstr>
      <vt:lpstr>Chapter 4</vt:lpstr>
      <vt:lpstr>The for Loop</vt:lpstr>
      <vt:lpstr>Loops 3:  The for Loop</vt:lpstr>
      <vt:lpstr>The Anatomy of a for Loop</vt:lpstr>
      <vt:lpstr>A Common Variation</vt:lpstr>
      <vt:lpstr>The for Loop Is a Powerful Loop</vt:lpstr>
      <vt:lpstr>One Variation</vt:lpstr>
      <vt:lpstr>A Bad Variation of the for Loop </vt:lpstr>
      <vt:lpstr>Another Thing to Avoid</vt:lpstr>
      <vt:lpstr>Assertion Statements</vt:lpstr>
      <vt:lpstr>Assertion Statements</vt:lpstr>
      <vt:lpstr>Data Validation Revisited</vt:lpstr>
      <vt:lpstr>Data Validation Again</vt:lpstr>
      <vt:lpstr>A Loop to Validate Data-Initial Read</vt:lpstr>
      <vt:lpstr>A Loop to Validate Data-The Body</vt:lpstr>
      <vt:lpstr>Priming Reads</vt:lpstr>
      <vt:lpstr>Priming Reads</vt:lpstr>
      <vt:lpstr>An Example of a Priming Read</vt:lpstr>
      <vt:lpstr>The Loop Itself</vt:lpstr>
      <vt:lpstr>Using a Priming Read</vt:lpstr>
      <vt:lpstr>Pre-Test and Post-Test Loops</vt:lpstr>
      <vt:lpstr>Pre-test and Post-test Loops</vt:lpstr>
      <vt:lpstr>Pre-test and Post-test Loops</vt:lpstr>
      <vt:lpstr>Improving Loop Performance</vt:lpstr>
      <vt:lpstr>Improving Loop Importance</vt:lpstr>
      <vt:lpstr>An Example</vt:lpstr>
      <vt:lpstr>An Empty Loop</vt:lpstr>
      <vt:lpstr>The Fizz-Buzz Game</vt:lpstr>
      <vt:lpstr>What is the Fizz-Buzz Game?</vt:lpstr>
      <vt:lpstr>The Rules of the Fizz-Buzz Game</vt:lpstr>
      <vt:lpstr>A Brief Session of the Game</vt:lpstr>
      <vt:lpstr>Following the Connection to Programming</vt:lpstr>
      <vt:lpstr>Lab 7-A Program with a Loop</vt:lpstr>
      <vt:lpstr>Lab 7-A Program with a Loop</vt:lpstr>
      <vt:lpstr>Still More Details about the Lab</vt:lpstr>
      <vt:lpstr>Those Two Classes</vt:lpstr>
      <vt:lpstr>Ideas to Remember—As Always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GREAT OUTDOORS MONTH</dc:title>
  <dc:creator>James Hoffman</dc:creator>
  <cp:lastModifiedBy>Hoffman, James</cp:lastModifiedBy>
  <cp:revision>117</cp:revision>
  <cp:lastPrinted>2022-06-21T15:58:31Z</cp:lastPrinted>
  <dcterms:modified xsi:type="dcterms:W3CDTF">2024-08-21T15:06:16Z</dcterms:modified>
</cp:coreProperties>
</file>