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82"/>
  </p:notesMasterIdLst>
  <p:sldIdLst>
    <p:sldId id="256" r:id="rId2"/>
    <p:sldId id="381" r:id="rId3"/>
    <p:sldId id="282" r:id="rId4"/>
    <p:sldId id="257" r:id="rId5"/>
    <p:sldId id="512" r:id="rId6"/>
    <p:sldId id="278" r:id="rId7"/>
    <p:sldId id="291" r:id="rId8"/>
    <p:sldId id="396" r:id="rId9"/>
    <p:sldId id="394" r:id="rId10"/>
    <p:sldId id="497" r:id="rId11"/>
    <p:sldId id="560" r:id="rId12"/>
    <p:sldId id="514" r:id="rId13"/>
    <p:sldId id="513" r:id="rId14"/>
    <p:sldId id="561" r:id="rId15"/>
    <p:sldId id="515" r:id="rId16"/>
    <p:sldId id="516" r:id="rId17"/>
    <p:sldId id="517" r:id="rId18"/>
    <p:sldId id="518" r:id="rId19"/>
    <p:sldId id="519" r:id="rId20"/>
    <p:sldId id="574" r:id="rId21"/>
    <p:sldId id="520" r:id="rId22"/>
    <p:sldId id="562" r:id="rId23"/>
    <p:sldId id="521" r:id="rId24"/>
    <p:sldId id="575" r:id="rId25"/>
    <p:sldId id="522" r:id="rId26"/>
    <p:sldId id="523" r:id="rId27"/>
    <p:sldId id="576" r:id="rId28"/>
    <p:sldId id="558" r:id="rId29"/>
    <p:sldId id="563" r:id="rId30"/>
    <p:sldId id="524" r:id="rId31"/>
    <p:sldId id="525" r:id="rId32"/>
    <p:sldId id="559" r:id="rId33"/>
    <p:sldId id="526" r:id="rId34"/>
    <p:sldId id="577" r:id="rId35"/>
    <p:sldId id="528" r:id="rId36"/>
    <p:sldId id="529" r:id="rId37"/>
    <p:sldId id="564" r:id="rId38"/>
    <p:sldId id="527" r:id="rId39"/>
    <p:sldId id="565" r:id="rId40"/>
    <p:sldId id="530" r:id="rId41"/>
    <p:sldId id="531" r:id="rId42"/>
    <p:sldId id="581" r:id="rId43"/>
    <p:sldId id="499" r:id="rId44"/>
    <p:sldId id="500" r:id="rId45"/>
    <p:sldId id="566" r:id="rId46"/>
    <p:sldId id="532" r:id="rId47"/>
    <p:sldId id="567" r:id="rId48"/>
    <p:sldId id="533" r:id="rId49"/>
    <p:sldId id="578" r:id="rId50"/>
    <p:sldId id="534" r:id="rId51"/>
    <p:sldId id="535" r:id="rId52"/>
    <p:sldId id="568" r:id="rId53"/>
    <p:sldId id="536" r:id="rId54"/>
    <p:sldId id="537" r:id="rId55"/>
    <p:sldId id="538" r:id="rId56"/>
    <p:sldId id="539" r:id="rId57"/>
    <p:sldId id="540" r:id="rId58"/>
    <p:sldId id="569" r:id="rId59"/>
    <p:sldId id="541" r:id="rId60"/>
    <p:sldId id="542" r:id="rId61"/>
    <p:sldId id="570" r:id="rId62"/>
    <p:sldId id="543" r:id="rId63"/>
    <p:sldId id="571" r:id="rId64"/>
    <p:sldId id="544" r:id="rId65"/>
    <p:sldId id="572" r:id="rId66"/>
    <p:sldId id="545" r:id="rId67"/>
    <p:sldId id="546" r:id="rId68"/>
    <p:sldId id="547" r:id="rId69"/>
    <p:sldId id="548" r:id="rId70"/>
    <p:sldId id="549" r:id="rId71"/>
    <p:sldId id="550" r:id="rId72"/>
    <p:sldId id="551" r:id="rId73"/>
    <p:sldId id="573" r:id="rId74"/>
    <p:sldId id="552" r:id="rId75"/>
    <p:sldId id="553" r:id="rId76"/>
    <p:sldId id="554" r:id="rId77"/>
    <p:sldId id="555" r:id="rId78"/>
    <p:sldId id="579" r:id="rId79"/>
    <p:sldId id="580" r:id="rId80"/>
    <p:sldId id="290" r:id="rId81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78"/>
      </p:cViewPr>
      <p:guideLst/>
    </p:cSldViewPr>
  </p:slideViewPr>
  <p:outlineViewPr>
    <p:cViewPr>
      <p:scale>
        <a:sx n="33" d="100"/>
        <a:sy n="33" d="100"/>
      </p:scale>
      <p:origin x="0" y="-365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864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086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38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503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43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540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816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82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997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8946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350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1018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552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893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343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1619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7757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396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3435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2681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8494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871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87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8127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1763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876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9413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0433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29711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2733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6775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3397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0274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864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5691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4056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1122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8498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8035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910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37289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0378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746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5048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50905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866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5373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7770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1692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45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6467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8027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90598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798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27827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52071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5139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44868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7792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9970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01713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81104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17289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25097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45295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46725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5016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08009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60897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86637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3600" dirty="0"/>
              <a:t>Introduction to Object-Oriented Programming: Java</a:t>
            </a:r>
            <a:endParaRPr sz="36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8800" dirty="0"/>
              <a:t>Chapter 8</a:t>
            </a:r>
            <a:endParaRPr sz="8800"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190044" y="2884950"/>
            <a:ext cx="496836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2800" b="1" dirty="0"/>
              <a:t>Inheritance, Polymorphism, and Interfaces</a:t>
            </a:r>
            <a:endParaRPr sz="28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000" dirty="0"/>
              <a:t>Vocabulary, Concepts, and  Skills</a:t>
            </a:r>
            <a:endParaRPr sz="30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72850"/>
              </p:ext>
            </p:extLst>
          </p:nvPr>
        </p:nvGraphicFramePr>
        <p:xfrm>
          <a:off x="720000" y="1631494"/>
          <a:ext cx="7437014" cy="222504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15680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280214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Inheritance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Overriding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Superclass, base class, parent class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Polymorphism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Subclass, derived class, child class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Dynamic binding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Redundancy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Interfaces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“is a” relationship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Implementing an Interface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Protected 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703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5143192" y="3300779"/>
            <a:ext cx="2767526" cy="8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Calling a method from a parent class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478236" y="1604444"/>
            <a:ext cx="2680854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 derived class inherits methods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1746351" y="3368648"/>
            <a:ext cx="2276011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Extending a base class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6" name="Google Shape;1443;p63">
            <a:extLst>
              <a:ext uri="{FF2B5EF4-FFF2-40B4-BE49-F238E27FC236}">
                <a16:creationId xmlns:a16="http://schemas.microsoft.com/office/drawing/2014/main" id="{5E9DA5D1-9388-4855-86F1-E2335B68483A}"/>
              </a:ext>
            </a:extLst>
          </p:cNvPr>
          <p:cNvSpPr txBox="1"/>
          <p:nvPr/>
        </p:nvSpPr>
        <p:spPr>
          <a:xfrm>
            <a:off x="5433350" y="1604444"/>
            <a:ext cx="220601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Using super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468568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Use of constructors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561339" y="162388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object </a:t>
            </a: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Object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522134" y="3298996"/>
            <a:ext cx="2619022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 class knows how it’s supposed to act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39356" y="3005789"/>
            <a:ext cx="2250600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Writing a 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toString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 method</a:t>
            </a: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Writing an equals method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Implementing an interface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a base class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6073422" y="1275888"/>
            <a:ext cx="2228884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a derived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8800" dirty="0"/>
              <a:t>Chapter 8</a:t>
            </a:r>
            <a:endParaRPr sz="8800"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800" b="1" dirty="0"/>
              <a:t>The Details</a:t>
            </a:r>
            <a:endParaRPr sz="28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Classes Based on Other Classes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Inheritance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key idea of object-oriented  programming is inheritance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that if you want to base one class on another, you can do that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uses the example of the people you would find at a fictitious college</a:t>
            </a:r>
          </a:p>
        </p:txBody>
      </p:sp>
    </p:spTree>
    <p:extLst>
      <p:ext uri="{BB962C8B-B14F-4D97-AF65-F5344CB8AC3E}">
        <p14:creationId xmlns:p14="http://schemas.microsoft.com/office/powerpoint/2010/main" val="222970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The Hierarchy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6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Sample Class Hierarchy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good example because it shows the connections between the people at a fictitious college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 p. 588 there is a picture of the hierarchy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hierarchy also appears on the next slide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47412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Hierarchy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Actual Hierarchy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200" b="1" dirty="0"/>
              <a:t>Person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Student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Undergraduate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Graduate</a:t>
            </a:r>
          </a:p>
          <a:p>
            <a:pPr marL="2425700" lvl="4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Masters</a:t>
            </a:r>
          </a:p>
          <a:p>
            <a:pPr marL="2425700" lvl="4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Doctorate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Non-degree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Employee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Faculty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100" b="1" dirty="0"/>
              <a:t>Staff</a:t>
            </a:r>
          </a:p>
        </p:txBody>
      </p:sp>
    </p:spTree>
    <p:extLst>
      <p:ext uri="{BB962C8B-B14F-4D97-AF65-F5344CB8AC3E}">
        <p14:creationId xmlns:p14="http://schemas.microsoft.com/office/powerpoint/2010/main" val="10971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Creating a Base Class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55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Person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Everyone at the college is a person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In computer terms, this means the Person class is the base of all other classes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We will create the Person class first</a:t>
            </a:r>
          </a:p>
        </p:txBody>
      </p:sp>
    </p:spTree>
    <p:extLst>
      <p:ext uri="{BB962C8B-B14F-4D97-AF65-F5344CB8AC3E}">
        <p14:creationId xmlns:p14="http://schemas.microsoft.com/office/powerpoint/2010/main" val="2378186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Designing the Person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960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class is for every person at the college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It’s not specific to any one group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Anything we create here has to be for all groups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We decide that we need one instance variable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Every person has a name, regardless of which class they are 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43276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38574" cy="590038"/>
          </a:xfrm>
        </p:spPr>
        <p:txBody>
          <a:bodyPr/>
          <a:lstStyle/>
          <a:p>
            <a:pPr algn="l"/>
            <a:r>
              <a:rPr lang="en-US" sz="3600" dirty="0"/>
              <a:t>Actually Creating the Person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So, we create the instance variable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Using the same thinking we create methods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setName</a:t>
            </a:r>
            <a:r>
              <a:rPr lang="en-US" sz="2600" b="1" dirty="0"/>
              <a:t>, </a:t>
            </a:r>
            <a:r>
              <a:rPr lang="en-US" sz="2600" b="1" dirty="0" err="1"/>
              <a:t>getName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writeOutput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hasSameName</a:t>
            </a:r>
            <a:r>
              <a:rPr lang="en-US" sz="2600" b="1" dirty="0"/>
              <a:t>  (case-insensitive compare)</a:t>
            </a:r>
          </a:p>
        </p:txBody>
      </p:sp>
    </p:spTree>
    <p:extLst>
      <p:ext uri="{BB962C8B-B14F-4D97-AF65-F5344CB8AC3E}">
        <p14:creationId xmlns:p14="http://schemas.microsoft.com/office/powerpoint/2010/main" val="93735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Constructors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decide to create two constructors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will have no parameters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lets us create a Person without specifying anything else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One creates a “regular” Person object</a:t>
            </a:r>
          </a:p>
        </p:txBody>
      </p:sp>
    </p:spTree>
    <p:extLst>
      <p:ext uri="{BB962C8B-B14F-4D97-AF65-F5344CB8AC3E}">
        <p14:creationId xmlns:p14="http://schemas.microsoft.com/office/powerpoint/2010/main" val="33548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Reviewing the Person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look at the Person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will be the class the other classes will be based on</a:t>
            </a:r>
          </a:p>
        </p:txBody>
      </p:sp>
    </p:spTree>
    <p:extLst>
      <p:ext uri="{BB962C8B-B14F-4D97-AF65-F5344CB8AC3E}">
        <p14:creationId xmlns:p14="http://schemas.microsoft.com/office/powerpoint/2010/main" val="2792542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Person class is called a superclass, base class, or a parent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one class is based on another, we call it a subclass or derived class or a child class</a:t>
            </a:r>
          </a:p>
        </p:txBody>
      </p:sp>
    </p:spTree>
    <p:extLst>
      <p:ext uri="{BB962C8B-B14F-4D97-AF65-F5344CB8AC3E}">
        <p14:creationId xmlns:p14="http://schemas.microsoft.com/office/powerpoint/2010/main" val="916828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Student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09285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First of all, a student is a person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Therefore, we derive the Student class from the Person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that we have to say it’s based on the Person class</a:t>
            </a:r>
          </a:p>
          <a:p>
            <a:pPr marL="596900" lvl="1" indent="0" algn="l"/>
            <a:r>
              <a:rPr lang="en-US" sz="2600" b="1" dirty="0"/>
              <a:t>      public class Student extends</a:t>
            </a:r>
          </a:p>
          <a:p>
            <a:pPr marL="596900" lvl="1" indent="0" algn="l"/>
            <a:r>
              <a:rPr lang="en-US" sz="2600" b="1" dirty="0"/>
              <a:t>                                            Person</a:t>
            </a:r>
          </a:p>
        </p:txBody>
      </p:sp>
    </p:spTree>
    <p:extLst>
      <p:ext uri="{BB962C8B-B14F-4D97-AF65-F5344CB8AC3E}">
        <p14:creationId xmlns:p14="http://schemas.microsoft.com/office/powerpoint/2010/main" val="4981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Creating a Derived Class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81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“extends Person”?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“extends Person” means that the Student class is based on the Person class</a:t>
            </a:r>
          </a:p>
        </p:txBody>
      </p:sp>
    </p:spTree>
    <p:extLst>
      <p:ext uri="{BB962C8B-B14F-4D97-AF65-F5344CB8AC3E}">
        <p14:creationId xmlns:p14="http://schemas.microsoft.com/office/powerpoint/2010/main" val="1107710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Sharing Things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that the Student class inherits all public variables and methods automatically from the Person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don’t need to instantiate the Person class to derive another class from it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076923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Designing the Student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do we need to know about a student, regardless of the type of student they are?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student has a student ID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816172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Student Class Itself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 will be our instance variable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studentNumber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25971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Methods for The Student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create these methods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reset (Changes name and </a:t>
            </a:r>
            <a:r>
              <a:rPr lang="en-US" sz="2600" b="1" dirty="0" err="1"/>
              <a:t>studentNumber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getStudentNumber</a:t>
            </a:r>
            <a:r>
              <a:rPr lang="en-US" sz="2600" b="1" dirty="0"/>
              <a:t>, </a:t>
            </a:r>
            <a:r>
              <a:rPr lang="en-US" sz="2600" b="1" dirty="0" err="1"/>
              <a:t>setStudentNumber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writeOutput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equals</a:t>
            </a:r>
          </a:p>
        </p:txBody>
      </p:sp>
    </p:spTree>
    <p:extLst>
      <p:ext uri="{BB962C8B-B14F-4D97-AF65-F5344CB8AC3E}">
        <p14:creationId xmlns:p14="http://schemas.microsoft.com/office/powerpoint/2010/main" val="1763596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78326" cy="590038"/>
          </a:xfrm>
        </p:spPr>
        <p:txBody>
          <a:bodyPr/>
          <a:lstStyle/>
          <a:p>
            <a:pPr algn="l"/>
            <a:r>
              <a:rPr lang="en-US" sz="3600" dirty="0"/>
              <a:t>Constructors for the Student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we decide to create two constructors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the similarities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the use of super()</a:t>
            </a:r>
          </a:p>
        </p:txBody>
      </p:sp>
    </p:spTree>
    <p:extLst>
      <p:ext uri="{BB962C8B-B14F-4D97-AF65-F5344CB8AC3E}">
        <p14:creationId xmlns:p14="http://schemas.microsoft.com/office/powerpoint/2010/main" val="1169207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Inheritance—Just Another Trick?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296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5" y="445025"/>
            <a:ext cx="6885199" cy="590038"/>
          </a:xfrm>
        </p:spPr>
        <p:txBody>
          <a:bodyPr/>
          <a:lstStyle/>
          <a:p>
            <a:pPr algn="l"/>
            <a:r>
              <a:rPr lang="en-US" dirty="0"/>
              <a:t>What’s So Good About Inheritance?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Is This Really Any Big Deal?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Why can’t I just instantiate both of these classes?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 instantiate a Student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 instantiate a Person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 just manage both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And that is exactly the problem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250900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Recipe for Disaster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  <a:tabLst>
                <a:tab pos="857250" algn="l"/>
              </a:tabLst>
            </a:pPr>
            <a:r>
              <a:rPr lang="en-US" sz="2800" b="1" dirty="0"/>
              <a:t>A Recipe for Disaster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like that phrase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It means a planned disaster  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Here, two different objects refer to the same thing</a:t>
            </a:r>
          </a:p>
        </p:txBody>
      </p:sp>
    </p:spTree>
    <p:extLst>
      <p:ext uri="{BB962C8B-B14F-4D97-AF65-F5344CB8AC3E}">
        <p14:creationId xmlns:p14="http://schemas.microsoft.com/office/powerpoint/2010/main" val="1845941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Two Copies of the Same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always has potential problems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a change to one of them occurs, you have to remember to update the other one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too easy to forget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databases, that’s called redundancy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work hard to avoid it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932972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Reviewing that 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3571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Person is the base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Or superclass, parent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Student is the derived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Or subclass, child class</a:t>
            </a:r>
          </a:p>
        </p:txBody>
      </p:sp>
    </p:spTree>
    <p:extLst>
      <p:ext uri="{BB962C8B-B14F-4D97-AF65-F5344CB8AC3E}">
        <p14:creationId xmlns:p14="http://schemas.microsoft.com/office/powerpoint/2010/main" val="2008099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3571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also say that the derived class inherits things from the base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Check the other eight possibilities 😀</a:t>
            </a:r>
          </a:p>
        </p:txBody>
      </p:sp>
    </p:spTree>
    <p:extLst>
      <p:ext uri="{BB962C8B-B14F-4D97-AF65-F5344CB8AC3E}">
        <p14:creationId xmlns:p14="http://schemas.microsoft.com/office/powerpoint/2010/main" val="1463475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Instantiating a Student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public class </a:t>
            </a:r>
            <a:r>
              <a:rPr lang="en-US" sz="2400" b="1" dirty="0" err="1"/>
              <a:t>InheritanceDemo</a:t>
            </a:r>
            <a:endParaRPr lang="en-US" sz="2400" b="1" dirty="0"/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{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public static void main (String[] </a:t>
            </a:r>
            <a:r>
              <a:rPr lang="en-US" sz="2400" b="1" dirty="0" err="1"/>
              <a:t>args</a:t>
            </a:r>
            <a:r>
              <a:rPr lang="en-US" sz="2400" b="1" dirty="0"/>
              <a:t>)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{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     Student s = new Student ();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     </a:t>
            </a:r>
            <a:r>
              <a:rPr lang="en-US" sz="2400" b="1" dirty="0" err="1"/>
              <a:t>s.setName</a:t>
            </a:r>
            <a:r>
              <a:rPr lang="en-US" sz="2400" b="1" dirty="0"/>
              <a:t> ("Warren Peace");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     </a:t>
            </a:r>
            <a:r>
              <a:rPr lang="en-US" sz="2400" b="1" dirty="0" err="1"/>
              <a:t>s.setStudentNumber</a:t>
            </a:r>
            <a:r>
              <a:rPr lang="en-US" sz="2400" b="1" dirty="0"/>
              <a:t> (1234);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     </a:t>
            </a:r>
            <a:r>
              <a:rPr lang="en-US" sz="2400" b="1" dirty="0" err="1"/>
              <a:t>s.writeOutput</a:t>
            </a:r>
            <a:r>
              <a:rPr lang="en-US" sz="2400" b="1" dirty="0"/>
              <a:t> ();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     }</a:t>
            </a:r>
          </a:p>
          <a:p>
            <a:pPr marL="596900" indent="-457200">
              <a:buFont typeface="+mj-lt"/>
              <a:buAutoNum type="arabicPeriod"/>
            </a:pPr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3802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Checking that Code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2681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Line 5 instantiated a student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Line 7 called the </a:t>
            </a:r>
            <a:r>
              <a:rPr lang="en-US" sz="2800" b="1" dirty="0" err="1"/>
              <a:t>setStudentNumber</a:t>
            </a:r>
            <a:r>
              <a:rPr lang="en-US" sz="2800" b="1" dirty="0"/>
              <a:t> method from the Student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Student class has no </a:t>
            </a:r>
            <a:r>
              <a:rPr lang="en-US" sz="2600" b="1" dirty="0" err="1"/>
              <a:t>setName</a:t>
            </a:r>
            <a:r>
              <a:rPr lang="en-US" sz="2600" b="1" dirty="0"/>
              <a:t>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does Line 8 even work?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Both Person and Student have methods called </a:t>
            </a:r>
            <a:r>
              <a:rPr lang="en-US" sz="2600" b="1" dirty="0" err="1"/>
              <a:t>writeOutput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Which one got called?</a:t>
            </a:r>
          </a:p>
        </p:txBody>
      </p:sp>
    </p:spTree>
    <p:extLst>
      <p:ext uri="{BB962C8B-B14F-4D97-AF65-F5344CB8AC3E}">
        <p14:creationId xmlns:p14="http://schemas.microsoft.com/office/powerpoint/2010/main" val="2512640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The is-a Relationship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23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usually say that there is an “is a” relationship between a base class and a derived class, as 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139700" indent="0" algn="ctr"/>
            <a:r>
              <a:rPr lang="en-US" sz="2800" b="1" dirty="0"/>
              <a:t>A student is a person</a:t>
            </a:r>
          </a:p>
        </p:txBody>
      </p:sp>
    </p:spTree>
    <p:extLst>
      <p:ext uri="{BB962C8B-B14F-4D97-AF65-F5344CB8AC3E}">
        <p14:creationId xmlns:p14="http://schemas.microsoft.com/office/powerpoint/2010/main" val="2503848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Overriding a Parent’s Method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3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Overriding a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44525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Both classes have </a:t>
            </a:r>
            <a:r>
              <a:rPr lang="en-US" sz="2800" b="1" dirty="0" err="1"/>
              <a:t>writeOutput</a:t>
            </a:r>
            <a:r>
              <a:rPr lang="en-US" sz="2800" b="1" dirty="0"/>
              <a:t>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say that the second </a:t>
            </a:r>
            <a:r>
              <a:rPr lang="en-US" sz="2800" b="1" dirty="0" err="1"/>
              <a:t>writeOutput</a:t>
            </a:r>
            <a:r>
              <a:rPr lang="en-US" sz="2800" b="1" dirty="0"/>
              <a:t> method overrides the first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method overrides another if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signatures are the same,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return types are the same</a:t>
            </a:r>
          </a:p>
        </p:txBody>
      </p:sp>
    </p:spTree>
    <p:extLst>
      <p:ext uri="{BB962C8B-B14F-4D97-AF65-F5344CB8AC3E}">
        <p14:creationId xmlns:p14="http://schemas.microsoft.com/office/powerpoint/2010/main" val="779877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on Overriding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60853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override a method in a parent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call an overridden method, use</a:t>
            </a:r>
          </a:p>
          <a:p>
            <a:pPr marL="596900" lvl="1" indent="0" algn="l"/>
            <a:r>
              <a:rPr lang="en-US" sz="2600" b="1" dirty="0"/>
              <a:t>     super.—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 @Override right before the method in the derived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parent class can make a method final to ban a subclass from overriding it</a:t>
            </a:r>
          </a:p>
        </p:txBody>
      </p:sp>
    </p:spTree>
    <p:extLst>
      <p:ext uri="{BB962C8B-B14F-4D97-AF65-F5344CB8AC3E}">
        <p14:creationId xmlns:p14="http://schemas.microsoft.com/office/powerpoint/2010/main" val="1797680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on Overriding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60853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override a method in a parent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call an overridden method, use</a:t>
            </a:r>
          </a:p>
          <a:p>
            <a:pPr marL="596900" lvl="1" indent="0" algn="l"/>
            <a:r>
              <a:rPr lang="en-US" sz="2600" b="1" dirty="0"/>
              <a:t>     super.—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 @Override right before the method in the derived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parent class can make a method final to ban a subclass from overriding it</a:t>
            </a:r>
          </a:p>
        </p:txBody>
      </p:sp>
    </p:spTree>
    <p:extLst>
      <p:ext uri="{BB962C8B-B14F-4D97-AF65-F5344CB8AC3E}">
        <p14:creationId xmlns:p14="http://schemas.microsoft.com/office/powerpoint/2010/main" val="2544483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Overriding in Action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tried to compile a program with a line like this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reset(</a:t>
            </a:r>
            <a:r>
              <a:rPr lang="en-US" sz="2600" b="1" dirty="0" err="1"/>
              <a:t>newName</a:t>
            </a:r>
            <a:r>
              <a:rPr lang="en-US" sz="2600" b="1" dirty="0"/>
              <a:t>, </a:t>
            </a:r>
            <a:r>
              <a:rPr lang="en-US" sz="2600" b="1" dirty="0" err="1"/>
              <a:t>newStudentNum</a:t>
            </a:r>
            <a:r>
              <a:rPr lang="en-US" sz="26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/>
              <a:t>for </a:t>
            </a:r>
            <a:r>
              <a:rPr lang="en-US" sz="2600" b="1" dirty="0"/>
              <a:t>an Undergraduate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got this error message: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error: no suitable method found for reset(</a:t>
            </a:r>
            <a:r>
              <a:rPr lang="en-US" sz="2800" b="1" dirty="0" err="1"/>
              <a:t>String,int</a:t>
            </a:r>
            <a:r>
              <a:rPr lang="en-US" sz="28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132602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Error Messages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8779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method </a:t>
            </a:r>
            <a:r>
              <a:rPr lang="en-US" sz="2400" b="1" dirty="0" err="1"/>
              <a:t>Student.reset</a:t>
            </a:r>
            <a:r>
              <a:rPr lang="en-US" sz="2400" b="1" dirty="0"/>
              <a:t>(int) is not applicable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 (actual and formal argument lists differ in length)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method </a:t>
            </a:r>
            <a:r>
              <a:rPr lang="en-US" sz="2400" b="1" dirty="0" err="1"/>
              <a:t>Undergraduate.reset</a:t>
            </a:r>
            <a:r>
              <a:rPr lang="en-US" sz="2400" b="1" dirty="0"/>
              <a:t>(</a:t>
            </a:r>
            <a:r>
              <a:rPr lang="en-US" sz="2400" b="1" dirty="0" err="1"/>
              <a:t>String,int,int</a:t>
            </a:r>
            <a:r>
              <a:rPr lang="en-US" sz="2400" b="1" dirty="0"/>
              <a:t>) is not applicable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(actual and formal argument lists differ in length)</a:t>
            </a:r>
          </a:p>
        </p:txBody>
      </p:sp>
    </p:spTree>
    <p:extLst>
      <p:ext uri="{BB962C8B-B14F-4D97-AF65-F5344CB8AC3E}">
        <p14:creationId xmlns:p14="http://schemas.microsoft.com/office/powerpoint/2010/main" val="1710193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Protected Access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41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Access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5139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same old rules apply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means available to every program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private means not available to anyone, even to a derived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make something available only to a derived class, make it protected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only for derived classes</a:t>
            </a:r>
          </a:p>
        </p:txBody>
      </p:sp>
    </p:spTree>
    <p:extLst>
      <p:ext uri="{BB962C8B-B14F-4D97-AF65-F5344CB8AC3E}">
        <p14:creationId xmlns:p14="http://schemas.microsoft.com/office/powerpoint/2010/main" val="334136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Constructors and Inheritance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094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Word about Constructors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0344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Each class (base class, derived class) can have its own constructor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Constructors are not inherited by derived classes</a:t>
            </a:r>
          </a:p>
        </p:txBody>
      </p:sp>
    </p:spTree>
    <p:extLst>
      <p:ext uri="{BB962C8B-B14F-4D97-AF65-F5344CB8AC3E}">
        <p14:creationId xmlns:p14="http://schemas.microsoft.com/office/powerpoint/2010/main" val="814370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885199" cy="590038"/>
          </a:xfrm>
        </p:spPr>
        <p:txBody>
          <a:bodyPr/>
          <a:lstStyle/>
          <a:p>
            <a:pPr algn="l"/>
            <a:r>
              <a:rPr lang="en-US" sz="3600" dirty="0"/>
              <a:t>Parent and Child Constructors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0344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automatically calls the parent’s no-parameter constructor before the child’s constructor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derived class can call any of the parent’s constructors by using super()</a:t>
            </a:r>
          </a:p>
        </p:txBody>
      </p:sp>
    </p:spTree>
    <p:extLst>
      <p:ext uri="{BB962C8B-B14F-4D97-AF65-F5344CB8AC3E}">
        <p14:creationId xmlns:p14="http://schemas.microsoft.com/office/powerpoint/2010/main" val="2553736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83167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initialize a student’s name in the Student constructor</a:t>
            </a:r>
          </a:p>
          <a:p>
            <a:pPr marL="596900" lvl="1" indent="0" algn="l"/>
            <a:r>
              <a:rPr lang="en-US" sz="2600" b="1" dirty="0"/>
              <a:t>   public Student( )</a:t>
            </a:r>
          </a:p>
          <a:p>
            <a:pPr marL="596900" lvl="1" indent="0" algn="l"/>
            <a:r>
              <a:rPr lang="en-US" sz="2600" b="1" dirty="0"/>
              <a:t>   {</a:t>
            </a:r>
          </a:p>
          <a:p>
            <a:pPr marL="596900" lvl="1" indent="0" algn="l"/>
            <a:r>
              <a:rPr lang="en-US" sz="2600" b="1" dirty="0"/>
              <a:t>       super( );</a:t>
            </a:r>
          </a:p>
          <a:p>
            <a:pPr marL="596900" lvl="1" indent="0" algn="l"/>
            <a:r>
              <a:rPr lang="en-US" sz="2600" b="1" dirty="0"/>
              <a:t>       </a:t>
            </a:r>
            <a:r>
              <a:rPr lang="en-US" sz="2600" b="1" dirty="0" err="1"/>
              <a:t>studentNumber</a:t>
            </a:r>
            <a:r>
              <a:rPr lang="en-US" sz="2600" b="1" dirty="0"/>
              <a:t> = 0;  // Indicating</a:t>
            </a:r>
          </a:p>
          <a:p>
            <a:pPr marL="596900" lvl="1" indent="0" algn="l"/>
            <a:r>
              <a:rPr lang="en-US" sz="2600" b="1" dirty="0"/>
              <a:t>                                        no number yet</a:t>
            </a:r>
          </a:p>
          <a:p>
            <a:pPr marL="596900" lvl="1" indent="0" algn="l"/>
            <a:r>
              <a:rPr lang="en-US" sz="2600" b="1" dirty="0"/>
              <a:t>   }	</a:t>
            </a:r>
          </a:p>
        </p:txBody>
      </p:sp>
    </p:spTree>
    <p:extLst>
      <p:ext uri="{BB962C8B-B14F-4D97-AF65-F5344CB8AC3E}">
        <p14:creationId xmlns:p14="http://schemas.microsoft.com/office/powerpoint/2010/main" val="26814364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Notes about Using super()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you use super, it must be the first line in the constructor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it’s not, the default constructor for the superclass will be called automatically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you don’t use super, the derived class automatically calls the superclass no-parameter constructor</a:t>
            </a:r>
          </a:p>
        </p:txBody>
      </p:sp>
    </p:spTree>
    <p:extLst>
      <p:ext uri="{BB962C8B-B14F-4D97-AF65-F5344CB8AC3E}">
        <p14:creationId xmlns:p14="http://schemas.microsoft.com/office/powerpoint/2010/main" val="2551519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Deriving, Deriving, Deriving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937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Let’s Keep Deriving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derived class can have a derived class!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So, we derive the Undergraduate class from the Student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call the Person class an ancestor of the Undergraduate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Undergraduate class is called a descendant of the Person class</a:t>
            </a:r>
          </a:p>
        </p:txBody>
      </p:sp>
    </p:spTree>
    <p:extLst>
      <p:ext uri="{BB962C8B-B14F-4D97-AF65-F5344CB8AC3E}">
        <p14:creationId xmlns:p14="http://schemas.microsoft.com/office/powerpoint/2010/main" val="2729654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885199" cy="590038"/>
          </a:xfrm>
        </p:spPr>
        <p:txBody>
          <a:bodyPr/>
          <a:lstStyle/>
          <a:p>
            <a:pPr algn="l"/>
            <a:r>
              <a:rPr lang="en-US" sz="3600" dirty="0"/>
              <a:t>Details of the Undergrad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Details about the Undergraduate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Instance variables</a:t>
            </a:r>
          </a:p>
          <a:p>
            <a:pPr marL="596900" lvl="1" indent="0" algn="l"/>
            <a:r>
              <a:rPr lang="en-US" sz="2600" b="1" dirty="0"/>
              <a:t>    int level;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Values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1 for freshman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2 for sophomore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3 for junior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4 for senior</a:t>
            </a:r>
          </a:p>
        </p:txBody>
      </p:sp>
    </p:spTree>
    <p:extLst>
      <p:ext uri="{BB962C8B-B14F-4D97-AF65-F5344CB8AC3E}">
        <p14:creationId xmlns:p14="http://schemas.microsoft.com/office/powerpoint/2010/main" val="11080033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Undergrad Details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Methods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void reset(String </a:t>
            </a:r>
            <a:r>
              <a:rPr lang="en-US" sz="2600" b="1" dirty="0" err="1"/>
              <a:t>newName</a:t>
            </a:r>
            <a:r>
              <a:rPr lang="en-US" sz="2600" b="1" dirty="0"/>
              <a:t>, int </a:t>
            </a:r>
            <a:r>
              <a:rPr lang="en-US" sz="2600" b="1" dirty="0" err="1"/>
              <a:t>newStudentNumber</a:t>
            </a:r>
            <a:r>
              <a:rPr lang="en-US" sz="2600" b="1" dirty="0"/>
              <a:t>, int </a:t>
            </a:r>
            <a:r>
              <a:rPr lang="en-US" sz="2600" b="1" dirty="0" err="1"/>
              <a:t>newLevel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</a:t>
            </a:r>
            <a:r>
              <a:rPr lang="en-US" sz="2600" b="1" dirty="0" err="1"/>
              <a:t>getLevel</a:t>
            </a:r>
            <a:r>
              <a:rPr lang="en-US" sz="2600" b="1" dirty="0"/>
              <a:t>(), </a:t>
            </a:r>
            <a:r>
              <a:rPr lang="en-US" sz="2600" b="1" dirty="0" err="1"/>
              <a:t>setLevel</a:t>
            </a:r>
            <a:r>
              <a:rPr lang="en-US" sz="2600" b="1" dirty="0"/>
              <a:t>(int </a:t>
            </a:r>
            <a:r>
              <a:rPr lang="en-US" sz="2600" b="1" dirty="0" err="1"/>
              <a:t>newLevel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void </a:t>
            </a:r>
            <a:r>
              <a:rPr lang="en-US" sz="2600" b="1" dirty="0" err="1"/>
              <a:t>writeOutput</a:t>
            </a:r>
            <a:r>
              <a:rPr lang="en-US" sz="2600" b="1" dirty="0"/>
              <a:t>( 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boolean</a:t>
            </a:r>
            <a:r>
              <a:rPr lang="en-US" sz="2600" b="1" dirty="0"/>
              <a:t> equals(Undergraduate </a:t>
            </a:r>
            <a:r>
              <a:rPr lang="en-US" sz="2600" b="1" dirty="0" err="1"/>
              <a:t>otherUndergraduate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There are also two constructors</a:t>
            </a:r>
          </a:p>
        </p:txBody>
      </p:sp>
    </p:spTree>
    <p:extLst>
      <p:ext uri="{BB962C8B-B14F-4D97-AF65-F5344CB8AC3E}">
        <p14:creationId xmlns:p14="http://schemas.microsoft.com/office/powerpoint/2010/main" val="1059949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78326" cy="590038"/>
          </a:xfrm>
        </p:spPr>
        <p:txBody>
          <a:bodyPr/>
          <a:lstStyle/>
          <a:p>
            <a:pPr algn="l"/>
            <a:r>
              <a:rPr lang="en-US" sz="3600" dirty="0"/>
              <a:t>Examining the Undergrad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look at the Undergraduate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constructor calls super()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reset() calls reset()?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reset() in Undergrad calls reset() in Student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do I know this?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have different signatures</a:t>
            </a:r>
          </a:p>
        </p:txBody>
      </p:sp>
    </p:spTree>
    <p:extLst>
      <p:ext uri="{BB962C8B-B14F-4D97-AF65-F5344CB8AC3E}">
        <p14:creationId xmlns:p14="http://schemas.microsoft.com/office/powerpoint/2010/main" val="2326341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430803" cy="590038"/>
          </a:xfrm>
        </p:spPr>
        <p:txBody>
          <a:bodyPr/>
          <a:lstStyle/>
          <a:p>
            <a:pPr algn="l"/>
            <a:r>
              <a:rPr lang="en-US" sz="3600" dirty="0"/>
              <a:t>More about the Undergrad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7056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part of the equals () return is</a:t>
            </a:r>
          </a:p>
          <a:p>
            <a:pPr marL="139700" indent="0"/>
            <a:r>
              <a:rPr lang="en-US" sz="2600" b="1" dirty="0"/>
              <a:t>          equals ( (Student) </a:t>
            </a:r>
            <a:r>
              <a:rPr lang="en-US" sz="2600" b="1" dirty="0" err="1"/>
              <a:t>otherUndergraduate</a:t>
            </a:r>
            <a:r>
              <a:rPr lang="en-US" sz="26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Why is </a:t>
            </a:r>
            <a:r>
              <a:rPr lang="en-US" sz="2800" b="1" dirty="0" err="1"/>
              <a:t>otherUndergraduate</a:t>
            </a:r>
            <a:r>
              <a:rPr lang="en-US" sz="2800" b="1" dirty="0"/>
              <a:t> cast to Student?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forces a call to the equals method in Student, versus a recursive call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could also use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super.equals</a:t>
            </a:r>
            <a:r>
              <a:rPr lang="en-US" sz="2800" b="1" dirty="0"/>
              <a:t> (</a:t>
            </a:r>
            <a:r>
              <a:rPr lang="en-US" sz="2800" b="1" dirty="0" err="1"/>
              <a:t>otherUndergraduate</a:t>
            </a:r>
            <a:r>
              <a:rPr lang="en-US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9563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Using Derived Objects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36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Mixing Argument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78717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say</a:t>
            </a:r>
          </a:p>
          <a:p>
            <a:pPr marL="139700" indent="0"/>
            <a:r>
              <a:rPr lang="en-US" sz="2600" b="1" dirty="0"/>
              <a:t>         </a:t>
            </a:r>
            <a:r>
              <a:rPr lang="en-US" sz="2600" b="1" dirty="0" err="1"/>
              <a:t>Someclass.compareNumbers</a:t>
            </a:r>
            <a:endParaRPr lang="en-US" sz="2600" b="1" dirty="0"/>
          </a:p>
          <a:p>
            <a:pPr marL="139700" indent="0"/>
            <a:r>
              <a:rPr lang="en-US" sz="2600" b="1" dirty="0"/>
              <a:t>              (</a:t>
            </a:r>
            <a:r>
              <a:rPr lang="en-US" sz="2600" b="1" dirty="0" err="1"/>
              <a:t>studentObject</a:t>
            </a:r>
            <a:r>
              <a:rPr lang="en-US" sz="2600" b="1" dirty="0"/>
              <a:t>, </a:t>
            </a:r>
            <a:r>
              <a:rPr lang="en-US" sz="2600" b="1" dirty="0" err="1"/>
              <a:t>undergraduateObject</a:t>
            </a:r>
            <a:r>
              <a:rPr lang="en-US" sz="26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because an Undergraduate is a Student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also say</a:t>
            </a:r>
          </a:p>
          <a:p>
            <a:pPr marL="139700" indent="0"/>
            <a:r>
              <a:rPr lang="en-US" sz="2600" b="1" dirty="0"/>
              <a:t>         </a:t>
            </a:r>
            <a:r>
              <a:rPr lang="en-US" sz="2600" b="1" dirty="0" err="1"/>
              <a:t>Someclass.compareNumbers</a:t>
            </a:r>
            <a:endParaRPr lang="en-US" sz="2600" b="1" dirty="0"/>
          </a:p>
          <a:p>
            <a:pPr marL="139700" indent="0"/>
            <a:r>
              <a:rPr lang="en-US" sz="2600" b="1" dirty="0"/>
              <a:t>             (</a:t>
            </a:r>
            <a:r>
              <a:rPr lang="en-US" sz="2600" b="1" dirty="0" err="1"/>
              <a:t>undergraduateOpject,studentObject</a:t>
            </a:r>
            <a:r>
              <a:rPr lang="en-US" sz="26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the same reason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similar to the idea of promotion</a:t>
            </a:r>
          </a:p>
        </p:txBody>
      </p:sp>
    </p:spTree>
    <p:extLst>
      <p:ext uri="{BB962C8B-B14F-4D97-AF65-F5344CB8AC3E}">
        <p14:creationId xmlns:p14="http://schemas.microsoft.com/office/powerpoint/2010/main" val="291311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Mixing Argument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81810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 similar manner, you can also say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800" b="1" dirty="0" err="1"/>
              <a:t>personObject</a:t>
            </a:r>
            <a:r>
              <a:rPr lang="en-US" sz="2800" b="1" dirty="0"/>
              <a:t> = </a:t>
            </a:r>
            <a:r>
              <a:rPr lang="en-US" sz="2800" b="1" dirty="0" err="1"/>
              <a:t>undergraduateObject</a:t>
            </a:r>
            <a:r>
              <a:rPr lang="en-US" sz="28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However, you cannot say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800" b="1" dirty="0" err="1"/>
              <a:t>undergraduateObject</a:t>
            </a:r>
            <a:r>
              <a:rPr lang="en-US" sz="2800" b="1" dirty="0"/>
              <a:t> = </a:t>
            </a:r>
            <a:r>
              <a:rPr lang="en-US" sz="2800" b="1" dirty="0" err="1"/>
              <a:t>personObject</a:t>
            </a:r>
            <a:r>
              <a:rPr lang="en-US" sz="28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SomeClass.java, TestSomeClass.java</a:t>
            </a:r>
          </a:p>
        </p:txBody>
      </p:sp>
    </p:spTree>
    <p:extLst>
      <p:ext uri="{BB962C8B-B14F-4D97-AF65-F5344CB8AC3E}">
        <p14:creationId xmlns:p14="http://schemas.microsoft.com/office/powerpoint/2010/main" val="34649405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Java’s Object </a:t>
            </a:r>
            <a:r>
              <a:rPr lang="en-US" sz="3200" dirty="0" err="1"/>
              <a:t>Object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813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Object “Object”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an object that every object is derived from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called Object, as you might guess</a:t>
            </a:r>
          </a:p>
        </p:txBody>
      </p:sp>
    </p:spTree>
    <p:extLst>
      <p:ext uri="{BB962C8B-B14F-4D97-AF65-F5344CB8AC3E}">
        <p14:creationId xmlns:p14="http://schemas.microsoft.com/office/powerpoint/2010/main" val="1638905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The </a:t>
            </a:r>
            <a:r>
              <a:rPr lang="en-US" sz="3200" dirty="0" err="1"/>
              <a:t>toString</a:t>
            </a:r>
            <a:r>
              <a:rPr lang="en-US" sz="3200" dirty="0"/>
              <a:t>, equals Methods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296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General Notes about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class should usually have 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toString</a:t>
            </a:r>
            <a:r>
              <a:rPr lang="en-US" sz="2600" b="1" dirty="0"/>
              <a:t> method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converts the object’s data to a string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equals method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allows comparison of two of the objects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talks about problems with an equals method for a derived class</a:t>
            </a:r>
          </a:p>
        </p:txBody>
      </p:sp>
    </p:spTree>
    <p:extLst>
      <p:ext uri="{BB962C8B-B14F-4D97-AF65-F5344CB8AC3E}">
        <p14:creationId xmlns:p14="http://schemas.microsoft.com/office/powerpoint/2010/main" val="32465798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Polymorphism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8792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Polymorphism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already saw something like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object knows how it’s supposed to act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Polymorphism means that an object can act like anything it’s derived from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402041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Polymorphism—An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create an array that can hold 4 Persons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Person [] people = new Person [4];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nothing special here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just like: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[] </a:t>
            </a:r>
            <a:r>
              <a:rPr lang="en-US" sz="2600" b="1" dirty="0" err="1"/>
              <a:t>nums</a:t>
            </a:r>
            <a:r>
              <a:rPr lang="en-US" sz="2600" b="1" dirty="0"/>
              <a:t> = new int [4];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just like that line, there is nothing in the array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Where is the polymorphism?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733839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Adding Data to the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people [0] = new Undergraduate (</a:t>
            </a:r>
          </a:p>
          <a:p>
            <a:pPr marL="139700" indent="0"/>
            <a:r>
              <a:rPr lang="en-US" sz="2600" b="1" dirty="0"/>
              <a:t>                           “</a:t>
            </a:r>
            <a:r>
              <a:rPr lang="en-US" sz="2600" b="1" dirty="0" err="1"/>
              <a:t>Cotty</a:t>
            </a:r>
            <a:r>
              <a:rPr lang="en-US" sz="2600" b="1" dirty="0"/>
              <a:t>, Manny”, 4910, 1);</a:t>
            </a:r>
          </a:p>
          <a:p>
            <a:pPr marL="139700" indent="0"/>
            <a:r>
              <a:rPr lang="en-US" sz="2600" b="1" dirty="0"/>
              <a:t>people [1] = new Undergraduate (</a:t>
            </a:r>
          </a:p>
          <a:p>
            <a:pPr marL="139700" indent="0"/>
            <a:r>
              <a:rPr lang="en-US" sz="2600" b="1" dirty="0"/>
              <a:t>                           “Kick, Anita”, 9931, 2);</a:t>
            </a:r>
          </a:p>
          <a:p>
            <a:pPr marL="139700" indent="0"/>
            <a:r>
              <a:rPr lang="en-US" sz="2600" b="1" dirty="0"/>
              <a:t>people [2] = new Student (</a:t>
            </a:r>
          </a:p>
          <a:p>
            <a:pPr marL="139700" indent="0"/>
            <a:r>
              <a:rPr lang="en-US" sz="2600" b="1" dirty="0"/>
              <a:t>                           “</a:t>
            </a:r>
            <a:r>
              <a:rPr lang="en-US" sz="2600" b="1" dirty="0" err="1"/>
              <a:t>DeBanque</a:t>
            </a:r>
            <a:r>
              <a:rPr lang="en-US" sz="2600" b="1" dirty="0"/>
              <a:t>, Robin”, 8812);</a:t>
            </a:r>
          </a:p>
          <a:p>
            <a:pPr marL="139700" indent="0"/>
            <a:r>
              <a:rPr lang="en-US" sz="2600" b="1" dirty="0"/>
              <a:t>people [3] = new Undergraduate (</a:t>
            </a:r>
          </a:p>
          <a:p>
            <a:pPr marL="139700" indent="0"/>
            <a:r>
              <a:rPr lang="en-US" sz="2600" b="1" dirty="0"/>
              <a:t>                          “Bugg, June”, 9901, 4);</a:t>
            </a:r>
          </a:p>
        </p:txBody>
      </p:sp>
    </p:spTree>
    <p:extLst>
      <p:ext uri="{BB962C8B-B14F-4D97-AF65-F5344CB8AC3E}">
        <p14:creationId xmlns:p14="http://schemas.microsoft.com/office/powerpoint/2010/main" val="42049109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What Happened?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People was declared as an array of Person objects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Yet Person [0] was instantiated as an Undergraduate, not a Person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Why does the compiler not complain?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Since Undergraduate was derived from Student which was derived from Person, this is alright</a:t>
            </a:r>
          </a:p>
        </p:txBody>
      </p:sp>
    </p:spTree>
    <p:extLst>
      <p:ext uri="{BB962C8B-B14F-4D97-AF65-F5344CB8AC3E}">
        <p14:creationId xmlns:p14="http://schemas.microsoft.com/office/powerpoint/2010/main" val="26576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for-each Loop Again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for-each loop can also be used for derived classes</a:t>
            </a:r>
          </a:p>
          <a:p>
            <a:pPr marL="139700" indent="0"/>
            <a:r>
              <a:rPr lang="en-US" sz="2600" b="1" dirty="0"/>
              <a:t>	for (Person p: people)</a:t>
            </a:r>
          </a:p>
          <a:p>
            <a:pPr marL="139700" indent="0"/>
            <a:r>
              <a:rPr lang="en-US" sz="2600" b="1" dirty="0"/>
              <a:t>	{</a:t>
            </a:r>
          </a:p>
          <a:p>
            <a:pPr marL="139700" indent="0"/>
            <a:r>
              <a:rPr lang="en-US" sz="2600" b="1" dirty="0"/>
              <a:t>	    </a:t>
            </a:r>
            <a:r>
              <a:rPr lang="en-US" sz="2600" b="1" dirty="0" err="1"/>
              <a:t>p.writeOutput</a:t>
            </a:r>
            <a:r>
              <a:rPr lang="en-US" sz="2600" b="1" dirty="0"/>
              <a:t>();</a:t>
            </a:r>
          </a:p>
          <a:p>
            <a:pPr marL="139700" indent="0"/>
            <a:r>
              <a:rPr lang="en-US" sz="2600" b="1" dirty="0"/>
              <a:t>	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;</a:t>
            </a:r>
          </a:p>
          <a:p>
            <a:pPr marL="139700" indent="0"/>
            <a:r>
              <a:rPr lang="en-US" sz="2600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156926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Polymorphism in Action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See </a:t>
            </a:r>
            <a:r>
              <a:rPr lang="en-US" sz="2600" b="1" dirty="0" err="1"/>
              <a:t>PolymorphismDemo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Why does </a:t>
            </a:r>
            <a:r>
              <a:rPr lang="en-US" sz="2600" b="1" dirty="0" err="1"/>
              <a:t>student.writeOuptut</a:t>
            </a:r>
            <a:r>
              <a:rPr lang="en-US" sz="2600" b="1" dirty="0"/>
              <a:t> get called for Student, while the others use </a:t>
            </a:r>
            <a:r>
              <a:rPr lang="en-US" sz="2600" b="1" dirty="0" err="1"/>
              <a:t>Undergraduate.writeOutput</a:t>
            </a:r>
            <a:r>
              <a:rPr lang="en-US" sz="2600" b="1" dirty="0"/>
              <a:t>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uses an idea called dynamic binding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Each element of people [] is created while the program is running (at runtime)</a:t>
            </a:r>
          </a:p>
        </p:txBody>
      </p:sp>
    </p:spTree>
    <p:extLst>
      <p:ext uri="{BB962C8B-B14F-4D97-AF65-F5344CB8AC3E}">
        <p14:creationId xmlns:p14="http://schemas.microsoft.com/office/powerpoint/2010/main" val="12166616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Polymorphism Again!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6672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Polymorphism allows a people object to be anything derived from Person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key idea of polymorphism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 object knows how it’s supposed to act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base class may define a method, and any derived class can override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Polymorphism ensures that the correct method will be called!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1543696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Interfaces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285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Interfaces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interface allows flexibility within a common design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interface is a file consisting of just a list of method headers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These are essentially just the specifications for a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Measurable.java  (It’s the interface)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2280599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Interface Measurable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03443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/* An interface for methods that return the perimeter and area of an object. */</a:t>
            </a:r>
          </a:p>
          <a:p>
            <a:pPr marL="139700" indent="0"/>
            <a:r>
              <a:rPr lang="en-US" sz="2600" b="1" dirty="0"/>
              <a:t>public interface Measurable</a:t>
            </a:r>
          </a:p>
          <a:p>
            <a:pPr marL="139700" indent="0"/>
            <a:r>
              <a:rPr lang="en-US" sz="2600" b="1" dirty="0"/>
              <a:t>{</a:t>
            </a:r>
          </a:p>
          <a:p>
            <a:pPr marL="139700" indent="0"/>
            <a:r>
              <a:rPr lang="en-US" sz="2600" b="1" dirty="0"/>
              <a:t>    /* Returns the perimeter. */</a:t>
            </a:r>
          </a:p>
          <a:p>
            <a:pPr marL="139700" indent="0"/>
            <a:r>
              <a:rPr lang="en-US" sz="2600" b="1" dirty="0"/>
              <a:t>    public double </a:t>
            </a:r>
            <a:r>
              <a:rPr lang="en-US" sz="2600" b="1" dirty="0" err="1"/>
              <a:t>getPerimeter</a:t>
            </a:r>
            <a:r>
              <a:rPr lang="en-US" sz="2600" b="1" dirty="0"/>
              <a:t>();</a:t>
            </a:r>
          </a:p>
          <a:p>
            <a:pPr marL="139700" indent="0"/>
            <a:endParaRPr lang="en-US" sz="1500" b="1" dirty="0"/>
          </a:p>
          <a:p>
            <a:pPr marL="139700" indent="0"/>
            <a:r>
              <a:rPr lang="en-US" sz="2600" b="1" dirty="0"/>
              <a:t>    /* Returns the area. */</a:t>
            </a:r>
          </a:p>
          <a:p>
            <a:pPr marL="139700" indent="0"/>
            <a:r>
              <a:rPr lang="en-US" sz="2600" b="1" dirty="0"/>
              <a:t>    public double </a:t>
            </a:r>
            <a:r>
              <a:rPr lang="en-US" sz="2600" b="1" dirty="0" err="1"/>
              <a:t>getArea</a:t>
            </a:r>
            <a:r>
              <a:rPr lang="en-US" sz="2600" b="1" dirty="0"/>
              <a:t>();</a:t>
            </a:r>
          </a:p>
          <a:p>
            <a:pPr marL="139700" indent="0"/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21176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Implementing an Interface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Interfaces are implemented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Different classes can implement the same interface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strength of an interface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can be implemented in many different ways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Circle.java, Rectangle.java</a:t>
            </a:r>
          </a:p>
        </p:txBody>
      </p:sp>
    </p:spTree>
    <p:extLst>
      <p:ext uri="{BB962C8B-B14F-4D97-AF65-F5344CB8AC3E}">
        <p14:creationId xmlns:p14="http://schemas.microsoft.com/office/powerpoint/2010/main" val="34500331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about Interfaces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interface can also be used to instantiate an object that implements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this is polymorphism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Driver.java, and Driver2.java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4062077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The Four Pillars of OOP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3109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Key Ideas of 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four key ideas of Object-Oriented Programming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fr-FR" sz="2600" b="1" dirty="0"/>
              <a:t>Abstraction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fr-FR" sz="2600" b="1" dirty="0"/>
              <a:t>Encapsulation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fr-FR" sz="2600" b="1" dirty="0" err="1"/>
              <a:t>Inheritance</a:t>
            </a:r>
            <a:endParaRPr lang="fr-FR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fr-FR" sz="2600" b="1" dirty="0" err="1"/>
              <a:t>Polymorphism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1773513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2490</TotalTime>
  <Words>2228</Words>
  <Application>Microsoft Office PowerPoint</Application>
  <PresentationFormat>On-screen Show (16:9)</PresentationFormat>
  <Paragraphs>396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8</vt:lpstr>
      <vt:lpstr>Vocabulary, Concepts, and  Skills</vt:lpstr>
      <vt:lpstr>VOCABULARY</vt:lpstr>
      <vt:lpstr>CONCEPTS</vt:lpstr>
      <vt:lpstr>CONCEPTS</vt:lpstr>
      <vt:lpstr>SKILLS</vt:lpstr>
      <vt:lpstr>Chapter 8</vt:lpstr>
      <vt:lpstr>Classes Based on Other Classes</vt:lpstr>
      <vt:lpstr>Inheritance</vt:lpstr>
      <vt:lpstr>The Hierarchy</vt:lpstr>
      <vt:lpstr>A Sample Class Hierarchy</vt:lpstr>
      <vt:lpstr>The Hierarchy</vt:lpstr>
      <vt:lpstr>Creating a Base Class</vt:lpstr>
      <vt:lpstr>The Person Class</vt:lpstr>
      <vt:lpstr>Designing the Person Class</vt:lpstr>
      <vt:lpstr>Actually Creating the Person Class</vt:lpstr>
      <vt:lpstr>Constructors</vt:lpstr>
      <vt:lpstr>Reviewing the Person Class</vt:lpstr>
      <vt:lpstr>Vocabulary</vt:lpstr>
      <vt:lpstr>The Student Class</vt:lpstr>
      <vt:lpstr>Creating a Derived Class</vt:lpstr>
      <vt:lpstr>“extends Person”?</vt:lpstr>
      <vt:lpstr>Sharing Things</vt:lpstr>
      <vt:lpstr>Designing the Student Class</vt:lpstr>
      <vt:lpstr>The Student Class Itself</vt:lpstr>
      <vt:lpstr>Methods for The Student Class</vt:lpstr>
      <vt:lpstr>Constructors for the Student Class</vt:lpstr>
      <vt:lpstr>Inheritance—Just Another Trick?</vt:lpstr>
      <vt:lpstr>What’s So Good About Inheritance?</vt:lpstr>
      <vt:lpstr>A Recipe for Disaster</vt:lpstr>
      <vt:lpstr>Two Copies of the Same Data</vt:lpstr>
      <vt:lpstr>Reviewing that Vocabulary</vt:lpstr>
      <vt:lpstr>More Vocabulary</vt:lpstr>
      <vt:lpstr>Instantiating a Student</vt:lpstr>
      <vt:lpstr>Checking that Code</vt:lpstr>
      <vt:lpstr>The is-a Relationship</vt:lpstr>
      <vt:lpstr>More Vocabulary</vt:lpstr>
      <vt:lpstr>Overriding a Parent’s Method</vt:lpstr>
      <vt:lpstr>Overriding a Method</vt:lpstr>
      <vt:lpstr>More on Overriding</vt:lpstr>
      <vt:lpstr>More on Overriding</vt:lpstr>
      <vt:lpstr>Overriding in Action</vt:lpstr>
      <vt:lpstr>More Error Messages</vt:lpstr>
      <vt:lpstr>Protected Access</vt:lpstr>
      <vt:lpstr>Access</vt:lpstr>
      <vt:lpstr>Constructors and Inheritance</vt:lpstr>
      <vt:lpstr>A Word about Constructors</vt:lpstr>
      <vt:lpstr>Parent and Child Constructors</vt:lpstr>
      <vt:lpstr>An Example</vt:lpstr>
      <vt:lpstr>Notes about Using super()</vt:lpstr>
      <vt:lpstr>Deriving, Deriving, Deriving</vt:lpstr>
      <vt:lpstr>Let’s Keep Deriving</vt:lpstr>
      <vt:lpstr>Details of the Undergrad Class</vt:lpstr>
      <vt:lpstr>More Undergrad Details</vt:lpstr>
      <vt:lpstr>Examining the Undergrad Class</vt:lpstr>
      <vt:lpstr>More about the Undergrad Class</vt:lpstr>
      <vt:lpstr>Using Derived Objects</vt:lpstr>
      <vt:lpstr>Mixing Argument Types</vt:lpstr>
      <vt:lpstr>More Mixing Argument Types</vt:lpstr>
      <vt:lpstr>Java’s Object Object</vt:lpstr>
      <vt:lpstr>The Object “Object”</vt:lpstr>
      <vt:lpstr>The toString, equals Methods</vt:lpstr>
      <vt:lpstr>General Notes about Methods</vt:lpstr>
      <vt:lpstr>Polymorphism</vt:lpstr>
      <vt:lpstr>Polymorphism</vt:lpstr>
      <vt:lpstr>Polymorphism—An Example</vt:lpstr>
      <vt:lpstr>Adding Data to the Array</vt:lpstr>
      <vt:lpstr>What Happened?</vt:lpstr>
      <vt:lpstr>The for-each Loop Again</vt:lpstr>
      <vt:lpstr>Polymorphism in Action</vt:lpstr>
      <vt:lpstr>Polymorphism Again!</vt:lpstr>
      <vt:lpstr>Interfaces</vt:lpstr>
      <vt:lpstr>Interfaces</vt:lpstr>
      <vt:lpstr>The Interface Measurable</vt:lpstr>
      <vt:lpstr>Implementing an Interface</vt:lpstr>
      <vt:lpstr>More about Interfaces</vt:lpstr>
      <vt:lpstr>The Four Pillars of OOP</vt:lpstr>
      <vt:lpstr>Key Ideas of OOP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205</cp:revision>
  <cp:lastPrinted>2022-06-21T15:58:31Z</cp:lastPrinted>
  <dcterms:modified xsi:type="dcterms:W3CDTF">2024-01-05T14:07:17Z</dcterms:modified>
</cp:coreProperties>
</file>