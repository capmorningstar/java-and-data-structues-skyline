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39"/>
  </p:notesMasterIdLst>
  <p:sldIdLst>
    <p:sldId id="256" r:id="rId2"/>
    <p:sldId id="381" r:id="rId3"/>
    <p:sldId id="282" r:id="rId4"/>
    <p:sldId id="257" r:id="rId5"/>
    <p:sldId id="278" r:id="rId6"/>
    <p:sldId id="291" r:id="rId7"/>
    <p:sldId id="396" r:id="rId8"/>
    <p:sldId id="394" r:id="rId9"/>
    <p:sldId id="467" r:id="rId10"/>
    <p:sldId id="532" r:id="rId11"/>
    <p:sldId id="473" r:id="rId12"/>
    <p:sldId id="533" r:id="rId13"/>
    <p:sldId id="474" r:id="rId14"/>
    <p:sldId id="475" r:id="rId15"/>
    <p:sldId id="476" r:id="rId16"/>
    <p:sldId id="534" r:id="rId17"/>
    <p:sldId id="477" r:id="rId18"/>
    <p:sldId id="478" r:id="rId19"/>
    <p:sldId id="535" r:id="rId20"/>
    <p:sldId id="525" r:id="rId21"/>
    <p:sldId id="536" r:id="rId22"/>
    <p:sldId id="479" r:id="rId23"/>
    <p:sldId id="537" r:id="rId24"/>
    <p:sldId id="480" r:id="rId25"/>
    <p:sldId id="481" r:id="rId26"/>
    <p:sldId id="538" r:id="rId27"/>
    <p:sldId id="482" r:id="rId28"/>
    <p:sldId id="539" r:id="rId29"/>
    <p:sldId id="483" r:id="rId30"/>
    <p:sldId id="484" r:id="rId31"/>
    <p:sldId id="485" r:id="rId32"/>
    <p:sldId id="486" r:id="rId33"/>
    <p:sldId id="540" r:id="rId34"/>
    <p:sldId id="487" r:id="rId35"/>
    <p:sldId id="541" r:id="rId36"/>
    <p:sldId id="488" r:id="rId37"/>
    <p:sldId id="290" r:id="rId38"/>
  </p:sldIdLst>
  <p:sldSz cx="9144000" cy="5143500" type="screen16x9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291" autoAdjust="0"/>
  </p:normalViewPr>
  <p:slideViewPr>
    <p:cSldViewPr snapToGrid="0">
      <p:cViewPr varScale="1">
        <p:scale>
          <a:sx n="82" d="100"/>
          <a:sy n="82" d="100"/>
        </p:scale>
        <p:origin x="282" y="90"/>
      </p:cViewPr>
      <p:guideLst/>
    </p:cSldViewPr>
  </p:slideViewPr>
  <p:outlineViewPr>
    <p:cViewPr>
      <p:scale>
        <a:sx n="33" d="100"/>
        <a:sy n="33" d="100"/>
      </p:scale>
      <p:origin x="0" y="-171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340c23162_0_4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340c23162_0_426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955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030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076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6391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69731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7932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26593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5307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74834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66302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9322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95090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3111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3362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89435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68798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49182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8349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59038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64491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50162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92536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02937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26795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40479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2897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27047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59426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92686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77984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 rot="-7129687">
            <a:off x="7946841" y="-111053"/>
            <a:ext cx="1749110" cy="106868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rot="1652016">
            <a:off x="3144222" y="4661942"/>
            <a:ext cx="1749169" cy="106872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 rot="-9750761">
            <a:off x="-43638" y="-47475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10019859">
            <a:off x="7711913" y="4074159"/>
            <a:ext cx="1749120" cy="106869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7229292">
            <a:off x="-894848" y="2251427"/>
            <a:ext cx="1749185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49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 rot="-7461925" flipH="1">
            <a:off x="8408645" y="1233599"/>
            <a:ext cx="1749147" cy="106870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 rot="6122756">
            <a:off x="-792938" y="4234941"/>
            <a:ext cx="1749085" cy="106867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 rot="-2228693">
            <a:off x="8168268" y="3835041"/>
            <a:ext cx="1749245" cy="10687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 rot="10097674">
            <a:off x="-466956" y="-11245"/>
            <a:ext cx="1749222" cy="106875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 rot="-491913">
            <a:off x="-10878" y="-380844"/>
            <a:ext cx="9470554" cy="13231501"/>
            <a:chOff x="6260625" y="2712350"/>
            <a:chExt cx="1146175" cy="1601325"/>
          </a:xfrm>
        </p:grpSpPr>
        <p:sp>
          <p:nvSpPr>
            <p:cNvPr id="193" name="Google Shape;193;p1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-1996996" flipH="1">
            <a:off x="2524617" y="4878143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941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 rot="-8803004">
            <a:off x="1311492" y="-596389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 rot="9243454">
            <a:off x="-592793" y="90497"/>
            <a:ext cx="1749178" cy="106872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 rot="4712302">
            <a:off x="-546090" y="4303606"/>
            <a:ext cx="1748947" cy="106858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rot="-2262248">
            <a:off x="8203522" y="4074196"/>
            <a:ext cx="1749095" cy="106867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3446700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2"/>
          </p:nvPr>
        </p:nvSpPr>
        <p:spPr>
          <a:xfrm>
            <a:off x="61733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3446700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4"/>
          </p:nvPr>
        </p:nvSpPr>
        <p:spPr>
          <a:xfrm>
            <a:off x="61733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1"/>
          <p:cNvSpPr/>
          <p:nvPr/>
        </p:nvSpPr>
        <p:spPr>
          <a:xfrm rot="-1954942" flipH="1">
            <a:off x="5227098" y="491021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"/>
          <p:cNvSpPr/>
          <p:nvPr/>
        </p:nvSpPr>
        <p:spPr>
          <a:xfrm rot="-5400000">
            <a:off x="8051131" y="42307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subTitle" idx="9"/>
          </p:nvPr>
        </p:nvSpPr>
        <p:spPr>
          <a:xfrm>
            <a:off x="7199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subTitle" idx="13"/>
          </p:nvPr>
        </p:nvSpPr>
        <p:spPr>
          <a:xfrm>
            <a:off x="7199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9809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1" r:id="rId4"/>
    <p:sldLayoutId id="2147483669" r:id="rId5"/>
    <p:sldLayoutId id="2147483679" r:id="rId6"/>
    <p:sldLayoutId id="2147483681" r:id="rId7"/>
    <p:sldLayoutId id="2147483682" r:id="rId8"/>
    <p:sldLayoutId id="2147483683" r:id="rId9"/>
    <p:sldLayoutId id="2147483687" r:id="rId10"/>
    <p:sldLayoutId id="2147483688" r:id="rId11"/>
    <p:sldLayoutId id="214748368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4000" dirty="0"/>
              <a:t>Introduction to Object-Oriented Programming: Java</a:t>
            </a:r>
            <a:endParaRPr sz="40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5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en-US" sz="3200" b="1" dirty="0"/>
              <a:t>Classes and Methods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Vocabulary, Concepts, and  Skills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/>
          <p:nvPr/>
        </p:nvSpPr>
        <p:spPr>
          <a:xfrm>
            <a:off x="474133" y="1017726"/>
            <a:ext cx="8051667" cy="38477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VOCABULARY</a:t>
            </a:r>
            <a:endParaRPr dirty="0"/>
          </a:p>
        </p:txBody>
      </p:sp>
      <p:sp>
        <p:nvSpPr>
          <p:cNvPr id="619" name="Google Shape;619;p42"/>
          <p:cNvSpPr/>
          <p:nvPr/>
        </p:nvSpPr>
        <p:spPr>
          <a:xfrm rot="2369484" flipH="1">
            <a:off x="7614645" y="1036251"/>
            <a:ext cx="1395379" cy="626570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3D35F-F779-4EAD-9964-332587CDF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572605"/>
              </p:ext>
            </p:extLst>
          </p:nvPr>
        </p:nvGraphicFramePr>
        <p:xfrm>
          <a:off x="853493" y="1236763"/>
          <a:ext cx="7437014" cy="333756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3221796">
                  <a:extLst>
                    <a:ext uri="{9D8B030D-6E8A-4147-A177-3AD203B41FA5}">
                      <a16:colId xmlns:a16="http://schemas.microsoft.com/office/drawing/2014/main" val="2268517981"/>
                    </a:ext>
                  </a:extLst>
                </a:gridCol>
                <a:gridCol w="4215218">
                  <a:extLst>
                    <a:ext uri="{9D8B030D-6E8A-4147-A177-3AD203B41FA5}">
                      <a16:colId xmlns:a16="http://schemas.microsoft.com/office/drawing/2014/main" val="853732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Classes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Calling or Invoking a Method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9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Methods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Reusability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Modules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Information Hiding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Instance Variables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Accessor Methods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Attributes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Mutator Methods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8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Declaring a Method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Access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660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The Signature of a method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Encapsulation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88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The Body of a Method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Reference Types</a:t>
                      </a:r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493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The return Statement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OOP (Object-Oriented Programming)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6396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671163" y="3278651"/>
            <a:ext cx="2149068" cy="51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Parameters, Arguments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5861443" y="3294455"/>
            <a:ext cx="2158580" cy="833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What a Method Does vs. How It Does It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3945378" y="1607358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Modules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" name="Google Shape;1443;p63">
            <a:extLst>
              <a:ext uri="{FF2B5EF4-FFF2-40B4-BE49-F238E27FC236}">
                <a16:creationId xmlns:a16="http://schemas.microsoft.com/office/drawing/2014/main" id="{8086B052-88F4-4EE9-8247-EF39A774ECB6}"/>
              </a:ext>
            </a:extLst>
          </p:cNvPr>
          <p:cNvSpPr txBox="1"/>
          <p:nvPr/>
        </p:nvSpPr>
        <p:spPr>
          <a:xfrm>
            <a:off x="1873294" y="1604444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Classes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34" name="Google Shape;1443;p63">
            <a:extLst>
              <a:ext uri="{FF2B5EF4-FFF2-40B4-BE49-F238E27FC236}">
                <a16:creationId xmlns:a16="http://schemas.microsoft.com/office/drawing/2014/main" id="{5DB90E77-17E2-49CC-B398-1B0103EF824E}"/>
              </a:ext>
            </a:extLst>
          </p:cNvPr>
          <p:cNvSpPr txBox="1"/>
          <p:nvPr/>
        </p:nvSpPr>
        <p:spPr>
          <a:xfrm>
            <a:off x="3871281" y="3276418"/>
            <a:ext cx="1958665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Single Method Return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35" name="Google Shape;1443;p63">
            <a:extLst>
              <a:ext uri="{FF2B5EF4-FFF2-40B4-BE49-F238E27FC236}">
                <a16:creationId xmlns:a16="http://schemas.microsoft.com/office/drawing/2014/main" id="{C34CCEE4-C9AD-4DD2-9096-B8369937DB96}"/>
              </a:ext>
            </a:extLst>
          </p:cNvPr>
          <p:cNvSpPr txBox="1"/>
          <p:nvPr/>
        </p:nvSpPr>
        <p:spPr>
          <a:xfrm>
            <a:off x="5990786" y="1604443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Void, non-void methods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0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Creating Methods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UML for Documentation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6073422" y="3006475"/>
            <a:ext cx="2350553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Creating Classes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23" name="Google Shape;1023;p50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5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3200" b="1" dirty="0"/>
              <a:t>The Details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4559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Examining Classes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2176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Classes and Their Two Parts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class is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An item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We store the item by storing its attributes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Functions that act on the item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Java calls these methods</a:t>
            </a:r>
          </a:p>
        </p:txBody>
      </p:sp>
    </p:spTree>
    <p:extLst>
      <p:ext uri="{BB962C8B-B14F-4D97-AF65-F5344CB8AC3E}">
        <p14:creationId xmlns:p14="http://schemas.microsoft.com/office/powerpoint/2010/main" val="2984155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Introducing Modules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778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Idea of a Module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Many computer languages use things like methods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generic name for a method is a module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C++, for example, modules are called functions</a:t>
            </a:r>
          </a:p>
        </p:txBody>
      </p:sp>
    </p:spTree>
    <p:extLst>
      <p:ext uri="{BB962C8B-B14F-4D97-AF65-F5344CB8AC3E}">
        <p14:creationId xmlns:p14="http://schemas.microsoft.com/office/powerpoint/2010/main" val="3613265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Classes and Methods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42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Examples of Classes and Methods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example of a class is the Dog class in the textbook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look at the examples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Dog.java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DogDemo.java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Keep these examples available</a:t>
            </a:r>
          </a:p>
        </p:txBody>
      </p:sp>
    </p:spTree>
    <p:extLst>
      <p:ext uri="{BB962C8B-B14F-4D97-AF65-F5344CB8AC3E}">
        <p14:creationId xmlns:p14="http://schemas.microsoft.com/office/powerpoint/2010/main" val="551274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Instance Variables and Attributes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class name is Dog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variables in the class are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name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breed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age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These variables define a dog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We call them instance variables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Some people call them attributes</a:t>
            </a:r>
          </a:p>
        </p:txBody>
      </p:sp>
    </p:spTree>
    <p:extLst>
      <p:ext uri="{BB962C8B-B14F-4D97-AF65-F5344CB8AC3E}">
        <p14:creationId xmlns:p14="http://schemas.microsoft.com/office/powerpoint/2010/main" val="511506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Methods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281417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Again, a method is Java’s name for a procedure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One goal of this chapter is to be able to write our own methods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will begin by looking at the signature of a method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signature is the method’s name and number and types of arguments</a:t>
            </a:r>
          </a:p>
        </p:txBody>
      </p:sp>
    </p:spTree>
    <p:extLst>
      <p:ext uri="{BB962C8B-B14F-4D97-AF65-F5344CB8AC3E}">
        <p14:creationId xmlns:p14="http://schemas.microsoft.com/office/powerpoint/2010/main" val="162887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The main() method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652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main() Method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596017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discuss a method, I will show its name and empty parentheses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 will do this even if the method has parameters inside the parentheses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use the main () method in our programs all the time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will dissect the main () method</a:t>
            </a:r>
          </a:p>
        </p:txBody>
      </p:sp>
    </p:spTree>
    <p:extLst>
      <p:ext uri="{BB962C8B-B14F-4D97-AF65-F5344CB8AC3E}">
        <p14:creationId xmlns:p14="http://schemas.microsoft.com/office/powerpoint/2010/main" val="1947858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Examining the main () Method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363017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declaration is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public static void main (String [] </a:t>
            </a:r>
            <a:r>
              <a:rPr lang="en-US" sz="2600" b="1" dirty="0" err="1"/>
              <a:t>args</a:t>
            </a:r>
            <a:r>
              <a:rPr lang="en-US" sz="2600" b="1" dirty="0"/>
              <a:t>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are some pieces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“public” means that any other class can use the method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 will skip “static”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“void” means that main() does a task as opposed to a calculation</a:t>
            </a:r>
          </a:p>
        </p:txBody>
      </p:sp>
    </p:spTree>
    <p:extLst>
      <p:ext uri="{BB962C8B-B14F-4D97-AF65-F5344CB8AC3E}">
        <p14:creationId xmlns:p14="http://schemas.microsoft.com/office/powerpoint/2010/main" val="3775281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Public Methods, Private methods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649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public and private Methods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596017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Methods can be either public or private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public methods can be used by any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private methods are available only to the class they’re in</a:t>
            </a:r>
          </a:p>
        </p:txBody>
      </p:sp>
    </p:spTree>
    <p:extLst>
      <p:ext uri="{BB962C8B-B14F-4D97-AF65-F5344CB8AC3E}">
        <p14:creationId xmlns:p14="http://schemas.microsoft.com/office/powerpoint/2010/main" val="1799816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Types of Methods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944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Two Types of Methods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Think of a method as a request to do something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are two types of requests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first type is a question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It requires an answer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second type just does a task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Giving an answer here just doesn’t make sense</a:t>
            </a:r>
          </a:p>
        </p:txBody>
      </p:sp>
    </p:spTree>
    <p:extLst>
      <p:ext uri="{BB962C8B-B14F-4D97-AF65-F5344CB8AC3E}">
        <p14:creationId xmlns:p14="http://schemas.microsoft.com/office/powerpoint/2010/main" val="3010736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Methods that Have Answers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566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Methods with Questions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403443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Examples from math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Suppose x is double variable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What is sqrt (x)?  What is cos (x)?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Examples from finance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What is the total interest on a 30 year loan with an interest rate of 3%?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Examples from science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How long does it take an object to fall to earth from 30 feet high?</a:t>
            </a:r>
          </a:p>
        </p:txBody>
      </p:sp>
    </p:spTree>
    <p:extLst>
      <p:ext uri="{BB962C8B-B14F-4D97-AF65-F5344CB8AC3E}">
        <p14:creationId xmlns:p14="http://schemas.microsoft.com/office/powerpoint/2010/main" val="4255187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Answering Questions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Every one of these methods must return a result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type of the method must match the type of the result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type is the word after “public”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public double </a:t>
            </a:r>
            <a:r>
              <a:rPr lang="en-US" sz="2600" b="1" dirty="0" err="1"/>
              <a:t>squareRoot</a:t>
            </a:r>
            <a:r>
              <a:rPr lang="en-US" sz="2600" b="1" dirty="0"/>
              <a:t> (…)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public double </a:t>
            </a:r>
            <a:r>
              <a:rPr lang="en-US" sz="2600" b="1" dirty="0" err="1"/>
              <a:t>totalInterest</a:t>
            </a:r>
            <a:r>
              <a:rPr lang="en-US" sz="2600" b="1" dirty="0"/>
              <a:t> (…)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public int </a:t>
            </a:r>
            <a:r>
              <a:rPr lang="en-US" sz="2600" b="1" dirty="0" err="1"/>
              <a:t>timeToDrop</a:t>
            </a:r>
            <a:r>
              <a:rPr lang="en-US" sz="2600" b="1" dirty="0"/>
              <a:t> (…)</a:t>
            </a:r>
          </a:p>
        </p:txBody>
      </p:sp>
    </p:spTree>
    <p:extLst>
      <p:ext uri="{BB962C8B-B14F-4D97-AF65-F5344CB8AC3E}">
        <p14:creationId xmlns:p14="http://schemas.microsoft.com/office/powerpoint/2010/main" val="3298072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Creating a Method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107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Writing Our Own Methods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try to write a method that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Has the name “twice”, and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Doubles its integer argument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This means it should multiply its integer argument by 2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first thing to do is to notice that this method should return a result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So, we start with</a:t>
            </a:r>
          </a:p>
          <a:p>
            <a:pPr marL="1054100" lvl="2" indent="0" algn="l"/>
            <a:r>
              <a:rPr lang="en-US" sz="2400" b="1" dirty="0"/>
              <a:t>   public int twice</a:t>
            </a:r>
          </a:p>
        </p:txBody>
      </p:sp>
    </p:spTree>
    <p:extLst>
      <p:ext uri="{BB962C8B-B14F-4D97-AF65-F5344CB8AC3E}">
        <p14:creationId xmlns:p14="http://schemas.microsoft.com/office/powerpoint/2010/main" val="3166079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Parameters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7520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Parameters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Every method has parentheses after its name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goes inside the parentheses is input data for the method 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variables in the parentheses are called parameters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For our method, we only need one parameter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It’s the number we need to double</a:t>
            </a:r>
          </a:p>
        </p:txBody>
      </p:sp>
    </p:spTree>
    <p:extLst>
      <p:ext uri="{BB962C8B-B14F-4D97-AF65-F5344CB8AC3E}">
        <p14:creationId xmlns:p14="http://schemas.microsoft.com/office/powerpoint/2010/main" val="14833658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Examining that Parameter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line is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public int twice (int num)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things inside the parentheses are called parameters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Our parameter is num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Its type is int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This is the number we want to double</a:t>
            </a:r>
          </a:p>
        </p:txBody>
      </p:sp>
    </p:spTree>
    <p:extLst>
      <p:ext uri="{BB962C8B-B14F-4D97-AF65-F5344CB8AC3E}">
        <p14:creationId xmlns:p14="http://schemas.microsoft.com/office/powerpoint/2010/main" val="306070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Finishing the Method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281417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remaining part is called the body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It’s enclosed in braces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contains code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The code is for the task that the method must perform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We may also have to return an answer</a:t>
            </a:r>
          </a:p>
        </p:txBody>
      </p:sp>
    </p:spTree>
    <p:extLst>
      <p:ext uri="{BB962C8B-B14F-4D97-AF65-F5344CB8AC3E}">
        <p14:creationId xmlns:p14="http://schemas.microsoft.com/office/powerpoint/2010/main" val="33882936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Complete Method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is the whole method</a:t>
            </a:r>
          </a:p>
          <a:p>
            <a:pPr marL="139700" indent="0"/>
            <a:r>
              <a:rPr lang="en-US" sz="2600" b="1" dirty="0"/>
              <a:t>    public int twice (int num)</a:t>
            </a:r>
          </a:p>
          <a:p>
            <a:pPr marL="139700" indent="0"/>
            <a:r>
              <a:rPr lang="en-US" sz="2600" b="1" dirty="0"/>
              <a:t>    {</a:t>
            </a:r>
          </a:p>
          <a:p>
            <a:pPr marL="139700" indent="0"/>
            <a:r>
              <a:rPr lang="en-US" sz="2600" b="1" dirty="0"/>
              <a:t>         int result = 2*num;</a:t>
            </a:r>
          </a:p>
          <a:p>
            <a:pPr marL="139700" indent="0"/>
            <a:r>
              <a:rPr lang="en-US" sz="2600" b="1" dirty="0"/>
              <a:t>         return result;</a:t>
            </a:r>
          </a:p>
          <a:p>
            <a:pPr marL="139700" indent="0"/>
            <a:r>
              <a:rPr lang="en-US" sz="2600" b="1" dirty="0"/>
              <a:t>    }</a:t>
            </a:r>
          </a:p>
          <a:p>
            <a:pPr marL="139700" indent="0"/>
            <a:endParaRPr lang="en-US" sz="20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variable “result” is called a local variable</a:t>
            </a:r>
          </a:p>
        </p:txBody>
      </p:sp>
    </p:spTree>
    <p:extLst>
      <p:ext uri="{BB962C8B-B14F-4D97-AF65-F5344CB8AC3E}">
        <p14:creationId xmlns:p14="http://schemas.microsoft.com/office/powerpoint/2010/main" val="1027624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Answering the Question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8612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Using a return Statement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Since the method has to give an answer, we need a way to do that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use the return statement to send the answer back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Notice that the return statement must return data that is the same type as the name of the function</a:t>
            </a:r>
          </a:p>
        </p:txBody>
      </p:sp>
    </p:spTree>
    <p:extLst>
      <p:ext uri="{BB962C8B-B14F-4D97-AF65-F5344CB8AC3E}">
        <p14:creationId xmlns:p14="http://schemas.microsoft.com/office/powerpoint/2010/main" val="12637533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Time to Practice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9052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An Interlude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work on the Programming Exercises for this chapter</a:t>
            </a:r>
          </a:p>
        </p:txBody>
      </p:sp>
    </p:spTree>
    <p:extLst>
      <p:ext uri="{BB962C8B-B14F-4D97-AF65-F5344CB8AC3E}">
        <p14:creationId xmlns:p14="http://schemas.microsoft.com/office/powerpoint/2010/main" val="19062125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1850</TotalTime>
  <Words>874</Words>
  <Application>Microsoft Office PowerPoint</Application>
  <PresentationFormat>On-screen Show (16:9)</PresentationFormat>
  <Paragraphs>182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Bebas Neue</vt:lpstr>
      <vt:lpstr>Kalam</vt:lpstr>
      <vt:lpstr>Special Elite</vt:lpstr>
      <vt:lpstr>US Great Outdoors Month by Slidesgo</vt:lpstr>
      <vt:lpstr>Introduction to Object-Oriented Programming: Java</vt:lpstr>
      <vt:lpstr>Chapter 5</vt:lpstr>
      <vt:lpstr>Vocabulary, Concepts, and  Skills</vt:lpstr>
      <vt:lpstr>VOCABULARY</vt:lpstr>
      <vt:lpstr>CONCEPTS</vt:lpstr>
      <vt:lpstr>SKILLS</vt:lpstr>
      <vt:lpstr>Chapter 5</vt:lpstr>
      <vt:lpstr>Examining Classes</vt:lpstr>
      <vt:lpstr>Classes and Their Two Parts</vt:lpstr>
      <vt:lpstr>Introducing Modules</vt:lpstr>
      <vt:lpstr>The Idea of a Module</vt:lpstr>
      <vt:lpstr>Classes and Methods</vt:lpstr>
      <vt:lpstr>Examples of Classes and Methods</vt:lpstr>
      <vt:lpstr>Instance Variables and Attributes</vt:lpstr>
      <vt:lpstr>Methods</vt:lpstr>
      <vt:lpstr>The main() method</vt:lpstr>
      <vt:lpstr>The main() Method</vt:lpstr>
      <vt:lpstr>Examining the main () Method</vt:lpstr>
      <vt:lpstr>Public Methods, Private methods</vt:lpstr>
      <vt:lpstr>public and private Methods</vt:lpstr>
      <vt:lpstr>Types of Methods</vt:lpstr>
      <vt:lpstr>The Two Types of Methods</vt:lpstr>
      <vt:lpstr>Methods that Have Answers</vt:lpstr>
      <vt:lpstr>Methods with Questions</vt:lpstr>
      <vt:lpstr>Answering Questions</vt:lpstr>
      <vt:lpstr>Creating a Method</vt:lpstr>
      <vt:lpstr>Writing Our Own Methods</vt:lpstr>
      <vt:lpstr>Parameters</vt:lpstr>
      <vt:lpstr>Parameters</vt:lpstr>
      <vt:lpstr>Examining that Parameter</vt:lpstr>
      <vt:lpstr>Finishing the Method</vt:lpstr>
      <vt:lpstr>The Complete Method</vt:lpstr>
      <vt:lpstr>Answering the Question</vt:lpstr>
      <vt:lpstr>Using a return Statement</vt:lpstr>
      <vt:lpstr>Time to Practice</vt:lpstr>
      <vt:lpstr>An Interlude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James Hoffman</cp:lastModifiedBy>
  <cp:revision>140</cp:revision>
  <cp:lastPrinted>2022-06-21T15:58:31Z</cp:lastPrinted>
  <dcterms:modified xsi:type="dcterms:W3CDTF">2022-10-20T15:40:05Z</dcterms:modified>
</cp:coreProperties>
</file>