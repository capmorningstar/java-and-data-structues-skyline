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33"/>
  </p:notesMasterIdLst>
  <p:sldIdLst>
    <p:sldId id="256" r:id="rId2"/>
    <p:sldId id="381" r:id="rId3"/>
    <p:sldId id="282" r:id="rId4"/>
    <p:sldId id="257" r:id="rId5"/>
    <p:sldId id="278" r:id="rId6"/>
    <p:sldId id="397" r:id="rId7"/>
    <p:sldId id="291" r:id="rId8"/>
    <p:sldId id="396" r:id="rId9"/>
    <p:sldId id="394" r:id="rId10"/>
    <p:sldId id="271" r:id="rId11"/>
    <p:sldId id="398" r:id="rId12"/>
    <p:sldId id="399" r:id="rId13"/>
    <p:sldId id="400" r:id="rId14"/>
    <p:sldId id="401" r:id="rId15"/>
    <p:sldId id="402" r:id="rId16"/>
    <p:sldId id="478" r:id="rId17"/>
    <p:sldId id="403" r:id="rId18"/>
    <p:sldId id="404" r:id="rId19"/>
    <p:sldId id="477" r:id="rId20"/>
    <p:sldId id="405" r:id="rId21"/>
    <p:sldId id="408" r:id="rId22"/>
    <p:sldId id="406" r:id="rId23"/>
    <p:sldId id="407" r:id="rId24"/>
    <p:sldId id="409" r:id="rId25"/>
    <p:sldId id="410" r:id="rId26"/>
    <p:sldId id="479" r:id="rId27"/>
    <p:sldId id="411" r:id="rId28"/>
    <p:sldId id="480" r:id="rId29"/>
    <p:sldId id="412" r:id="rId30"/>
    <p:sldId id="413" r:id="rId31"/>
    <p:sldId id="290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85" d="100"/>
          <a:sy n="85" d="100"/>
        </p:scale>
        <p:origin x="882" y="90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4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830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030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6856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2073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908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4455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88977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2899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39815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67074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03459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3236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0272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511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76484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2917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60093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23923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3920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6678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6962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9642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9342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35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1" r:id="rId5"/>
    <p:sldLayoutId id="2147483669" r:id="rId6"/>
    <p:sldLayoutId id="2147483679" r:id="rId7"/>
    <p:sldLayoutId id="2147483681" r:id="rId8"/>
    <p:sldLayoutId id="2147483682" r:id="rId9"/>
    <p:sldLayoutId id="2147483683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3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612700" y="1185376"/>
            <a:ext cx="7913100" cy="368013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558146"/>
              </p:ext>
            </p:extLst>
          </p:nvPr>
        </p:nvGraphicFramePr>
        <p:xfrm>
          <a:off x="860320" y="1512717"/>
          <a:ext cx="7437013" cy="296672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4016480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3420533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Instantiating an Object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Input Validation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Logical Operators:  !, &amp;&amp;, and ||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 err="1"/>
                        <a:t>DeMorgan’s</a:t>
                      </a:r>
                      <a:r>
                        <a:rPr lang="en-US" sz="1800" b="1" dirty="0"/>
                        <a:t> Law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Whitespace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Short Circuit if Statements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Object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Conditional Operator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if </a:t>
                      </a: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Statement</a:t>
                      </a:r>
                      <a:r>
                        <a:rPr lang="en-US" sz="1800" b="1" dirty="0"/>
                        <a:t> with else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switch </a:t>
                      </a: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Statement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Comparison Operators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Boolean Variables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if Statement with Multiple Choices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Enumerated Types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Nested if Statements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935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CONCEPTS:  USING AN if STATEMENT-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561584" y="3278651"/>
            <a:ext cx="2648374" cy="113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With &amp;&amp;, ||, and !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263668" y="3271522"/>
            <a:ext cx="2889874" cy="87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To Make One Choice out of Many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5691800" y="1619431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With an else Clause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543603" y="934054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C314293D-E2EF-451B-ABA6-1EE845A67179}"/>
              </a:ext>
            </a:extLst>
          </p:cNvPr>
          <p:cNvSpPr txBox="1"/>
          <p:nvPr/>
        </p:nvSpPr>
        <p:spPr>
          <a:xfrm>
            <a:off x="1761067" y="1622744"/>
            <a:ext cx="2099733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To Make a Simple Decision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OTHER 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561584" y="3278651"/>
            <a:ext cx="2648374" cy="113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DeMorgan’s</a:t>
            </a: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 Law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263668" y="3271522"/>
            <a:ext cx="2889874" cy="87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Short Circuit if Statements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5691800" y="1619431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Pseudocode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543603" y="934054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C314293D-E2EF-451B-ABA6-1EE845A67179}"/>
              </a:ext>
            </a:extLst>
          </p:cNvPr>
          <p:cNvSpPr txBox="1"/>
          <p:nvPr/>
        </p:nvSpPr>
        <p:spPr>
          <a:xfrm>
            <a:off x="1761067" y="1622744"/>
            <a:ext cx="2099733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Structured Programming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  <p:extLst>
      <p:ext uri="{BB962C8B-B14F-4D97-AF65-F5344CB8AC3E}">
        <p14:creationId xmlns:p14="http://schemas.microsoft.com/office/powerpoint/2010/main" val="54496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a switch Statement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350553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Enumerated Types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a Scanner and Its Methods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Boolean Variables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3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Scanner Review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217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Review:  Keyboard Input Using a Scanner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Start with the import</a:t>
            </a:r>
          </a:p>
          <a:p>
            <a:pPr marL="139700" indent="0"/>
            <a:r>
              <a:rPr lang="en-US" sz="2800" b="1" dirty="0"/>
              <a:t>	</a:t>
            </a:r>
            <a:r>
              <a:rPr lang="en-US" sz="2600" b="1" dirty="0"/>
              <a:t>import </a:t>
            </a:r>
            <a:r>
              <a:rPr lang="en-US" sz="2600" b="1" dirty="0" err="1"/>
              <a:t>java.util.Scanner</a:t>
            </a:r>
            <a:r>
              <a:rPr lang="en-US" sz="2600" b="1" dirty="0"/>
              <a:t>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should be at the beginning of your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comes before the “public class …”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Instantiating a Scanner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should be inside your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line to instantiate a Scanner is</a:t>
            </a:r>
          </a:p>
          <a:p>
            <a:pPr marL="596900" lvl="1" indent="0" algn="l"/>
            <a:r>
              <a:rPr lang="en-US" sz="2600" b="1" dirty="0"/>
              <a:t>Scanner keyboard = new Scanner</a:t>
            </a:r>
          </a:p>
          <a:p>
            <a:pPr marL="596900" lvl="1" indent="0" algn="l"/>
            <a:r>
              <a:rPr lang="en-US" sz="2600" b="1" dirty="0"/>
              <a:t>                                           (System.in);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choose the nickname for the Scanner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It’s now keyboard</a:t>
            </a:r>
          </a:p>
        </p:txBody>
      </p:sp>
    </p:spTree>
    <p:extLst>
      <p:ext uri="{BB962C8B-B14F-4D97-AF65-F5344CB8AC3E}">
        <p14:creationId xmlns:p14="http://schemas.microsoft.com/office/powerpoint/2010/main" val="1722783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Explaining that Line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46672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line is</a:t>
            </a:r>
          </a:p>
          <a:p>
            <a:pPr marL="596900" lvl="1" indent="0" algn="l"/>
            <a:r>
              <a:rPr lang="en-US" sz="2600" b="1" dirty="0"/>
              <a:t>    Scanner keyboard = new Scanner </a:t>
            </a:r>
          </a:p>
          <a:p>
            <a:pPr marL="596900" lvl="1" indent="0" algn="l"/>
            <a:r>
              <a:rPr lang="en-US" sz="2600" b="1" dirty="0"/>
              <a:t>                                                (System.in);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pieces are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Scanner:  The name of the class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keyboard:  A nickname you give the Scanner to use later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= new:  Creates a new object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Scanner:  The new object is a Scanner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(System.in):  Tells where input is from</a:t>
            </a:r>
          </a:p>
        </p:txBody>
      </p:sp>
    </p:spTree>
    <p:extLst>
      <p:ext uri="{BB962C8B-B14F-4D97-AF65-F5344CB8AC3E}">
        <p14:creationId xmlns:p14="http://schemas.microsoft.com/office/powerpoint/2010/main" val="2502913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the Scanner to Get Input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352470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an int, the initial read is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</a:t>
            </a:r>
            <a:r>
              <a:rPr lang="en-US" sz="2600" b="1" dirty="0"/>
              <a:t>int answer = </a:t>
            </a:r>
            <a:r>
              <a:rPr lang="en-US" sz="2600" b="1" dirty="0" err="1"/>
              <a:t>keyboard.nextInt</a:t>
            </a:r>
            <a:r>
              <a:rPr lang="en-US" sz="2600" b="1" dirty="0"/>
              <a:t>();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On the rest of the reads, use</a:t>
            </a:r>
          </a:p>
          <a:p>
            <a:pPr marL="596900" lvl="1" indent="0" algn="l"/>
            <a:r>
              <a:rPr lang="en-US" sz="2600" b="1" dirty="0"/>
              <a:t>    answer = </a:t>
            </a:r>
            <a:r>
              <a:rPr lang="en-US" sz="2600" b="1" dirty="0" err="1"/>
              <a:t>keyboard.nextInt</a:t>
            </a:r>
            <a:r>
              <a:rPr lang="en-US" sz="2600" b="1" dirty="0"/>
              <a:t>();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a double</a:t>
            </a:r>
          </a:p>
          <a:p>
            <a:pPr marL="139700" indent="0"/>
            <a:r>
              <a:rPr lang="en-US" sz="2800" b="1" dirty="0"/>
              <a:t>	</a:t>
            </a:r>
            <a:r>
              <a:rPr lang="en-US" sz="2600" b="1" dirty="0"/>
              <a:t>double cost = </a:t>
            </a:r>
            <a:r>
              <a:rPr lang="en-US" sz="2600" b="1" dirty="0" err="1"/>
              <a:t>keyboard.nextDouble</a:t>
            </a:r>
            <a:r>
              <a:rPr lang="en-US" sz="2600" b="1" dirty="0"/>
              <a:t>();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Scanner input is terminated by whitespace (space, tab, return)</a:t>
            </a:r>
          </a:p>
        </p:txBody>
      </p:sp>
    </p:spTree>
    <p:extLst>
      <p:ext uri="{BB962C8B-B14F-4D97-AF65-F5344CB8AC3E}">
        <p14:creationId xmlns:p14="http://schemas.microsoft.com/office/powerpoint/2010/main" val="1271514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More Scanner Ideas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317714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read a String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String </a:t>
            </a:r>
            <a:r>
              <a:rPr lang="en-US" sz="2600" b="1" dirty="0" err="1"/>
              <a:t>strAnswer</a:t>
            </a:r>
            <a:r>
              <a:rPr lang="en-US" sz="2600" b="1" dirty="0"/>
              <a:t> = </a:t>
            </a:r>
          </a:p>
          <a:p>
            <a:pPr marL="596900" lvl="1" indent="0" algn="l"/>
            <a:r>
              <a:rPr lang="en-US" sz="2600" b="1" dirty="0"/>
              <a:t>                                 </a:t>
            </a:r>
            <a:r>
              <a:rPr lang="en-US" sz="2600" b="1" dirty="0" err="1"/>
              <a:t>keyboard.nextLine</a:t>
            </a:r>
            <a:r>
              <a:rPr lang="en-US" sz="2600" b="1" dirty="0"/>
              <a:t>();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</a:t>
            </a:r>
            <a:r>
              <a:rPr lang="en-US" sz="2800" b="1" dirty="0" err="1"/>
              <a:t>nextLine</a:t>
            </a:r>
            <a:r>
              <a:rPr lang="en-US" sz="2800" b="1" dirty="0"/>
              <a:t>() method reads a line, but has another problem that we’ll talk about later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Scanner is quite powerful and has other methods</a:t>
            </a:r>
          </a:p>
        </p:txBody>
      </p:sp>
    </p:spTree>
    <p:extLst>
      <p:ext uri="{BB962C8B-B14F-4D97-AF65-F5344CB8AC3E}">
        <p14:creationId xmlns:p14="http://schemas.microsoft.com/office/powerpoint/2010/main" val="3834028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a Scanner to Read a Single Character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317714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doesn’t allow this directly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Use</a:t>
            </a:r>
          </a:p>
          <a:p>
            <a:pPr marL="139700" indent="0"/>
            <a:r>
              <a:rPr lang="en-US" sz="2800" b="1" dirty="0"/>
              <a:t>String </a:t>
            </a:r>
            <a:r>
              <a:rPr lang="en-US" sz="2800" b="1" dirty="0" err="1"/>
              <a:t>nameString</a:t>
            </a:r>
            <a:r>
              <a:rPr lang="en-US" sz="2800" b="1" dirty="0"/>
              <a:t> = </a:t>
            </a:r>
            <a:r>
              <a:rPr lang="en-US" sz="2800" b="1" dirty="0" err="1"/>
              <a:t>keyboard.nexLine</a:t>
            </a:r>
            <a:r>
              <a:rPr lang="en-US" sz="2800" b="1" dirty="0"/>
              <a:t>();</a:t>
            </a:r>
          </a:p>
          <a:p>
            <a:pPr marL="139700" indent="0"/>
            <a:r>
              <a:rPr lang="en-US" sz="2800" b="1" dirty="0"/>
              <a:t>char </a:t>
            </a:r>
            <a:r>
              <a:rPr lang="en-US" sz="2800" b="1" dirty="0" err="1"/>
              <a:t>middleInitial</a:t>
            </a:r>
            <a:r>
              <a:rPr lang="en-US" sz="2800" b="1" dirty="0"/>
              <a:t> = </a:t>
            </a:r>
            <a:r>
              <a:rPr lang="en-US" sz="2800" b="1" dirty="0" err="1"/>
              <a:t>nameString.charAt</a:t>
            </a:r>
            <a:r>
              <a:rPr lang="en-US" sz="2800" b="1" dirty="0"/>
              <a:t> (0);</a:t>
            </a:r>
          </a:p>
        </p:txBody>
      </p:sp>
    </p:spTree>
    <p:extLst>
      <p:ext uri="{BB962C8B-B14F-4D97-AF65-F5344CB8AC3E}">
        <p14:creationId xmlns:p14="http://schemas.microsoft.com/office/powerpoint/2010/main" val="2533048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A Problem with Reading Numbers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745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Reading a String after a Number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a common problem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</a:t>
            </a:r>
            <a:r>
              <a:rPr lang="en-US" sz="2800" b="1" dirty="0" err="1"/>
              <a:t>nextInt</a:t>
            </a:r>
            <a:r>
              <a:rPr lang="en-US" sz="2800" b="1" dirty="0"/>
              <a:t> method doesn't read the newline character at the end of your input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stops right before that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</a:t>
            </a:r>
            <a:r>
              <a:rPr lang="en-US" sz="2800" b="1" dirty="0" err="1"/>
              <a:t>nextLine</a:t>
            </a:r>
            <a:r>
              <a:rPr lang="en-US" sz="2800" b="1" dirty="0"/>
              <a:t> reads until the newline character and gives you a blank line</a:t>
            </a:r>
          </a:p>
        </p:txBody>
      </p:sp>
    </p:spTree>
    <p:extLst>
      <p:ext uri="{BB962C8B-B14F-4D97-AF65-F5344CB8AC3E}">
        <p14:creationId xmlns:p14="http://schemas.microsoft.com/office/powerpoint/2010/main" val="2364444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Common Solution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139700" indent="0"/>
            <a:r>
              <a:rPr lang="en-US" sz="2600" b="1" dirty="0"/>
              <a:t>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("Enter id");</a:t>
            </a:r>
          </a:p>
          <a:p>
            <a:pPr marL="139700" indent="0"/>
            <a:r>
              <a:rPr lang="en-US" sz="2600" b="1" dirty="0"/>
              <a:t>    int id1 = </a:t>
            </a:r>
            <a:r>
              <a:rPr lang="en-US" sz="2600" b="1" dirty="0" err="1"/>
              <a:t>keyboard.nextInt</a:t>
            </a:r>
            <a:r>
              <a:rPr lang="en-US" sz="2600" b="1" dirty="0"/>
              <a:t>();</a:t>
            </a:r>
          </a:p>
          <a:p>
            <a:pPr marL="139700" indent="0"/>
            <a:r>
              <a:rPr lang="en-US" sz="2600" b="1" dirty="0"/>
              <a:t>    </a:t>
            </a:r>
            <a:r>
              <a:rPr lang="en-US" sz="2600" b="1" dirty="0" err="1"/>
              <a:t>keyboard.nextLine</a:t>
            </a:r>
            <a:r>
              <a:rPr lang="en-US" sz="2600" b="1" dirty="0"/>
              <a:t>();  // Skip newline</a:t>
            </a:r>
          </a:p>
          <a:p>
            <a:pPr marL="139700" indent="0"/>
            <a:r>
              <a:rPr lang="en-US" sz="2600" b="1" dirty="0"/>
              <a:t>		              // After this, all is well</a:t>
            </a:r>
          </a:p>
          <a:p>
            <a:pPr marL="139700" indent="0"/>
            <a:r>
              <a:rPr lang="en-US" sz="2600" b="1" dirty="0"/>
              <a:t>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("Enter name");</a:t>
            </a:r>
          </a:p>
          <a:p>
            <a:pPr marL="139700" indent="0"/>
            <a:r>
              <a:rPr lang="en-US" sz="2600" b="1" dirty="0"/>
              <a:t>    name1 = </a:t>
            </a:r>
            <a:r>
              <a:rPr lang="en-US" sz="2600" b="1" dirty="0" err="1"/>
              <a:t>keyboard.nextLine</a:t>
            </a:r>
            <a:r>
              <a:rPr lang="en-US" sz="2600" b="1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715982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The Main Idea:  Making Decisions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67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Chapter 3 Itself:  Making Decisions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wake up in the morning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want a cup of coffee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 could make it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if you don’t have coffee at home?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Another option is stopping at the local coffee shop</a:t>
            </a:r>
          </a:p>
        </p:txBody>
      </p:sp>
    </p:spTree>
    <p:extLst>
      <p:ext uri="{BB962C8B-B14F-4D97-AF65-F5344CB8AC3E}">
        <p14:creationId xmlns:p14="http://schemas.microsoft.com/office/powerpoint/2010/main" val="3948927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Your Trip to Work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28753D-E751-48EE-A2E0-19A33D30D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239" y="1568486"/>
            <a:ext cx="5599174" cy="234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07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Details of the Morning Plan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have coffee grounds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Make coffee at home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Take the interstate to work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It’s faster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Otherwise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Take the local road to the coffee shop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Buy coffee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Continue on the local road to work</a:t>
            </a:r>
          </a:p>
        </p:txBody>
      </p:sp>
    </p:spTree>
    <p:extLst>
      <p:ext uri="{BB962C8B-B14F-4D97-AF65-F5344CB8AC3E}">
        <p14:creationId xmlns:p14="http://schemas.microsoft.com/office/powerpoint/2010/main" val="4055810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Making Choices in Java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On a paper test, I write “Very well done” on a test if a person gets 100%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Otherwise, I don’t write anything.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sample code</a:t>
            </a:r>
          </a:p>
          <a:p>
            <a:pPr marL="596900" lvl="1" indent="0" algn="l"/>
            <a:r>
              <a:rPr lang="en-US" sz="2400" b="1" dirty="0"/>
              <a:t>if (</a:t>
            </a:r>
            <a:r>
              <a:rPr lang="en-US" sz="2400" b="1" dirty="0" err="1"/>
              <a:t>testScore</a:t>
            </a:r>
            <a:r>
              <a:rPr lang="en-US" sz="2400" b="1" dirty="0"/>
              <a:t> = = 100)</a:t>
            </a:r>
          </a:p>
          <a:p>
            <a:pPr marL="596900" lvl="1" indent="0" algn="l"/>
            <a:r>
              <a:rPr lang="en-US" sz="2400" b="1" dirty="0"/>
              <a:t>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 ("Very well done!");</a:t>
            </a:r>
          </a:p>
        </p:txBody>
      </p:sp>
    </p:spTree>
    <p:extLst>
      <p:ext uri="{BB962C8B-B14F-4D97-AF65-F5344CB8AC3E}">
        <p14:creationId xmlns:p14="http://schemas.microsoft.com/office/powerpoint/2010/main" val="979341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Things to Note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always indent the line after an if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no semi-colon after the if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= = tests if two things are equal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There is no space between the equal signs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 add it so you can see that there are two equal signs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decision is enclosed in parentheses</a:t>
            </a:r>
          </a:p>
        </p:txBody>
      </p:sp>
    </p:spTree>
    <p:extLst>
      <p:ext uri="{BB962C8B-B14F-4D97-AF65-F5344CB8AC3E}">
        <p14:creationId xmlns:p14="http://schemas.microsoft.com/office/powerpoint/2010/main" val="723694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Structured Programming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a technique that was devised in the1970s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adds order (structures) to code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Like most new techniques, it helps prevent bugs that were common in the past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Every program should be made of only three structures</a:t>
            </a:r>
          </a:p>
        </p:txBody>
      </p:sp>
    </p:spTree>
    <p:extLst>
      <p:ext uri="{BB962C8B-B14F-4D97-AF65-F5344CB8AC3E}">
        <p14:creationId xmlns:p14="http://schemas.microsoft.com/office/powerpoint/2010/main" val="37622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Structured Programming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406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Three Structures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Sequence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Decision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?  (Coming in Chapter 4)</a:t>
            </a:r>
          </a:p>
        </p:txBody>
      </p:sp>
    </p:spTree>
    <p:extLst>
      <p:ext uri="{BB962C8B-B14F-4D97-AF65-F5344CB8AC3E}">
        <p14:creationId xmlns:p14="http://schemas.microsoft.com/office/powerpoint/2010/main" val="3314137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Decisions with </a:t>
            </a:r>
            <a:r>
              <a:rPr lang="en-US" sz="3500" dirty="0" err="1"/>
              <a:t>elses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587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Another Example of a Decision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have an account at a bank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have overdraft protection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the decision (test)</a:t>
            </a:r>
          </a:p>
          <a:p>
            <a:pPr marL="139700" indent="0"/>
            <a:r>
              <a:rPr lang="en-US" sz="2800" b="1" dirty="0"/>
              <a:t>    If your account balance is &gt;= 0</a:t>
            </a:r>
          </a:p>
          <a:p>
            <a:pPr marL="596900" lvl="1" indent="0" algn="l"/>
            <a:r>
              <a:rPr lang="en-US" sz="2800" b="1" dirty="0"/>
              <a:t>  Add interest to account</a:t>
            </a:r>
          </a:p>
          <a:p>
            <a:pPr marL="139700" indent="0"/>
            <a:r>
              <a:rPr lang="en-US" sz="2800" b="1" dirty="0"/>
              <a:t>    Or else</a:t>
            </a:r>
          </a:p>
          <a:p>
            <a:pPr marL="596900" lvl="1" indent="0" algn="l"/>
            <a:r>
              <a:rPr lang="en-US" sz="2800" b="1" dirty="0"/>
              <a:t>  Charge overdraft fee</a:t>
            </a:r>
          </a:p>
        </p:txBody>
      </p:sp>
    </p:spTree>
    <p:extLst>
      <p:ext uri="{BB962C8B-B14F-4D97-AF65-F5344CB8AC3E}">
        <p14:creationId xmlns:p14="http://schemas.microsoft.com/office/powerpoint/2010/main" val="3393903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Coding the Decision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First, create two constants</a:t>
            </a:r>
          </a:p>
          <a:p>
            <a:pPr marL="596900" lvl="1" indent="0" algn="l"/>
            <a:r>
              <a:rPr lang="en-US" sz="2400" b="1" dirty="0"/>
              <a:t>   final double INTEREST_RATE = 0.015;</a:t>
            </a:r>
          </a:p>
          <a:p>
            <a:pPr marL="596900" lvl="1" indent="0" algn="l"/>
            <a:r>
              <a:rPr lang="en-US" sz="2400" b="1" dirty="0"/>
              <a:t>   final double OVERDRAFT_FEE = 35;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Rest of the Code</a:t>
            </a:r>
          </a:p>
          <a:p>
            <a:pPr marL="596900" lvl="1" indent="0" algn="l"/>
            <a:r>
              <a:rPr lang="en-US" sz="2400" b="1" dirty="0"/>
              <a:t>   if (</a:t>
            </a:r>
            <a:r>
              <a:rPr lang="en-US" sz="2400" b="1" dirty="0" err="1"/>
              <a:t>accountBalance</a:t>
            </a:r>
            <a:r>
              <a:rPr lang="en-US" sz="2400" b="1" dirty="0"/>
              <a:t> &gt;= 0)</a:t>
            </a:r>
          </a:p>
          <a:p>
            <a:pPr marL="596900" lvl="1" indent="0" algn="l"/>
            <a:r>
              <a:rPr lang="en-US" sz="2400" b="1" dirty="0"/>
              <a:t>        </a:t>
            </a:r>
            <a:r>
              <a:rPr lang="en-US" sz="2400" b="1" dirty="0" err="1"/>
              <a:t>accountBalance</a:t>
            </a:r>
            <a:r>
              <a:rPr lang="en-US" sz="2400" b="1" dirty="0"/>
              <a:t> = </a:t>
            </a:r>
            <a:r>
              <a:rPr lang="en-US" sz="2400" b="1" dirty="0" err="1"/>
              <a:t>accountBalance</a:t>
            </a:r>
            <a:r>
              <a:rPr lang="en-US" sz="2400" b="1" dirty="0"/>
              <a:t> </a:t>
            </a:r>
          </a:p>
          <a:p>
            <a:pPr marL="596900" lvl="1" indent="0" algn="l"/>
            <a:r>
              <a:rPr lang="en-US" sz="2400" b="1" dirty="0"/>
              <a:t>           + INTEREST_RATE * </a:t>
            </a:r>
            <a:r>
              <a:rPr lang="en-US" sz="2400" b="1" dirty="0" err="1"/>
              <a:t>accountBalance</a:t>
            </a:r>
            <a:r>
              <a:rPr lang="en-US" sz="2400" b="1" dirty="0"/>
              <a:t>;</a:t>
            </a:r>
          </a:p>
          <a:p>
            <a:pPr marL="596900" lvl="1" indent="0" algn="l"/>
            <a:r>
              <a:rPr lang="en-US" sz="2400" b="1" dirty="0"/>
              <a:t>   else</a:t>
            </a:r>
          </a:p>
          <a:p>
            <a:pPr marL="596900" lvl="1" indent="0" algn="l"/>
            <a:r>
              <a:rPr lang="en-US" sz="2400" b="1" dirty="0"/>
              <a:t>         </a:t>
            </a:r>
            <a:r>
              <a:rPr lang="en-US" sz="2400" b="1" dirty="0" err="1"/>
              <a:t>accountBalance</a:t>
            </a:r>
            <a:r>
              <a:rPr lang="en-US" sz="2400" b="1" dirty="0"/>
              <a:t> = </a:t>
            </a:r>
            <a:r>
              <a:rPr lang="en-US" sz="2400" b="1" dirty="0" err="1"/>
              <a:t>accountBalance</a:t>
            </a:r>
            <a:r>
              <a:rPr lang="en-US" sz="2400" b="1" dirty="0"/>
              <a:t> - 				OVERDRAFT_FEE;</a:t>
            </a:r>
          </a:p>
        </p:txBody>
      </p:sp>
    </p:spTree>
    <p:extLst>
      <p:ext uri="{BB962C8B-B14F-4D97-AF65-F5344CB8AC3E}">
        <p14:creationId xmlns:p14="http://schemas.microsoft.com/office/powerpoint/2010/main" val="6302387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</TotalTime>
  <Words>865</Words>
  <Application>Microsoft Office PowerPoint</Application>
  <PresentationFormat>On-screen Show (16:9)</PresentationFormat>
  <Paragraphs>164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Bebas Neue</vt:lpstr>
      <vt:lpstr>Kalam</vt:lpstr>
      <vt:lpstr>Special Elite</vt:lpstr>
      <vt:lpstr>US Great Outdoors Month by Slidesgo</vt:lpstr>
      <vt:lpstr>Introduction to Object-Oriented Programming: Java</vt:lpstr>
      <vt:lpstr>Chapter 3</vt:lpstr>
      <vt:lpstr>Vocabulary, Concepts, and  Skills</vt:lpstr>
      <vt:lpstr>VOCABULARY</vt:lpstr>
      <vt:lpstr>CONCEPTS:  USING AN if STATEMENT-</vt:lpstr>
      <vt:lpstr>OTHER CONCEPTS</vt:lpstr>
      <vt:lpstr>SKILLS</vt:lpstr>
      <vt:lpstr>Chapter 3</vt:lpstr>
      <vt:lpstr>Scanner Review</vt:lpstr>
      <vt:lpstr>Review:  Keyboard Input Using a Scanner</vt:lpstr>
      <vt:lpstr>Instantiating a Scanner</vt:lpstr>
      <vt:lpstr>Explaining that Line</vt:lpstr>
      <vt:lpstr>Using the Scanner to Get Input</vt:lpstr>
      <vt:lpstr>More Scanner Ideas</vt:lpstr>
      <vt:lpstr>Using a Scanner to Read a Single Character</vt:lpstr>
      <vt:lpstr>A Problem with Reading Numbers</vt:lpstr>
      <vt:lpstr>Reading a String after a Number</vt:lpstr>
      <vt:lpstr>A Common Solution</vt:lpstr>
      <vt:lpstr>The Main Idea:  Making Decisions</vt:lpstr>
      <vt:lpstr>Chapter 3 Itself:  Making Decisions</vt:lpstr>
      <vt:lpstr>Your Trip to Work</vt:lpstr>
      <vt:lpstr>Details of the Morning Plan</vt:lpstr>
      <vt:lpstr>Making Choices in Java</vt:lpstr>
      <vt:lpstr>Things to Note</vt:lpstr>
      <vt:lpstr>Structured Programming</vt:lpstr>
      <vt:lpstr>Structured Programming</vt:lpstr>
      <vt:lpstr>The Three Structures</vt:lpstr>
      <vt:lpstr>Decisions with elses</vt:lpstr>
      <vt:lpstr>Another Example of a Decision</vt:lpstr>
      <vt:lpstr>Coding the Decision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James Hoffman</cp:lastModifiedBy>
  <cp:revision>116</cp:revision>
  <dcterms:modified xsi:type="dcterms:W3CDTF">2022-06-27T13:50:41Z</dcterms:modified>
</cp:coreProperties>
</file>