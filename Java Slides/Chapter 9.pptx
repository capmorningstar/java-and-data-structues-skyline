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49"/>
  </p:notesMasterIdLst>
  <p:sldIdLst>
    <p:sldId id="256" r:id="rId2"/>
    <p:sldId id="381" r:id="rId3"/>
    <p:sldId id="282" r:id="rId4"/>
    <p:sldId id="257" r:id="rId5"/>
    <p:sldId id="512" r:id="rId6"/>
    <p:sldId id="291" r:id="rId7"/>
    <p:sldId id="396" r:id="rId8"/>
    <p:sldId id="394" r:id="rId9"/>
    <p:sldId id="561" r:id="rId10"/>
    <p:sldId id="562" r:id="rId11"/>
    <p:sldId id="563" r:id="rId12"/>
    <p:sldId id="564" r:id="rId13"/>
    <p:sldId id="565" r:id="rId14"/>
    <p:sldId id="566" r:id="rId15"/>
    <p:sldId id="598" r:id="rId16"/>
    <p:sldId id="567" r:id="rId17"/>
    <p:sldId id="599" r:id="rId18"/>
    <p:sldId id="568" r:id="rId19"/>
    <p:sldId id="569" r:id="rId20"/>
    <p:sldId id="596" r:id="rId21"/>
    <p:sldId id="570" r:id="rId22"/>
    <p:sldId id="600" r:id="rId23"/>
    <p:sldId id="571" r:id="rId24"/>
    <p:sldId id="601" r:id="rId25"/>
    <p:sldId id="572" r:id="rId26"/>
    <p:sldId id="608" r:id="rId27"/>
    <p:sldId id="573" r:id="rId28"/>
    <p:sldId id="602" r:id="rId29"/>
    <p:sldId id="574" r:id="rId30"/>
    <p:sldId id="575" r:id="rId31"/>
    <p:sldId id="603" r:id="rId32"/>
    <p:sldId id="576" r:id="rId33"/>
    <p:sldId id="597" r:id="rId34"/>
    <p:sldId id="577" r:id="rId35"/>
    <p:sldId id="604" r:id="rId36"/>
    <p:sldId id="578" r:id="rId37"/>
    <p:sldId id="579" r:id="rId38"/>
    <p:sldId id="605" r:id="rId39"/>
    <p:sldId id="580" r:id="rId40"/>
    <p:sldId id="606" r:id="rId41"/>
    <p:sldId id="581" r:id="rId42"/>
    <p:sldId id="607" r:id="rId43"/>
    <p:sldId id="582" r:id="rId44"/>
    <p:sldId id="583" r:id="rId45"/>
    <p:sldId id="584" r:id="rId46"/>
    <p:sldId id="585" r:id="rId47"/>
    <p:sldId id="290" r:id="rId48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834" y="78"/>
      </p:cViewPr>
      <p:guideLst/>
    </p:cSldViewPr>
  </p:slideViewPr>
  <p:outlineViewPr>
    <p:cViewPr>
      <p:scale>
        <a:sx n="33" d="100"/>
        <a:sy n="33" d="100"/>
      </p:scale>
      <p:origin x="0" y="-179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6822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181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164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563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000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150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019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576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019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219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79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067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9760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498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6826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9177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879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624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4772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840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964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199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7627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014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7181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49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3103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188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0795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704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7230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1455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87939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3734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9795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6124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1215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6452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933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82392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6993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99965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1432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2906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90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9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190044" y="2884950"/>
            <a:ext cx="496836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Exception Handling</a:t>
            </a:r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059731"/>
              </p:ext>
            </p:extLst>
          </p:nvPr>
        </p:nvGraphicFramePr>
        <p:xfrm>
          <a:off x="720000" y="1631494"/>
          <a:ext cx="7437014" cy="222504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15680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280214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Exception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Catching an exception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Handling an exception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Checked exceptions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 stack trace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Unchecked exceptions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Throwing an exception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Catch or specify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 try block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finally block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 catch block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1703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5143192" y="3300779"/>
            <a:ext cx="2767526" cy="8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Knowing when to use an exception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8086B052-88F4-4EE9-8247-EF39A774ECB6}"/>
              </a:ext>
            </a:extLst>
          </p:cNvPr>
          <p:cNvSpPr txBox="1"/>
          <p:nvPr/>
        </p:nvSpPr>
        <p:spPr>
          <a:xfrm>
            <a:off x="1504637" y="1604444"/>
            <a:ext cx="2615807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Writing code to Handle an Exception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1746351" y="3368648"/>
            <a:ext cx="2276011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You can respond to any exception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6" name="Google Shape;1443;p63">
            <a:extLst>
              <a:ext uri="{FF2B5EF4-FFF2-40B4-BE49-F238E27FC236}">
                <a16:creationId xmlns:a16="http://schemas.microsoft.com/office/drawing/2014/main" id="{5E9DA5D1-9388-4855-86F1-E2335B68483A}"/>
              </a:ext>
            </a:extLst>
          </p:cNvPr>
          <p:cNvSpPr txBox="1"/>
          <p:nvPr/>
        </p:nvSpPr>
        <p:spPr>
          <a:xfrm>
            <a:off x="5433350" y="1604444"/>
            <a:ext cx="220601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An exception creates an object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39356" y="3005789"/>
            <a:ext cx="2431122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Java’s pre-defined exceptions</a:t>
            </a: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your own exceptions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637938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the throws clause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5889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a try block</a:t>
            </a: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1022;p50">
            <a:extLst>
              <a:ext uri="{FF2B5EF4-FFF2-40B4-BE49-F238E27FC236}">
                <a16:creationId xmlns:a16="http://schemas.microsoft.com/office/drawing/2014/main" id="{AA5AC291-A870-4499-9DC3-672B5D715923}"/>
              </a:ext>
            </a:extLst>
          </p:cNvPr>
          <p:cNvSpPr txBox="1">
            <a:spLocks/>
          </p:cNvSpPr>
          <p:nvPr/>
        </p:nvSpPr>
        <p:spPr>
          <a:xfrm>
            <a:off x="6073422" y="1275888"/>
            <a:ext cx="2228884" cy="112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a catch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9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Introducing Exceptions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exception is an error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one occurs, you need to respond to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say you handle the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compare two runs of a program set to handle an exception</a:t>
            </a:r>
          </a:p>
        </p:txBody>
      </p:sp>
    </p:spTree>
    <p:extLst>
      <p:ext uri="{BB962C8B-B14F-4D97-AF65-F5344CB8AC3E}">
        <p14:creationId xmlns:p14="http://schemas.microsoft.com/office/powerpoint/2010/main" val="332973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57069" cy="590038"/>
          </a:xfrm>
        </p:spPr>
        <p:txBody>
          <a:bodyPr/>
          <a:lstStyle/>
          <a:p>
            <a:pPr algn="l"/>
            <a:r>
              <a:rPr lang="en-US" sz="3600" dirty="0"/>
              <a:t>The Program </a:t>
            </a:r>
            <a:r>
              <a:rPr lang="en-US" sz="3600" dirty="0" err="1"/>
              <a:t>UsesExceptionDemo</a:t>
            </a:r>
            <a:endParaRPr lang="en-US" sz="36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p. 680, Fig. 9.3:  Flow of control with no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shows how the program runs when there is no error (exception)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p. 681, Fig. 9.4:  Flow of control when an exception occurs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shows how the program runs when an exception occurs</a:t>
            </a:r>
          </a:p>
        </p:txBody>
      </p:sp>
    </p:spTree>
    <p:extLst>
      <p:ext uri="{BB962C8B-B14F-4D97-AF65-F5344CB8AC3E}">
        <p14:creationId xmlns:p14="http://schemas.microsoft.com/office/powerpoint/2010/main" val="236718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Breakfast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 simple program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Read in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 number of glasses of milk (</a:t>
            </a:r>
            <a:r>
              <a:rPr lang="en-US" sz="2400" b="1" dirty="0" err="1"/>
              <a:t>milkCount</a:t>
            </a:r>
            <a:r>
              <a:rPr lang="en-US" sz="2400" b="1" dirty="0"/>
              <a:t>)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number of donuts (</a:t>
            </a:r>
            <a:r>
              <a:rPr lang="en-US" sz="2400" b="1" dirty="0" err="1"/>
              <a:t>donutCount</a:t>
            </a:r>
            <a:r>
              <a:rPr lang="en-US" sz="2400" b="1" dirty="0"/>
              <a:t>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Calculate the number of donuts per glass of milk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 err="1"/>
              <a:t>donutsPerGlass</a:t>
            </a:r>
            <a:r>
              <a:rPr lang="en-US" sz="2400" b="1" dirty="0"/>
              <a:t> = </a:t>
            </a:r>
            <a:r>
              <a:rPr lang="en-US" sz="2400" b="1" dirty="0" err="1"/>
              <a:t>donutCount</a:t>
            </a:r>
            <a:r>
              <a:rPr lang="en-US" sz="2400" b="1" dirty="0"/>
              <a:t> / </a:t>
            </a:r>
            <a:r>
              <a:rPr lang="en-US" sz="2400" b="1" dirty="0" err="1"/>
              <a:t>milkCount</a:t>
            </a:r>
            <a:endParaRPr lang="en-US" sz="24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can go wrong?</a:t>
            </a:r>
          </a:p>
        </p:txBody>
      </p:sp>
    </p:spTree>
    <p:extLst>
      <p:ext uri="{BB962C8B-B14F-4D97-AF65-F5344CB8AC3E}">
        <p14:creationId xmlns:p14="http://schemas.microsoft.com/office/powerpoint/2010/main" val="509608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Potential Problem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check GotMilk-v1.java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if the person has no milk?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program bombs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gives a stack trace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</a:t>
            </a:r>
            <a:r>
              <a:rPr lang="en-US" sz="2800" b="1" dirty="0" err="1"/>
              <a:t>DivideByZero</a:t>
            </a:r>
            <a:r>
              <a:rPr lang="en-US" sz="2800" b="1" dirty="0"/>
              <a:t> for an idea of a stack trace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47882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Avoiding the Problem-First Try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Catch the error on input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GotMilk-v2.java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uses an if statement</a:t>
            </a:r>
          </a:p>
        </p:txBody>
      </p:sp>
    </p:spTree>
    <p:extLst>
      <p:ext uri="{BB962C8B-B14F-4D97-AF65-F5344CB8AC3E}">
        <p14:creationId xmlns:p14="http://schemas.microsoft.com/office/powerpoint/2010/main" val="4134771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76588" cy="590038"/>
          </a:xfrm>
        </p:spPr>
        <p:txBody>
          <a:bodyPr/>
          <a:lstStyle/>
          <a:p>
            <a:pPr algn="l"/>
            <a:r>
              <a:rPr lang="en-US" sz="3600" dirty="0"/>
              <a:t>Avoiding the Problem-Second Try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 an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GotMilk-v3.java  (Uses exception)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Any time an exception is thrown Java creates an Exception object</a:t>
            </a:r>
          </a:p>
        </p:txBody>
      </p:sp>
    </p:spTree>
    <p:extLst>
      <p:ext uri="{BB962C8B-B14F-4D97-AF65-F5344CB8AC3E}">
        <p14:creationId xmlns:p14="http://schemas.microsoft.com/office/powerpoint/2010/main" val="18111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Exception Vocabulary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276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Exception Vocabulary 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exception is thrown  (It happens)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try block watches for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exception is caught (It’s processed)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catch block responds to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have several catch statements</a:t>
            </a:r>
          </a:p>
        </p:txBody>
      </p:sp>
    </p:spTree>
    <p:extLst>
      <p:ext uri="{BB962C8B-B14F-4D97-AF65-F5344CB8AC3E}">
        <p14:creationId xmlns:p14="http://schemas.microsoft.com/office/powerpoint/2010/main" val="3664860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Exception Processing Syntax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Syntax for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400" b="1" dirty="0"/>
              <a:t>try</a:t>
            </a:r>
          </a:p>
          <a:p>
            <a:pPr marL="139700" indent="0"/>
            <a:r>
              <a:rPr lang="en-US" sz="2400" b="1" dirty="0"/>
              <a:t>{</a:t>
            </a:r>
          </a:p>
          <a:p>
            <a:pPr marL="139700" indent="0"/>
            <a:r>
              <a:rPr lang="en-US" sz="2400" b="1" dirty="0"/>
              <a:t>     // Code that might have an exception</a:t>
            </a:r>
          </a:p>
          <a:p>
            <a:pPr marL="139700" indent="0"/>
            <a:r>
              <a:rPr lang="en-US" sz="2400" b="1" dirty="0"/>
              <a:t>}</a:t>
            </a:r>
          </a:p>
          <a:p>
            <a:pPr marL="139700" indent="0"/>
            <a:r>
              <a:rPr lang="en-US" sz="2400" b="1" dirty="0"/>
              <a:t>catch (Exception </a:t>
            </a:r>
            <a:r>
              <a:rPr lang="en-US" sz="2400" b="1" dirty="0" err="1"/>
              <a:t>myException</a:t>
            </a:r>
            <a:r>
              <a:rPr lang="en-US" sz="2400" b="1" dirty="0"/>
              <a:t>)</a:t>
            </a:r>
          </a:p>
          <a:p>
            <a:pPr marL="139700" indent="0"/>
            <a:r>
              <a:rPr lang="en-US" sz="2400" b="1" dirty="0"/>
              <a:t>{</a:t>
            </a:r>
          </a:p>
          <a:p>
            <a:pPr marL="139700" indent="0"/>
            <a:r>
              <a:rPr lang="en-US" sz="2400" b="1" dirty="0"/>
              <a:t>     // Code to handle exception</a:t>
            </a:r>
          </a:p>
          <a:p>
            <a:pPr marL="139700" indent="0"/>
            <a:r>
              <a:rPr lang="en-US" sz="2400" b="1" dirty="0"/>
              <a:t>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 (</a:t>
            </a:r>
            <a:r>
              <a:rPr lang="en-US" sz="2400" b="1" dirty="0" err="1"/>
              <a:t>myException.getMessage</a:t>
            </a:r>
            <a:r>
              <a:rPr lang="en-US" sz="2400" b="1" dirty="0"/>
              <a:t>());</a:t>
            </a:r>
          </a:p>
          <a:p>
            <a:pPr marL="139700" indent="0"/>
            <a:r>
              <a:rPr 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9040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Catch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syntax is: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catch (Exception e)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 is a parameter like any other parameter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Its type is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way of coding will catch any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846905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57069" cy="590038"/>
          </a:xfrm>
        </p:spPr>
        <p:txBody>
          <a:bodyPr/>
          <a:lstStyle/>
          <a:p>
            <a:pPr algn="l"/>
            <a:r>
              <a:rPr lang="en-US" sz="3600" dirty="0"/>
              <a:t>More Catch Statement Syntax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88329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Instead of coding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catch (Exception…)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code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catch (</a:t>
            </a:r>
            <a:r>
              <a:rPr lang="en-US" sz="2400" b="1" dirty="0" err="1"/>
              <a:t>ArrayIndexOutOfBoundsException</a:t>
            </a:r>
            <a:r>
              <a:rPr lang="en-US" sz="2400" b="1" dirty="0"/>
              <a:t> …)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version will only catch index out of bounds exceptions</a:t>
            </a:r>
          </a:p>
        </p:txBody>
      </p:sp>
    </p:spTree>
    <p:extLst>
      <p:ext uri="{BB962C8B-B14F-4D97-AF65-F5344CB8AC3E}">
        <p14:creationId xmlns:p14="http://schemas.microsoft.com/office/powerpoint/2010/main" val="2914044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57069" cy="590038"/>
          </a:xfrm>
        </p:spPr>
        <p:txBody>
          <a:bodyPr/>
          <a:lstStyle/>
          <a:p>
            <a:pPr algn="l"/>
            <a:r>
              <a:rPr lang="en-US" sz="3600" dirty="0"/>
              <a:t>Should I Catch an Exception?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9771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comment on bottom of p. 675: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“Because this example is so simple, we probably would not actually use exception handling here.”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Also, in the green box inside the code on p. 688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“Sometimes, dealing with an exceptional case without throwing an exception is better.”</a:t>
            </a:r>
          </a:p>
        </p:txBody>
      </p:sp>
    </p:spTree>
    <p:extLst>
      <p:ext uri="{BB962C8B-B14F-4D97-AF65-F5344CB8AC3E}">
        <p14:creationId xmlns:p14="http://schemas.microsoft.com/office/powerpoint/2010/main" val="304022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Pre-defined Exceptions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456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737655" cy="590038"/>
          </a:xfrm>
        </p:spPr>
        <p:txBody>
          <a:bodyPr/>
          <a:lstStyle/>
          <a:p>
            <a:pPr algn="l"/>
            <a:r>
              <a:rPr lang="en-US" sz="3600" dirty="0"/>
              <a:t>Java’s Predefined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Java’s Pre-defined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about 40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should use them if possible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Some examples are on p. 686</a:t>
            </a:r>
          </a:p>
        </p:txBody>
      </p:sp>
    </p:spTree>
    <p:extLst>
      <p:ext uri="{BB962C8B-B14F-4D97-AF65-F5344CB8AC3E}">
        <p14:creationId xmlns:p14="http://schemas.microsoft.com/office/powerpoint/2010/main" val="3614605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Checked Exceptions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07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785109" cy="590038"/>
          </a:xfrm>
        </p:spPr>
        <p:txBody>
          <a:bodyPr/>
          <a:lstStyle/>
          <a:p>
            <a:pPr algn="l"/>
            <a:r>
              <a:rPr lang="en-US" sz="3300" dirty="0"/>
              <a:t>Checked, Unchecked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7050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has checked and unchecked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checked exception is one that should be caught at compile time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unchecked exception is one that happens while the program is running </a:t>
            </a:r>
          </a:p>
        </p:txBody>
      </p:sp>
    </p:spTree>
    <p:extLst>
      <p:ext uri="{BB962C8B-B14F-4D97-AF65-F5344CB8AC3E}">
        <p14:creationId xmlns:p14="http://schemas.microsoft.com/office/powerpoint/2010/main" val="14935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785109" cy="590038"/>
          </a:xfrm>
        </p:spPr>
        <p:txBody>
          <a:bodyPr/>
          <a:lstStyle/>
          <a:p>
            <a:pPr algn="l"/>
            <a:r>
              <a:rPr lang="en-US" sz="3300" dirty="0"/>
              <a:t>Checked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7050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checked exception is one that should be caught at compile time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need to address these exceptions when you write your code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Addressing them means adding imports, try and catch blocks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won’t let your code compile if you </a:t>
            </a:r>
            <a:r>
              <a:rPr lang="en-US" sz="2800" b="1"/>
              <a:t>don’t address them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299746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Checked Exception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an example of a checked exception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File not found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write a program that uses files, you need to address this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don’t, Java will not let your program compile</a:t>
            </a:r>
          </a:p>
        </p:txBody>
      </p:sp>
    </p:spTree>
    <p:extLst>
      <p:ext uri="{BB962C8B-B14F-4D97-AF65-F5344CB8AC3E}">
        <p14:creationId xmlns:p14="http://schemas.microsoft.com/office/powerpoint/2010/main" val="141154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Unchecked Exceptions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72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Unchecked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are also called runtime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are usually due to bugs in code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may be explicit, due to bad coding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may be because you didn’t plan for some outcome</a:t>
            </a:r>
          </a:p>
        </p:txBody>
      </p:sp>
    </p:spTree>
    <p:extLst>
      <p:ext uri="{BB962C8B-B14F-4D97-AF65-F5344CB8AC3E}">
        <p14:creationId xmlns:p14="http://schemas.microsoft.com/office/powerpoint/2010/main" val="986495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Unchecked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two unchecked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ArrayIndexOutOfBounds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ArithmeticException</a:t>
            </a:r>
            <a:r>
              <a:rPr lang="en-US" sz="2800" b="1" dirty="0"/>
              <a:t> (Division by 0)</a:t>
            </a:r>
          </a:p>
        </p:txBody>
      </p:sp>
    </p:spTree>
    <p:extLst>
      <p:ext uri="{BB962C8B-B14F-4D97-AF65-F5344CB8AC3E}">
        <p14:creationId xmlns:p14="http://schemas.microsoft.com/office/powerpoint/2010/main" val="2239482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Your Own Exceptions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24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956214" cy="590038"/>
          </a:xfrm>
        </p:spPr>
        <p:txBody>
          <a:bodyPr/>
          <a:lstStyle/>
          <a:p>
            <a:pPr algn="l"/>
            <a:r>
              <a:rPr lang="en-US" sz="3600" dirty="0"/>
              <a:t>Creating Your Own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502494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create your own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syntax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throw new Exception (</a:t>
            </a:r>
            <a:r>
              <a:rPr lang="en-US" sz="2600" b="1" dirty="0" err="1"/>
              <a:t>messageStr</a:t>
            </a:r>
            <a:r>
              <a:rPr lang="en-US" sz="26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messageStr</a:t>
            </a:r>
            <a:r>
              <a:rPr lang="en-US" sz="2800" b="1" dirty="0"/>
              <a:t> will be printed if the exception occurs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</a:t>
            </a:r>
            <a:r>
              <a:rPr lang="en-US" sz="2800" b="1" dirty="0" err="1"/>
              <a:t>ExceptionDemo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7325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956214" cy="590038"/>
          </a:xfrm>
        </p:spPr>
        <p:txBody>
          <a:bodyPr/>
          <a:lstStyle/>
          <a:p>
            <a:pPr algn="l"/>
            <a:r>
              <a:rPr lang="en-US" sz="3600" dirty="0"/>
              <a:t>Your Own Exceptions-More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502494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Recap (Programmer-Defined Exception Classes) on bottom of p. 693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959665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Ignoring an Exception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if a method ignores an exception?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PassExceptionUp.java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that it uses throws … in a method header</a:t>
            </a:r>
          </a:p>
        </p:txBody>
      </p:sp>
    </p:spTree>
    <p:extLst>
      <p:ext uri="{BB962C8B-B14F-4D97-AF65-F5344CB8AC3E}">
        <p14:creationId xmlns:p14="http://schemas.microsoft.com/office/powerpoint/2010/main" val="317106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29927" y="1957828"/>
            <a:ext cx="3967383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300" dirty="0"/>
              <a:t>Exceptions: Who should process them?</a:t>
            </a:r>
            <a:endParaRPr sz="33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86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Catch or Specify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that you always need to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explicitly catch an exception, 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specify that it might occur using throws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must always do that for a checked exception</a:t>
            </a:r>
          </a:p>
        </p:txBody>
      </p:sp>
    </p:spTree>
    <p:extLst>
      <p:ext uri="{BB962C8B-B14F-4D97-AF65-F5344CB8AC3E}">
        <p14:creationId xmlns:p14="http://schemas.microsoft.com/office/powerpoint/2010/main" val="1582277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Many catch Statements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have many catch statements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order of the catch statements is important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Exception processing selects the first matching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</a:t>
            </a:r>
            <a:r>
              <a:rPr lang="en-US" sz="2800" b="1" dirty="0" err="1"/>
              <a:t>TwoCatches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9728586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29927" y="1957828"/>
            <a:ext cx="3967383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300" dirty="0"/>
              <a:t>An Exception is an Object</a:t>
            </a:r>
            <a:endParaRPr sz="33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236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Exceptions and Objects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1776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an exception is thrown Java creates an Exception object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is an object like any other object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has instance variables and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built-in exception has a </a:t>
            </a:r>
            <a:r>
              <a:rPr lang="en-US" sz="2800" b="1" dirty="0" err="1"/>
              <a:t>getMessage</a:t>
            </a:r>
            <a:r>
              <a:rPr lang="en-US" sz="2800" b="1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2114843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29927" y="1957828"/>
            <a:ext cx="3967383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300" dirty="0"/>
              <a:t>Code After the catch Block</a:t>
            </a:r>
            <a:endParaRPr sz="33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558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finally Block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often good to include a finally block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 way to include code that is always executed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code is executed whether or not an exception occurs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if an exception occurs in a catch block?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734081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29927" y="1957828"/>
            <a:ext cx="3967383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300"/>
              <a:t>Objects and Program </a:t>
            </a:r>
            <a:r>
              <a:rPr lang="en-US" sz="3300" dirty="0"/>
              <a:t>Flow</a:t>
            </a:r>
            <a:endParaRPr sz="33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514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Details of Program Flow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a good summary of exception processing at end of chapter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shows three cases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Case 1: No exception occurs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Case 2: An exception occurs and there is a catch block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Case 3: An exception occurs and there is no catch block</a:t>
            </a:r>
          </a:p>
        </p:txBody>
      </p:sp>
    </p:spTree>
    <p:extLst>
      <p:ext uri="{BB962C8B-B14F-4D97-AF65-F5344CB8AC3E}">
        <p14:creationId xmlns:p14="http://schemas.microsoft.com/office/powerpoint/2010/main" val="1478468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Case 1:  No exception occurs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code runs to the end of the try block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there are catch blocks, they are skipped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there is a finally block, it runs too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889009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Case 2:  An Exception Occurs and There Is a catch Block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10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An exception occurs (is thrown) in the try block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The try block is terminated immediately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Control passes to the catch block immediately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The code in the catch block runs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If there is a finally block, it runs too</a:t>
            </a:r>
          </a:p>
        </p:txBody>
      </p:sp>
    </p:spTree>
    <p:extLst>
      <p:ext uri="{BB962C8B-B14F-4D97-AF65-F5344CB8AC3E}">
        <p14:creationId xmlns:p14="http://schemas.microsoft.com/office/powerpoint/2010/main" val="1646306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Case 3:  An Exception Occurs and There Is No catch Block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An exception occurs (is thrown) in the try block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If there is a finally block, it runs too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If there is no finally block, all code after the try block is ignored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code is not executed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Also, in this case, the method containing the code is also terminated immediately</a:t>
            </a:r>
          </a:p>
        </p:txBody>
      </p:sp>
    </p:spTree>
    <p:extLst>
      <p:ext uri="{BB962C8B-B14F-4D97-AF65-F5344CB8AC3E}">
        <p14:creationId xmlns:p14="http://schemas.microsoft.com/office/powerpoint/2010/main" val="34688380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</TotalTime>
  <Words>1154</Words>
  <Application>Microsoft Office PowerPoint</Application>
  <PresentationFormat>On-screen Show (16:9)</PresentationFormat>
  <Paragraphs>215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Bebas Neue</vt:lpstr>
      <vt:lpstr>Kalam</vt:lpstr>
      <vt:lpstr>Special Elite</vt:lpstr>
      <vt:lpstr>Arial</vt:lpstr>
      <vt:lpstr>US Great Outdoors Month by Slidesgo</vt:lpstr>
      <vt:lpstr>Introduction to Object-Oriented Programming: Java</vt:lpstr>
      <vt:lpstr>Chapter 9</vt:lpstr>
      <vt:lpstr>Vocabulary, Concepts, and  Skills</vt:lpstr>
      <vt:lpstr>VOCABULARY</vt:lpstr>
      <vt:lpstr>CONCEPTS</vt:lpstr>
      <vt:lpstr>SKILLS</vt:lpstr>
      <vt:lpstr>Chapter 9</vt:lpstr>
      <vt:lpstr>Introducing Exceptions</vt:lpstr>
      <vt:lpstr>Exceptions</vt:lpstr>
      <vt:lpstr>The Program UsesExceptionDemo</vt:lpstr>
      <vt:lpstr>A Breakfast Program</vt:lpstr>
      <vt:lpstr>A Potential Problem</vt:lpstr>
      <vt:lpstr>Avoiding the Problem-First Try</vt:lpstr>
      <vt:lpstr>Avoiding the Problem-Second Try</vt:lpstr>
      <vt:lpstr>Exception Vocabulary</vt:lpstr>
      <vt:lpstr>Exception Vocabulary </vt:lpstr>
      <vt:lpstr>Exception Processing Syntax</vt:lpstr>
      <vt:lpstr>The Syntax for Exceptions</vt:lpstr>
      <vt:lpstr>The Catch Statement</vt:lpstr>
      <vt:lpstr>More Catch Statement Syntax</vt:lpstr>
      <vt:lpstr>Should I Catch an Exception?</vt:lpstr>
      <vt:lpstr>Pre-defined Exceptions</vt:lpstr>
      <vt:lpstr>Java’s Predefined Exceptions</vt:lpstr>
      <vt:lpstr>Checked Exceptions</vt:lpstr>
      <vt:lpstr>Checked, Unchecked Exceptions</vt:lpstr>
      <vt:lpstr>Checked Exceptions</vt:lpstr>
      <vt:lpstr>A Checked Exception</vt:lpstr>
      <vt:lpstr>Unchecked Exceptions</vt:lpstr>
      <vt:lpstr>Unchecked Exceptions</vt:lpstr>
      <vt:lpstr>Unchecked Exceptions</vt:lpstr>
      <vt:lpstr>Your Own Exceptions</vt:lpstr>
      <vt:lpstr>Creating Your Own Exceptions</vt:lpstr>
      <vt:lpstr>Your Own Exceptions-More</vt:lpstr>
      <vt:lpstr>Ignoring an Exception</vt:lpstr>
      <vt:lpstr>Exceptions: Who should process them?</vt:lpstr>
      <vt:lpstr>Catch or Specify</vt:lpstr>
      <vt:lpstr>Many catch Statements</vt:lpstr>
      <vt:lpstr>An Exception is an Object</vt:lpstr>
      <vt:lpstr>Exceptions and Objects</vt:lpstr>
      <vt:lpstr>Code After the catch Block</vt:lpstr>
      <vt:lpstr>The finally Block</vt:lpstr>
      <vt:lpstr>Objects and Program Flow</vt:lpstr>
      <vt:lpstr>Details of Program Flow</vt:lpstr>
      <vt:lpstr>Case 1:  No exception occurs</vt:lpstr>
      <vt:lpstr>Case 2:  An Exception Occurs and There Is a catch Block</vt:lpstr>
      <vt:lpstr>Case 3:  An Exception Occurs and There Is No catch Block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207</cp:revision>
  <cp:lastPrinted>2022-06-21T15:58:31Z</cp:lastPrinted>
  <dcterms:modified xsi:type="dcterms:W3CDTF">2023-11-16T19:13:52Z</dcterms:modified>
</cp:coreProperties>
</file>