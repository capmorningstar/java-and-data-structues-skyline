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39"/>
  </p:notesMasterIdLst>
  <p:sldIdLst>
    <p:sldId id="256" r:id="rId2"/>
    <p:sldId id="381" r:id="rId3"/>
    <p:sldId id="282" r:id="rId4"/>
    <p:sldId id="257" r:id="rId5"/>
    <p:sldId id="278" r:id="rId6"/>
    <p:sldId id="397" r:id="rId7"/>
    <p:sldId id="291" r:id="rId8"/>
    <p:sldId id="396" r:id="rId9"/>
    <p:sldId id="481" r:id="rId10"/>
    <p:sldId id="414" r:id="rId11"/>
    <p:sldId id="415" r:id="rId12"/>
    <p:sldId id="416" r:id="rId13"/>
    <p:sldId id="482" r:id="rId14"/>
    <p:sldId id="417" r:id="rId15"/>
    <p:sldId id="418" r:id="rId16"/>
    <p:sldId id="483" r:id="rId17"/>
    <p:sldId id="419" r:id="rId18"/>
    <p:sldId id="420" r:id="rId19"/>
    <p:sldId id="421" r:id="rId20"/>
    <p:sldId id="484" r:id="rId21"/>
    <p:sldId id="425" r:id="rId22"/>
    <p:sldId id="422" r:id="rId23"/>
    <p:sldId id="423" r:id="rId24"/>
    <p:sldId id="424" r:id="rId25"/>
    <p:sldId id="485" r:id="rId26"/>
    <p:sldId id="426" r:id="rId27"/>
    <p:sldId id="427" r:id="rId28"/>
    <p:sldId id="428" r:id="rId29"/>
    <p:sldId id="429" r:id="rId30"/>
    <p:sldId id="430" r:id="rId31"/>
    <p:sldId id="431" r:id="rId32"/>
    <p:sldId id="486" r:id="rId33"/>
    <p:sldId id="432" r:id="rId34"/>
    <p:sldId id="434" r:id="rId35"/>
    <p:sldId id="437" r:id="rId36"/>
    <p:sldId id="435" r:id="rId37"/>
    <p:sldId id="290" r:id="rId3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91" autoAdjust="0"/>
  </p:normalViewPr>
  <p:slideViewPr>
    <p:cSldViewPr snapToGrid="0">
      <p:cViewPr varScale="1">
        <p:scale>
          <a:sx n="85" d="100"/>
          <a:sy n="85" d="100"/>
        </p:scale>
        <p:origin x="882" y="90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4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830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463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5811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2924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6952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16188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41511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182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85002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22092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69088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44643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74492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98818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08324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95403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7059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31540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88773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89147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0383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74423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2749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0720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99186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17364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24937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3112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90204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9342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135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61" r:id="rId5"/>
    <p:sldLayoutId id="2147483669" r:id="rId6"/>
    <p:sldLayoutId id="2147483679" r:id="rId7"/>
    <p:sldLayoutId id="2147483681" r:id="rId8"/>
    <p:sldLayoutId id="2147483682" r:id="rId9"/>
    <p:sldLayoutId id="2147483683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3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612700" y="1185376"/>
            <a:ext cx="7913100" cy="368013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558146"/>
              </p:ext>
            </p:extLst>
          </p:nvPr>
        </p:nvGraphicFramePr>
        <p:xfrm>
          <a:off x="860320" y="1512717"/>
          <a:ext cx="7437013" cy="296672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4016480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3420533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Instantiating an Object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Input Validation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Logical Operators:  !, &amp;&amp;, and ||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 err="1"/>
                        <a:t>DeMorgan’s</a:t>
                      </a:r>
                      <a:r>
                        <a:rPr lang="en-US" sz="1800" b="1" dirty="0"/>
                        <a:t> Law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Whitespace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Short Circuit if Statements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Object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The Conditional Operator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if </a:t>
                      </a: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Statement</a:t>
                      </a:r>
                      <a:r>
                        <a:rPr lang="en-US" sz="1800" b="1" dirty="0"/>
                        <a:t> with else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The switch </a:t>
                      </a: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Statement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Comparison Operators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Boolean Variables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if Statement with Multiple Choices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Enumerated Types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Nested if Statements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4935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CONCEPTS:  USING AN if STATEMENT-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561584" y="3278651"/>
            <a:ext cx="2648374" cy="113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With &amp;&amp;, ||, and !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263668" y="3271522"/>
            <a:ext cx="2889874" cy="87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To Make One Choice out of Many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5691800" y="1619431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With an else Clause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543603" y="934054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" name="Google Shape;1443;p63">
            <a:extLst>
              <a:ext uri="{FF2B5EF4-FFF2-40B4-BE49-F238E27FC236}">
                <a16:creationId xmlns:a16="http://schemas.microsoft.com/office/drawing/2014/main" id="{C314293D-E2EF-451B-ABA6-1EE845A67179}"/>
              </a:ext>
            </a:extLst>
          </p:cNvPr>
          <p:cNvSpPr txBox="1"/>
          <p:nvPr/>
        </p:nvSpPr>
        <p:spPr>
          <a:xfrm>
            <a:off x="1761067" y="1622744"/>
            <a:ext cx="2099733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To Make a Simple Decision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OTHER 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561584" y="3278651"/>
            <a:ext cx="2648374" cy="113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err="1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DeMorgan’s</a:t>
            </a: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 Law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263668" y="3271522"/>
            <a:ext cx="2889874" cy="87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Short Circuit if Statements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5691800" y="1619431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Pseudocode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543603" y="934054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" name="Google Shape;1443;p63">
            <a:extLst>
              <a:ext uri="{FF2B5EF4-FFF2-40B4-BE49-F238E27FC236}">
                <a16:creationId xmlns:a16="http://schemas.microsoft.com/office/drawing/2014/main" id="{C314293D-E2EF-451B-ABA6-1EE845A67179}"/>
              </a:ext>
            </a:extLst>
          </p:cNvPr>
          <p:cNvSpPr txBox="1"/>
          <p:nvPr/>
        </p:nvSpPr>
        <p:spPr>
          <a:xfrm>
            <a:off x="1761067" y="1622744"/>
            <a:ext cx="2099733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Structured Programming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  <p:extLst>
      <p:ext uri="{BB962C8B-B14F-4D97-AF65-F5344CB8AC3E}">
        <p14:creationId xmlns:p14="http://schemas.microsoft.com/office/powerpoint/2010/main" val="54496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0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a switch Statement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073422" y="3006475"/>
            <a:ext cx="2350553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Enumerated Types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a Scanner and Its Methods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Boolean Variables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3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Syntax Details about an if Statement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554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Two Notes about if Statements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an if with an else, one choice IS always made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Either the if code or the else code is executed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operators you can use for comparing are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&gt;       &gt;=       &lt;       &lt;=       = =       !=</a:t>
            </a:r>
          </a:p>
        </p:txBody>
      </p:sp>
    </p:spTree>
    <p:extLst>
      <p:ext uri="{BB962C8B-B14F-4D97-AF65-F5344CB8AC3E}">
        <p14:creationId xmlns:p14="http://schemas.microsoft.com/office/powerpoint/2010/main" val="2402485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Braces in an if Statement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524824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Now we will also print a message</a:t>
            </a:r>
          </a:p>
          <a:p>
            <a:pPr marL="596900" lvl="1" indent="0" algn="l"/>
            <a:r>
              <a:rPr lang="en-US" sz="2400" b="1" dirty="0"/>
              <a:t>    if (</a:t>
            </a:r>
            <a:r>
              <a:rPr lang="en-US" sz="2400" b="1" dirty="0" err="1"/>
              <a:t>accountBalance</a:t>
            </a:r>
            <a:r>
              <a:rPr lang="en-US" sz="2400" b="1" dirty="0"/>
              <a:t> &gt;= 0)</a:t>
            </a:r>
          </a:p>
          <a:p>
            <a:pPr marL="596900" lvl="1" indent="0" algn="l"/>
            <a:r>
              <a:rPr lang="en-US" sz="2400" b="1" dirty="0"/>
              <a:t>    {</a:t>
            </a:r>
          </a:p>
          <a:p>
            <a:pPr marL="596900" lvl="1" indent="0" algn="l"/>
            <a:r>
              <a:rPr lang="en-US" sz="2400" b="1" dirty="0"/>
              <a:t>         </a:t>
            </a:r>
            <a:r>
              <a:rPr lang="en-US" sz="2400" b="1" dirty="0" err="1"/>
              <a:t>accountBalance</a:t>
            </a:r>
            <a:r>
              <a:rPr lang="en-US" sz="2400" b="1" dirty="0"/>
              <a:t> = </a:t>
            </a:r>
            <a:r>
              <a:rPr lang="en-US" sz="2400" b="1" dirty="0" err="1"/>
              <a:t>accountBalance</a:t>
            </a:r>
            <a:r>
              <a:rPr lang="en-US" sz="2400" b="1" dirty="0"/>
              <a:t> +</a:t>
            </a:r>
          </a:p>
          <a:p>
            <a:pPr marL="596900" lvl="1" indent="0" algn="l"/>
            <a:r>
              <a:rPr lang="en-US" sz="2400" b="1" dirty="0"/>
              <a:t>              INTEREST_RATE *</a:t>
            </a:r>
            <a:r>
              <a:rPr lang="en-US" sz="2400" b="1" dirty="0" err="1"/>
              <a:t>accountBalance</a:t>
            </a:r>
            <a:r>
              <a:rPr lang="en-US" sz="2400" b="1" dirty="0"/>
              <a:t>;</a:t>
            </a:r>
          </a:p>
          <a:p>
            <a:pPr marL="596900" lvl="1" indent="0" algn="l"/>
            <a:r>
              <a:rPr lang="en-US" sz="2400" b="1" dirty="0"/>
              <a:t>         </a:t>
            </a:r>
            <a:r>
              <a:rPr lang="en-US" sz="2400" b="1" dirty="0" err="1"/>
              <a:t>System.out.println</a:t>
            </a:r>
            <a:r>
              <a:rPr lang="en-US" sz="2400" b="1" dirty="0"/>
              <a:t> ("Interest applied.");</a:t>
            </a:r>
          </a:p>
          <a:p>
            <a:pPr marL="596900" lvl="1" indent="0" algn="l"/>
            <a:r>
              <a:rPr lang="en-US" sz="2400" b="1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340406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Rest of the if Statement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96470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else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{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     </a:t>
            </a:r>
            <a:r>
              <a:rPr lang="en-US" sz="2400" b="1" dirty="0" err="1"/>
              <a:t>accountBalance</a:t>
            </a:r>
            <a:r>
              <a:rPr lang="en-US" sz="2400" b="1" dirty="0"/>
              <a:t> = </a:t>
            </a:r>
            <a:r>
              <a:rPr lang="en-US" sz="2400" b="1" dirty="0" err="1"/>
              <a:t>accountBalance</a:t>
            </a:r>
            <a:endParaRPr lang="en-US" sz="24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                                       – OVERDRAFT_FEE;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     </a:t>
            </a:r>
            <a:r>
              <a:rPr lang="en-US" sz="2400" b="1" dirty="0" err="1"/>
              <a:t>System.out.println</a:t>
            </a:r>
            <a:r>
              <a:rPr lang="en-US" sz="2400" b="1" dirty="0"/>
              <a:t> (“Fee charged.");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5611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Giving the User Choices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550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an if to Process User Input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89380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Suppose you have the character variable </a:t>
            </a:r>
            <a:r>
              <a:rPr lang="en-US" sz="2800" b="1" dirty="0" err="1"/>
              <a:t>yesNo</a:t>
            </a: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variable contains a letter typed by a user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instructions were to type Y for yes, N for no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 should allow y or Y for yes and n or N for no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two ways you can test this</a:t>
            </a:r>
          </a:p>
        </p:txBody>
      </p:sp>
    </p:spTree>
    <p:extLst>
      <p:ext uri="{BB962C8B-B14F-4D97-AF65-F5344CB8AC3E}">
        <p14:creationId xmlns:p14="http://schemas.microsoft.com/office/powerpoint/2010/main" val="2316712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if Statements for the Test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403443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test all cases</a:t>
            </a:r>
          </a:p>
          <a:p>
            <a:pPr marL="139700" indent="0"/>
            <a:r>
              <a:rPr lang="en-US" sz="2600" b="1" dirty="0"/>
              <a:t>    if (</a:t>
            </a:r>
            <a:r>
              <a:rPr lang="en-US" sz="2600" b="1" dirty="0" err="1"/>
              <a:t>yesNo</a:t>
            </a:r>
            <a:r>
              <a:rPr lang="en-US" sz="2600" b="1" dirty="0"/>
              <a:t> == ‘Y’  ||  </a:t>
            </a:r>
            <a:r>
              <a:rPr lang="en-US" sz="2600" b="1" dirty="0" err="1"/>
              <a:t>yesNo</a:t>
            </a:r>
            <a:r>
              <a:rPr lang="en-US" sz="2600" b="1" dirty="0"/>
              <a:t> == ‘y’)</a:t>
            </a:r>
          </a:p>
          <a:p>
            <a:pPr marL="139700" indent="0"/>
            <a:r>
              <a:rPr lang="en-US" sz="2600" b="1" dirty="0"/>
              <a:t>          … 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Or, you can convert the </a:t>
            </a:r>
            <a:r>
              <a:rPr lang="en-US" sz="2800" b="1" dirty="0" err="1"/>
              <a:t>variablt</a:t>
            </a:r>
            <a:r>
              <a:rPr lang="en-US" sz="2800" b="1" dirty="0"/>
              <a:t> to uppercase and test it</a:t>
            </a:r>
          </a:p>
          <a:p>
            <a:pPr marL="139700" indent="0"/>
            <a:r>
              <a:rPr lang="en-US" sz="2600" b="1" dirty="0"/>
              <a:t>    </a:t>
            </a:r>
            <a:r>
              <a:rPr lang="en-US" sz="2600" b="1" dirty="0" err="1"/>
              <a:t>yesNo</a:t>
            </a:r>
            <a:r>
              <a:rPr lang="en-US" sz="2600" b="1" dirty="0"/>
              <a:t> = </a:t>
            </a:r>
            <a:r>
              <a:rPr lang="en-US" sz="2600" b="1" dirty="0" err="1"/>
              <a:t>Character.toUpperCase</a:t>
            </a:r>
            <a:r>
              <a:rPr lang="en-US" sz="2600" b="1" dirty="0"/>
              <a:t> (</a:t>
            </a:r>
            <a:r>
              <a:rPr lang="en-US" sz="2600" b="1" dirty="0" err="1"/>
              <a:t>yesNo</a:t>
            </a:r>
            <a:r>
              <a:rPr lang="en-US" sz="2600" b="1" dirty="0"/>
              <a:t>);</a:t>
            </a:r>
          </a:p>
          <a:p>
            <a:pPr marL="139700" indent="0"/>
            <a:r>
              <a:rPr lang="en-US" sz="2600" b="1" dirty="0"/>
              <a:t>    if (</a:t>
            </a:r>
            <a:r>
              <a:rPr lang="en-US" sz="2600" b="1" dirty="0" err="1"/>
              <a:t>yesNo</a:t>
            </a:r>
            <a:r>
              <a:rPr lang="en-US" sz="2600" b="1" dirty="0"/>
              <a:t> = = ‘Y’)</a:t>
            </a:r>
          </a:p>
          <a:p>
            <a:pPr marL="139700" indent="0"/>
            <a:r>
              <a:rPr lang="en-US" sz="2600" b="1" dirty="0"/>
              <a:t>          … </a:t>
            </a:r>
          </a:p>
        </p:txBody>
      </p:sp>
    </p:spTree>
    <p:extLst>
      <p:ext uri="{BB962C8B-B14F-4D97-AF65-F5344CB8AC3E}">
        <p14:creationId xmlns:p14="http://schemas.microsoft.com/office/powerpoint/2010/main" val="1067154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Validating User Input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353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One Use of if:  Data Validation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key rule of programming is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Always validate user input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people type in data, they can easily make mistakes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always validate user input and ask them to re-enter it if it’s invalid</a:t>
            </a:r>
          </a:p>
        </p:txBody>
      </p:sp>
    </p:spTree>
    <p:extLst>
      <p:ext uri="{BB962C8B-B14F-4D97-AF65-F5344CB8AC3E}">
        <p14:creationId xmlns:p14="http://schemas.microsoft.com/office/powerpoint/2010/main" val="1146188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Data Validation—An Example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example expects a person to enter an age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age is valid if it is between two cutoffs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the code to read in the age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(kb is the Scanner variable)</a:t>
            </a:r>
          </a:p>
          <a:p>
            <a:pPr marL="596900" lvl="1" indent="0" algn="l"/>
            <a:r>
              <a:rPr lang="en-US" sz="2600" b="1" dirty="0" err="1"/>
              <a:t>System.out.println</a:t>
            </a:r>
            <a:r>
              <a:rPr lang="en-US" sz="2600" b="1" dirty="0"/>
              <a:t> (“Enter your age.");</a:t>
            </a:r>
          </a:p>
          <a:p>
            <a:pPr marL="596900" lvl="1" indent="0" algn="l"/>
            <a:r>
              <a:rPr lang="en-US" sz="2600" b="1" dirty="0" err="1"/>
              <a:t>usersAge</a:t>
            </a:r>
            <a:r>
              <a:rPr lang="en-US" sz="2600" b="1" dirty="0"/>
              <a:t> = </a:t>
            </a:r>
            <a:r>
              <a:rPr lang="en-US" sz="2600" b="1" dirty="0" err="1"/>
              <a:t>kb.nextInt</a:t>
            </a:r>
            <a:r>
              <a:rPr lang="en-US" sz="2600" b="1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341617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Code for the Test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466722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if  (</a:t>
            </a:r>
            <a:r>
              <a:rPr lang="en-US" sz="2600" b="1" dirty="0" err="1"/>
              <a:t>usersAge</a:t>
            </a:r>
            <a:r>
              <a:rPr lang="en-US" sz="2600" b="1" dirty="0"/>
              <a:t> &gt; 0  &amp;&amp;  </a:t>
            </a:r>
            <a:r>
              <a:rPr lang="en-US" sz="2600" b="1" dirty="0" err="1"/>
              <a:t>usersAge</a:t>
            </a:r>
            <a:r>
              <a:rPr lang="en-US" sz="2600" b="1" dirty="0"/>
              <a:t> &lt; 125)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 ("Valid age");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else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{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	</a:t>
            </a:r>
            <a:r>
              <a:rPr lang="en-US" sz="2600" b="1" dirty="0" err="1"/>
              <a:t>System.out.println</a:t>
            </a:r>
            <a:r>
              <a:rPr lang="en-US" sz="2600" b="1" dirty="0"/>
              <a:t> (“Invalid age.");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	</a:t>
            </a:r>
            <a:r>
              <a:rPr lang="en-US" sz="2600" b="1" dirty="0" err="1"/>
              <a:t>System.out.println</a:t>
            </a:r>
            <a:endParaRPr lang="en-US" sz="26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	   (“Enter an age between 1 and 124.");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	</a:t>
            </a:r>
            <a:r>
              <a:rPr lang="en-US" sz="2600" b="1" dirty="0" err="1"/>
              <a:t>usersAge</a:t>
            </a:r>
            <a:r>
              <a:rPr lang="en-US" sz="2600" b="1" dirty="0"/>
              <a:t> = </a:t>
            </a:r>
            <a:r>
              <a:rPr lang="en-US" sz="2600" b="1" dirty="0" err="1"/>
              <a:t>kb.nextInt</a:t>
            </a:r>
            <a:r>
              <a:rPr lang="en-US" sz="2600" b="1" dirty="0"/>
              <a:t>();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451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More Complicated (and Useful) Logic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171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Complex Logic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the if statement used &amp;&amp; for AND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&amp;&amp; means all conditions must be met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can also use || for OR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|| means any one condition must be met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7337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Another Way to Code the if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if you wanted to process the invalid age first? 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Then you would check if the age is not between the cutoffs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two options</a:t>
            </a:r>
          </a:p>
        </p:txBody>
      </p:sp>
    </p:spTree>
    <p:extLst>
      <p:ext uri="{BB962C8B-B14F-4D97-AF65-F5344CB8AC3E}">
        <p14:creationId xmlns:p14="http://schemas.microsoft.com/office/powerpoint/2010/main" val="2534114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Options for Coding the “Not”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309285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Option 1: ! in front of the condition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if  (! (</a:t>
            </a:r>
            <a:r>
              <a:rPr lang="en-US" sz="2400" b="1" dirty="0" err="1"/>
              <a:t>usersAge</a:t>
            </a:r>
            <a:r>
              <a:rPr lang="en-US" sz="2400" b="1" dirty="0"/>
              <a:t> &gt; 0  &amp;&amp;  </a:t>
            </a:r>
            <a:r>
              <a:rPr lang="en-US" sz="2400" b="1" dirty="0" err="1"/>
              <a:t>usersAge</a:t>
            </a:r>
            <a:r>
              <a:rPr lang="en-US" sz="2400" b="1" dirty="0"/>
              <a:t> &lt; 125))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Option 2: Use </a:t>
            </a:r>
            <a:r>
              <a:rPr lang="en-US" sz="2800" b="1" dirty="0" err="1"/>
              <a:t>DeMorgan’s</a:t>
            </a:r>
            <a:r>
              <a:rPr lang="en-US" sz="2800" b="1" dirty="0"/>
              <a:t> Law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if (</a:t>
            </a:r>
            <a:r>
              <a:rPr lang="en-US" sz="2400" b="1" dirty="0" err="1"/>
              <a:t>usersAge</a:t>
            </a:r>
            <a:r>
              <a:rPr lang="en-US" sz="2400" b="1" dirty="0"/>
              <a:t> &lt;= 0  ||  </a:t>
            </a:r>
            <a:r>
              <a:rPr lang="en-US" sz="2400" b="1" dirty="0" err="1"/>
              <a:t>usersAge</a:t>
            </a:r>
            <a:r>
              <a:rPr lang="en-US" sz="2400" b="1" dirty="0"/>
              <a:t> &gt;= 125)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00166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 err="1"/>
              <a:t>DeMorgan’s</a:t>
            </a:r>
            <a:r>
              <a:rPr lang="en-US" sz="3300" dirty="0"/>
              <a:t> Law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DeMorgan’s</a:t>
            </a:r>
            <a:r>
              <a:rPr lang="en-US" sz="2800" b="1" dirty="0"/>
              <a:t> Law is for negating an ||   or   &amp;&amp;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use it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Negate the individual conditions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Change || to &amp;&amp; and vice-versa</a:t>
            </a:r>
          </a:p>
        </p:txBody>
      </p:sp>
    </p:spTree>
    <p:extLst>
      <p:ext uri="{BB962C8B-B14F-4D97-AF65-F5344CB8AC3E}">
        <p14:creationId xmlns:p14="http://schemas.microsoft.com/office/powerpoint/2010/main" val="1264619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Short Circuiting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878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Short Circuiting in an if Statement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Short circuit evaluation occurs for if statements using &amp;&amp; and/or ||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Short circuit evaluation means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When the truth value of an if statement has been determined, evaluation of the statement stops</a:t>
            </a:r>
          </a:p>
        </p:txBody>
      </p:sp>
    </p:spTree>
    <p:extLst>
      <p:ext uri="{BB962C8B-B14F-4D97-AF65-F5344CB8AC3E}">
        <p14:creationId xmlns:p14="http://schemas.microsoft.com/office/powerpoint/2010/main" val="1336301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An Example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is an example with &amp;&amp;</a:t>
            </a:r>
          </a:p>
          <a:p>
            <a:pPr marL="596900" lvl="1" indent="0" algn="l"/>
            <a:r>
              <a:rPr lang="en-US" sz="2600" b="1" dirty="0"/>
              <a:t>if</a:t>
            </a:r>
          </a:p>
          <a:p>
            <a:pPr marL="596900" lvl="1" indent="0" algn="l"/>
            <a:r>
              <a:rPr lang="en-US" sz="2600" b="1" dirty="0"/>
              <a:t>     you clean your room</a:t>
            </a:r>
          </a:p>
          <a:p>
            <a:pPr marL="596900" lvl="1" indent="0" algn="l"/>
            <a:r>
              <a:rPr lang="en-US" sz="2600" b="1" dirty="0"/>
              <a:t>    AND</a:t>
            </a:r>
          </a:p>
          <a:p>
            <a:pPr marL="596900" lvl="1" indent="0" algn="l"/>
            <a:r>
              <a:rPr lang="en-US" sz="2600" b="1" dirty="0"/>
              <a:t>     you do your homework</a:t>
            </a:r>
          </a:p>
          <a:p>
            <a:pPr marL="596900" lvl="1" indent="0" algn="l"/>
            <a:r>
              <a:rPr lang="en-US" sz="2600" b="1" dirty="0"/>
              <a:t>then you’ll get a treat</a:t>
            </a:r>
          </a:p>
        </p:txBody>
      </p:sp>
    </p:spTree>
    <p:extLst>
      <p:ext uri="{BB962C8B-B14F-4D97-AF65-F5344CB8AC3E}">
        <p14:creationId xmlns:p14="http://schemas.microsoft.com/office/powerpoint/2010/main" val="1551370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Examining that Promise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Suppose you didn’t clean your room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Does it matter if you did your homework?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 still won’t get the treat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That is how short-circuiting works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We only check the if until we know the truth value for certain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33564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Another Example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is an example with ||</a:t>
            </a:r>
          </a:p>
          <a:p>
            <a:pPr marL="596900" lvl="1" indent="0" algn="l"/>
            <a:r>
              <a:rPr lang="en-US" sz="2600" b="1" dirty="0"/>
              <a:t>if</a:t>
            </a:r>
          </a:p>
          <a:p>
            <a:pPr marL="596900" lvl="1" indent="0" algn="l"/>
            <a:r>
              <a:rPr lang="en-US" sz="2600" b="1" dirty="0"/>
              <a:t>     it’s windy</a:t>
            </a:r>
          </a:p>
          <a:p>
            <a:pPr marL="596900" lvl="1" indent="0" algn="l"/>
            <a:r>
              <a:rPr lang="en-US" sz="2600" b="1" dirty="0"/>
              <a:t>   OR</a:t>
            </a:r>
          </a:p>
          <a:p>
            <a:pPr marL="596900" lvl="1" indent="0" algn="l"/>
            <a:r>
              <a:rPr lang="en-US" sz="2600" b="1" dirty="0"/>
              <a:t>     it’s raining</a:t>
            </a:r>
          </a:p>
          <a:p>
            <a:pPr marL="596900" lvl="1" indent="0" algn="l"/>
            <a:r>
              <a:rPr lang="en-US" sz="2600" b="1" dirty="0"/>
              <a:t>then you should wear a coat</a:t>
            </a:r>
          </a:p>
        </p:txBody>
      </p:sp>
    </p:spTree>
    <p:extLst>
      <p:ext uri="{BB962C8B-B14F-4D97-AF65-F5344CB8AC3E}">
        <p14:creationId xmlns:p14="http://schemas.microsoft.com/office/powerpoint/2010/main" val="4121583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Checking those Condition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Suppose it’s windy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Does it matter if it’s raining?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 still need to wear a coat</a:t>
            </a:r>
          </a:p>
        </p:txBody>
      </p:sp>
    </p:spTree>
    <p:extLst>
      <p:ext uri="{BB962C8B-B14F-4D97-AF65-F5344CB8AC3E}">
        <p14:creationId xmlns:p14="http://schemas.microsoft.com/office/powerpoint/2010/main" val="40370407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Short Circuiting in a Program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Example 1: </a:t>
            </a:r>
            <a:r>
              <a:rPr lang="en-US" sz="2800" b="1" dirty="0" err="1"/>
              <a:t>boxNum</a:t>
            </a:r>
            <a:r>
              <a:rPr lang="en-US" sz="2800" b="1" dirty="0"/>
              <a:t> has the value 3</a:t>
            </a:r>
            <a:endParaRPr lang="en-US" sz="1000" b="1" dirty="0"/>
          </a:p>
          <a:p>
            <a:pPr marL="139700" indent="0"/>
            <a:r>
              <a:rPr lang="en-US" sz="2600" b="1" dirty="0"/>
              <a:t>         if (</a:t>
            </a:r>
            <a:r>
              <a:rPr lang="en-US" sz="2600" b="1" dirty="0" err="1"/>
              <a:t>boxNum</a:t>
            </a:r>
            <a:r>
              <a:rPr lang="en-US" sz="2600" b="1" dirty="0"/>
              <a:t> &gt; 0  ||  boxes &gt; 25)</a:t>
            </a:r>
          </a:p>
          <a:p>
            <a:pPr marL="139700" indent="0"/>
            <a:r>
              <a:rPr lang="en-US" sz="2600" b="1" dirty="0"/>
              <a:t>         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 (box3);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Example 2: </a:t>
            </a:r>
            <a:r>
              <a:rPr lang="en-US" sz="2800" b="1" dirty="0" err="1"/>
              <a:t>boxNum</a:t>
            </a:r>
            <a:r>
              <a:rPr lang="en-US" sz="2800" b="1" dirty="0"/>
              <a:t> has the value -3</a:t>
            </a:r>
          </a:p>
          <a:p>
            <a:pPr marL="139700" indent="0"/>
            <a:r>
              <a:rPr lang="en-US" sz="2600" b="1" dirty="0"/>
              <a:t>         if (</a:t>
            </a:r>
            <a:r>
              <a:rPr lang="en-US" sz="2600" b="1" dirty="0" err="1"/>
              <a:t>boxNum</a:t>
            </a:r>
            <a:r>
              <a:rPr lang="en-US" sz="2600" b="1" dirty="0"/>
              <a:t> &gt; 0  &amp;&amp;  boxes &gt; 25)</a:t>
            </a:r>
          </a:p>
          <a:p>
            <a:pPr marL="139700" indent="0"/>
            <a:r>
              <a:rPr lang="en-US" sz="2600" b="1" dirty="0"/>
              <a:t>        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 (box3);</a:t>
            </a:r>
          </a:p>
        </p:txBody>
      </p:sp>
    </p:spTree>
    <p:extLst>
      <p:ext uri="{BB962C8B-B14F-4D97-AF65-F5344CB8AC3E}">
        <p14:creationId xmlns:p14="http://schemas.microsoft.com/office/powerpoint/2010/main" val="4027070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Nesting if Statements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268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Nested if Statements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nested if statement is one if inside of another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are the new rules for interest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Each account may have its own interest rate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interest rate could be 0</a:t>
            </a:r>
          </a:p>
        </p:txBody>
      </p:sp>
    </p:spTree>
    <p:extLst>
      <p:ext uri="{BB962C8B-B14F-4D97-AF65-F5344CB8AC3E}">
        <p14:creationId xmlns:p14="http://schemas.microsoft.com/office/powerpoint/2010/main" val="17493912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First Attempt at the Code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lvl="1" indent="0" algn="l"/>
            <a:r>
              <a:rPr lang="en-US" sz="2800" b="1" dirty="0"/>
              <a:t>if (balance  &gt;= 0)</a:t>
            </a:r>
          </a:p>
          <a:p>
            <a:pPr marL="596900" lvl="1" indent="0" algn="l"/>
            <a:r>
              <a:rPr lang="en-US" sz="2800" b="1" dirty="0"/>
              <a:t>     if (INTEREST_RATE &gt;= 0)</a:t>
            </a:r>
          </a:p>
          <a:p>
            <a:pPr marL="596900" lvl="1" indent="0" algn="l"/>
            <a:r>
              <a:rPr lang="en-US" sz="2800" b="1" dirty="0"/>
              <a:t>          balance = balance +</a:t>
            </a:r>
          </a:p>
          <a:p>
            <a:pPr marL="596900" lvl="1" indent="0" algn="l"/>
            <a:r>
              <a:rPr lang="en-US" sz="2800" b="1" dirty="0"/>
              <a:t>	             (INTEREST_RATE*balance);</a:t>
            </a:r>
          </a:p>
          <a:p>
            <a:pPr marL="596900" lvl="1" indent="0" algn="l"/>
            <a:r>
              <a:rPr lang="en-US" sz="2800" b="1" dirty="0"/>
              <a:t>else</a:t>
            </a:r>
          </a:p>
          <a:p>
            <a:pPr marL="596900" lvl="1" indent="0" algn="l"/>
            <a:r>
              <a:rPr lang="en-US" sz="2800" b="1" dirty="0"/>
              <a:t> 	balance = balance –</a:t>
            </a:r>
          </a:p>
          <a:p>
            <a:pPr marL="596900" lvl="1" indent="0" algn="l"/>
            <a:r>
              <a:rPr lang="en-US" sz="2800" b="1" dirty="0"/>
              <a:t>                                  OVERDRAFT_FEE;</a:t>
            </a:r>
          </a:p>
        </p:txBody>
      </p:sp>
    </p:spTree>
    <p:extLst>
      <p:ext uri="{BB962C8B-B14F-4D97-AF65-F5344CB8AC3E}">
        <p14:creationId xmlns:p14="http://schemas.microsoft.com/office/powerpoint/2010/main" val="38699751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Problem with Nested ifs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else statement for an if matches the last open if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means the code is being seen as</a:t>
            </a:r>
          </a:p>
          <a:p>
            <a:pPr marL="596900" lvl="1" indent="0" algn="l"/>
            <a:r>
              <a:rPr lang="en-US" sz="2400" b="1" dirty="0"/>
              <a:t>if (balance  &gt;= 0)</a:t>
            </a:r>
          </a:p>
          <a:p>
            <a:pPr marL="596900" lvl="1" indent="0" algn="l"/>
            <a:r>
              <a:rPr lang="en-US" sz="2400" b="1" dirty="0"/>
              <a:t>    if (INTEREST_RATE &gt;= 0)</a:t>
            </a:r>
          </a:p>
          <a:p>
            <a:pPr marL="596900" lvl="1" indent="0" algn="l"/>
            <a:r>
              <a:rPr lang="en-US" sz="2400" b="1" dirty="0"/>
              <a:t>        balance = balance +</a:t>
            </a:r>
          </a:p>
          <a:p>
            <a:pPr marL="596900" lvl="1" indent="0" algn="l"/>
            <a:r>
              <a:rPr lang="en-US" sz="2400" b="1" dirty="0"/>
              <a:t>	      (INTEREST_RATE*balance);</a:t>
            </a:r>
          </a:p>
          <a:p>
            <a:pPr marL="596900" lvl="1" indent="0" algn="l"/>
            <a:r>
              <a:rPr lang="en-US" sz="2400" b="1" dirty="0"/>
              <a:t>    else</a:t>
            </a:r>
          </a:p>
          <a:p>
            <a:pPr marL="596900" lvl="1" indent="0" algn="l"/>
            <a:r>
              <a:rPr lang="en-US" sz="2400" b="1" dirty="0"/>
              <a:t>	   balance = balance –</a:t>
            </a:r>
          </a:p>
          <a:p>
            <a:pPr marL="596900" lvl="1" indent="0" algn="l"/>
            <a:r>
              <a:rPr lang="en-US" sz="2400" b="1" dirty="0"/>
              <a:t>	                OVERDRAFT_FEE;</a:t>
            </a:r>
          </a:p>
        </p:txBody>
      </p:sp>
    </p:spTree>
    <p:extLst>
      <p:ext uri="{BB962C8B-B14F-4D97-AF65-F5344CB8AC3E}">
        <p14:creationId xmlns:p14="http://schemas.microsoft.com/office/powerpoint/2010/main" val="40575794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Avoiding Misinterpretations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417762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avoid problems you can use braces</a:t>
            </a:r>
          </a:p>
          <a:p>
            <a:pPr marL="596900" lvl="1" indent="0" algn="l"/>
            <a:r>
              <a:rPr lang="en-US" sz="2400" b="1" dirty="0"/>
              <a:t>if (balance  &gt;= 0)</a:t>
            </a:r>
          </a:p>
          <a:p>
            <a:pPr marL="596900" lvl="1" indent="0" algn="l"/>
            <a:r>
              <a:rPr lang="en-US" sz="2400" b="1" dirty="0"/>
              <a:t>{</a:t>
            </a:r>
          </a:p>
          <a:p>
            <a:pPr marL="596900" lvl="1" indent="0" algn="l"/>
            <a:r>
              <a:rPr lang="en-US" sz="2400" b="1" dirty="0"/>
              <a:t>     if (INTEREST_RATE &gt;= 0)</a:t>
            </a:r>
          </a:p>
          <a:p>
            <a:pPr marL="596900" lvl="1" indent="0" algn="l"/>
            <a:r>
              <a:rPr lang="en-US" sz="2400" b="1" dirty="0"/>
              <a:t>          balance = balance +</a:t>
            </a:r>
          </a:p>
          <a:p>
            <a:pPr marL="596900" lvl="1" indent="0" algn="l"/>
            <a:r>
              <a:rPr lang="en-US" sz="2400" b="1" dirty="0"/>
              <a:t>                             (INTEREST_RATE*balance);</a:t>
            </a:r>
          </a:p>
          <a:p>
            <a:pPr marL="596900" lvl="1" indent="0" algn="l"/>
            <a:r>
              <a:rPr lang="en-US" sz="2400" b="1" dirty="0"/>
              <a:t>}</a:t>
            </a:r>
          </a:p>
          <a:p>
            <a:pPr marL="596900" lvl="1" indent="0" algn="l"/>
            <a:r>
              <a:rPr lang="en-US" sz="2400" b="1" dirty="0"/>
              <a:t>else</a:t>
            </a:r>
          </a:p>
          <a:p>
            <a:pPr marL="596900" lvl="1" indent="0" algn="l"/>
            <a:r>
              <a:rPr lang="en-US" sz="2400" b="1" dirty="0"/>
              <a:t>     balance = balance – OVERDRAFT_FEE;</a:t>
            </a:r>
          </a:p>
        </p:txBody>
      </p:sp>
    </p:spTree>
    <p:extLst>
      <p:ext uri="{BB962C8B-B14F-4D97-AF65-F5344CB8AC3E}">
        <p14:creationId xmlns:p14="http://schemas.microsoft.com/office/powerpoint/2010/main" val="8753377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1088</Words>
  <Application>Microsoft Office PowerPoint</Application>
  <PresentationFormat>On-screen Show (16:9)</PresentationFormat>
  <Paragraphs>202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Bebas Neue</vt:lpstr>
      <vt:lpstr>Kalam</vt:lpstr>
      <vt:lpstr>Special Elite</vt:lpstr>
      <vt:lpstr>US Great Outdoors Month by Slidesgo</vt:lpstr>
      <vt:lpstr>Introduction to Object-Oriented Programming: Java</vt:lpstr>
      <vt:lpstr>Chapter 3</vt:lpstr>
      <vt:lpstr>Vocabulary, Concepts, and  Skills</vt:lpstr>
      <vt:lpstr>VOCABULARY</vt:lpstr>
      <vt:lpstr>CONCEPTS:  USING AN if STATEMENT-</vt:lpstr>
      <vt:lpstr>OTHER CONCEPTS</vt:lpstr>
      <vt:lpstr>SKILLS</vt:lpstr>
      <vt:lpstr>Chapter 3</vt:lpstr>
      <vt:lpstr>Syntax Details about an if Statement</vt:lpstr>
      <vt:lpstr>Two Notes about if Statements</vt:lpstr>
      <vt:lpstr>Braces in an if Statement</vt:lpstr>
      <vt:lpstr>The Rest of the if Statement</vt:lpstr>
      <vt:lpstr>Giving the User Choices</vt:lpstr>
      <vt:lpstr>Using an if to Process User Input</vt:lpstr>
      <vt:lpstr>The if Statements for the Test</vt:lpstr>
      <vt:lpstr>Validating User Input</vt:lpstr>
      <vt:lpstr>One Use of if:  Data Validation</vt:lpstr>
      <vt:lpstr>Data Validation—An Example</vt:lpstr>
      <vt:lpstr>The Code for the Test</vt:lpstr>
      <vt:lpstr>More Complicated (and Useful) Logic</vt:lpstr>
      <vt:lpstr>Complex Logic</vt:lpstr>
      <vt:lpstr>Another Way to Code the if</vt:lpstr>
      <vt:lpstr>Options for Coding the “Not”</vt:lpstr>
      <vt:lpstr>DeMorgan’s Law</vt:lpstr>
      <vt:lpstr>Short Circuiting</vt:lpstr>
      <vt:lpstr>Short Circuiting in an if Statement</vt:lpstr>
      <vt:lpstr>An Example</vt:lpstr>
      <vt:lpstr>Examining that Promise</vt:lpstr>
      <vt:lpstr>Another Example</vt:lpstr>
      <vt:lpstr>Checking those Condition</vt:lpstr>
      <vt:lpstr>Short Circuiting in a Program</vt:lpstr>
      <vt:lpstr>Nesting if Statements</vt:lpstr>
      <vt:lpstr>Nested if Statements</vt:lpstr>
      <vt:lpstr>A First Attempt at the Code</vt:lpstr>
      <vt:lpstr>A Problem with Nested ifs</vt:lpstr>
      <vt:lpstr>Avoiding Misinterpretations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James Hoffman</cp:lastModifiedBy>
  <cp:revision>117</cp:revision>
  <dcterms:modified xsi:type="dcterms:W3CDTF">2022-06-27T13:49:11Z</dcterms:modified>
</cp:coreProperties>
</file>