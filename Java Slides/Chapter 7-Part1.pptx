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34"/>
  </p:notesMasterIdLst>
  <p:sldIdLst>
    <p:sldId id="256" r:id="rId2"/>
    <p:sldId id="381" r:id="rId3"/>
    <p:sldId id="282" r:id="rId4"/>
    <p:sldId id="257" r:id="rId5"/>
    <p:sldId id="512" r:id="rId6"/>
    <p:sldId id="278" r:id="rId7"/>
    <p:sldId id="291" r:id="rId8"/>
    <p:sldId id="513" r:id="rId9"/>
    <p:sldId id="396" r:id="rId10"/>
    <p:sldId id="394" r:id="rId11"/>
    <p:sldId id="478" r:id="rId12"/>
    <p:sldId id="497" r:id="rId13"/>
    <p:sldId id="498" r:id="rId14"/>
    <p:sldId id="541" r:id="rId15"/>
    <p:sldId id="499" r:id="rId16"/>
    <p:sldId id="542" r:id="rId17"/>
    <p:sldId id="500" r:id="rId18"/>
    <p:sldId id="543" r:id="rId19"/>
    <p:sldId id="501" r:id="rId20"/>
    <p:sldId id="502" r:id="rId21"/>
    <p:sldId id="544" r:id="rId22"/>
    <p:sldId id="503" r:id="rId23"/>
    <p:sldId id="545" r:id="rId24"/>
    <p:sldId id="504" r:id="rId25"/>
    <p:sldId id="505" r:id="rId26"/>
    <p:sldId id="546" r:id="rId27"/>
    <p:sldId id="506" r:id="rId28"/>
    <p:sldId id="547" r:id="rId29"/>
    <p:sldId id="514" r:id="rId30"/>
    <p:sldId id="515" r:id="rId31"/>
    <p:sldId id="516" r:id="rId32"/>
    <p:sldId id="290" r:id="rId33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5" d="100"/>
          <a:sy n="85" d="100"/>
        </p:scale>
        <p:origin x="882" y="90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7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9701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30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710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864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8257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3934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9723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844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809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3419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3364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7626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57631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14650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96574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47307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667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1096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1153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5841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03619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8872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0175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7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200" b="1"/>
              <a:t>Arrays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474133" y="1017726"/>
            <a:ext cx="8051667" cy="3847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022343"/>
              </p:ext>
            </p:extLst>
          </p:nvPr>
        </p:nvGraphicFramePr>
        <p:xfrm>
          <a:off x="720000" y="1631494"/>
          <a:ext cx="7437014" cy="222504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4057174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3379840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Array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Off-By-One Error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Dimension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Sequential Search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Index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Binary Search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for each 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Selection Sort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Exception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Named Constants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 err="1"/>
                        <a:t>ArrayIndexOutOfBounds</a:t>
                      </a:r>
                      <a:r>
                        <a:rPr lang="en-US" sz="1800" b="1" dirty="0"/>
                        <a:t> Exception</a:t>
                      </a: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Parallel Arrays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5143192" y="3300779"/>
            <a:ext cx="2767526" cy="85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The last element in an array is [dimension-1]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8086B052-88F4-4EE9-8247-EF39A774ECB6}"/>
              </a:ext>
            </a:extLst>
          </p:cNvPr>
          <p:cNvSpPr txBox="1"/>
          <p:nvPr/>
        </p:nvSpPr>
        <p:spPr>
          <a:xfrm>
            <a:off x="1873294" y="1604444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Declaring an Array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1746351" y="3368648"/>
            <a:ext cx="2276011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The first element in an array is [0]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6" name="Google Shape;1443;p63">
            <a:extLst>
              <a:ext uri="{FF2B5EF4-FFF2-40B4-BE49-F238E27FC236}">
                <a16:creationId xmlns:a16="http://schemas.microsoft.com/office/drawing/2014/main" id="{5E9DA5D1-9388-4855-86F1-E2335B68483A}"/>
              </a:ext>
            </a:extLst>
          </p:cNvPr>
          <p:cNvSpPr txBox="1"/>
          <p:nvPr/>
        </p:nvSpPr>
        <p:spPr>
          <a:xfrm>
            <a:off x="5433350" y="1604444"/>
            <a:ext cx="2206013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Array elements are like variables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32859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876116" y="1573482"/>
            <a:ext cx="2605443" cy="51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The </a:t>
            </a:r>
            <a:r>
              <a:rPr lang="en-US" sz="2200" b="1" dirty="0" err="1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ArrayList</a:t>
            </a: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 Class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4978213" y="1572746"/>
            <a:ext cx="2696252" cy="83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Multidimensional Arrays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3811620" y="3298996"/>
            <a:ext cx="2029237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Java’s Ragged Arrays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39356" y="3005789"/>
            <a:ext cx="2250600" cy="1127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Testing If Two Arrays Are Equal, Item for Item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637938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Searching for Something in an Array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661072" y="1275889"/>
            <a:ext cx="2228884" cy="1127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Printing All Elements in an Array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1022;p50">
            <a:extLst>
              <a:ext uri="{FF2B5EF4-FFF2-40B4-BE49-F238E27FC236}">
                <a16:creationId xmlns:a16="http://schemas.microsoft.com/office/drawing/2014/main" id="{AA5AC291-A870-4499-9DC3-672B5D715923}"/>
              </a:ext>
            </a:extLst>
          </p:cNvPr>
          <p:cNvSpPr txBox="1">
            <a:spLocks/>
          </p:cNvSpPr>
          <p:nvPr/>
        </p:nvSpPr>
        <p:spPr>
          <a:xfrm>
            <a:off x="6073422" y="1275888"/>
            <a:ext cx="2228884" cy="112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Copying One Array to Another Array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6337897" y="1276575"/>
            <a:ext cx="2250600" cy="1127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Working with Partially Filled Arrays</a:t>
            </a: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50214" y="2898304"/>
            <a:ext cx="2250600" cy="1127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Sorting Data in an Array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661072" y="1276574"/>
            <a:ext cx="2228884" cy="1127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Java’s Built-in Array Class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6315418" y="291743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the for-each statement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014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7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Introducing Arrays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217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Introducing Arrays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is an array and why do we need them?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the PowerPoint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Introduction to Arrays.ppt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Look at the programs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GetTemps</a:t>
            </a:r>
            <a:r>
              <a:rPr lang="en-US" sz="2600" b="1" dirty="0"/>
              <a:t> (no arrays)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ArrayTemps</a:t>
            </a:r>
            <a:r>
              <a:rPr lang="en-US" sz="2600" b="1" dirty="0"/>
              <a:t> (with arrays)</a:t>
            </a:r>
          </a:p>
        </p:txBody>
      </p:sp>
    </p:spTree>
    <p:extLst>
      <p:ext uri="{BB962C8B-B14F-4D97-AF65-F5344CB8AC3E}">
        <p14:creationId xmlns:p14="http://schemas.microsoft.com/office/powerpoint/2010/main" val="73470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Basic Things to Know about Arrays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Make sure you understand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What an array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Why we use arrays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How we use arrays</a:t>
            </a:r>
          </a:p>
        </p:txBody>
      </p:sp>
    </p:spTree>
    <p:extLst>
      <p:ext uri="{BB962C8B-B14F-4D97-AF65-F5344CB8AC3E}">
        <p14:creationId xmlns:p14="http://schemas.microsoft.com/office/powerpoint/2010/main" val="2229704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16551" cy="590038"/>
          </a:xfrm>
        </p:spPr>
        <p:txBody>
          <a:bodyPr/>
          <a:lstStyle/>
          <a:p>
            <a:pPr algn="l"/>
            <a:r>
              <a:rPr lang="en-US" sz="3300" dirty="0"/>
              <a:t>More Things to Notice about Arrays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array is a group of variables that all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Have the same name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Have the same type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Are accessed by their positions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positions are called indexes or subscripts</a:t>
            </a:r>
          </a:p>
        </p:txBody>
      </p:sp>
    </p:spTree>
    <p:extLst>
      <p:ext uri="{BB962C8B-B14F-4D97-AF65-F5344CB8AC3E}">
        <p14:creationId xmlns:p14="http://schemas.microsoft.com/office/powerpoint/2010/main" val="909203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41669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Declaring an Array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5463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Declaring an Array-Examples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Declare an array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 [] </a:t>
            </a:r>
            <a:r>
              <a:rPr lang="en-US" sz="2600" b="1" dirty="0" err="1"/>
              <a:t>nums</a:t>
            </a:r>
            <a:r>
              <a:rPr lang="en-US" sz="26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Declare and create an array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 [] </a:t>
            </a:r>
            <a:r>
              <a:rPr lang="en-US" sz="2600" b="1" dirty="0" err="1"/>
              <a:t>nums</a:t>
            </a:r>
            <a:r>
              <a:rPr lang="en-US" sz="2600" b="1" dirty="0"/>
              <a:t> = new int [30];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Usually we use this version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another way to declare an array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 [] scores = {100, 90, 80};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This also initializes the array</a:t>
            </a:r>
          </a:p>
        </p:txBody>
      </p:sp>
    </p:spTree>
    <p:extLst>
      <p:ext uri="{BB962C8B-B14F-4D97-AF65-F5344CB8AC3E}">
        <p14:creationId xmlns:p14="http://schemas.microsoft.com/office/powerpoint/2010/main" val="3442830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Notes about Indexes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46927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Important Ideas about Arrays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Notice that the first element is [0] and the last is [dimension-1]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dimension is the number in brackets at the end of the line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is the “size” of the array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Once the size is declared it cannot be changed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look at a C program and see if we can find the error</a:t>
            </a:r>
          </a:p>
        </p:txBody>
      </p:sp>
    </p:spTree>
    <p:extLst>
      <p:ext uri="{BB962C8B-B14F-4D97-AF65-F5344CB8AC3E}">
        <p14:creationId xmlns:p14="http://schemas.microsoft.com/office/powerpoint/2010/main" val="1629377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Array Elements in a Program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857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an Array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709016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create a double array, </a:t>
            </a:r>
            <a:r>
              <a:rPr lang="en-US" sz="2800" b="1" dirty="0" err="1"/>
              <a:t>purchaseAmount</a:t>
            </a:r>
            <a:r>
              <a:rPr lang="en-US" sz="2800" b="1" dirty="0"/>
              <a:t>, that can hold 100 elements:  _________________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print the third element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 err="1"/>
              <a:t>System.out.println</a:t>
            </a:r>
            <a:r>
              <a:rPr lang="en-US" sz="2400" b="1" dirty="0"/>
              <a:t> (</a:t>
            </a:r>
            <a:r>
              <a:rPr lang="en-US" sz="2400" b="1" dirty="0" err="1"/>
              <a:t>purchaseAmount</a:t>
            </a:r>
            <a:r>
              <a:rPr lang="en-US" sz="2400" b="1" dirty="0"/>
              <a:t> [2]);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set the tenth element to $50.00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purchaseAmount</a:t>
            </a:r>
            <a:r>
              <a:rPr lang="en-US" sz="2600" b="1" dirty="0"/>
              <a:t> [9] = 50.0;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test if the 17th element is less than 500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If (</a:t>
            </a:r>
            <a:r>
              <a:rPr lang="en-US" sz="2600" b="1" dirty="0" err="1"/>
              <a:t>purchaseAmount</a:t>
            </a:r>
            <a:r>
              <a:rPr lang="en-US" sz="2600" b="1" dirty="0"/>
              <a:t> [16] &lt; 500.0)</a:t>
            </a:r>
          </a:p>
        </p:txBody>
      </p:sp>
    </p:spTree>
    <p:extLst>
      <p:ext uri="{BB962C8B-B14F-4D97-AF65-F5344CB8AC3E}">
        <p14:creationId xmlns:p14="http://schemas.microsoft.com/office/powerpoint/2010/main" val="4183524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885199" cy="590038"/>
          </a:xfrm>
        </p:spPr>
        <p:txBody>
          <a:bodyPr/>
          <a:lstStyle/>
          <a:p>
            <a:pPr algn="l"/>
            <a:r>
              <a:rPr lang="en-US" sz="3300" dirty="0"/>
              <a:t>Array Elements Act Just Like Variables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Important Ideas: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Anywhere you can use a variable, you can now also use an array element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Generally, you cannot use the entire array in one statement</a:t>
            </a:r>
          </a:p>
        </p:txBody>
      </p:sp>
    </p:spTree>
    <p:extLst>
      <p:ext uri="{BB962C8B-B14F-4D97-AF65-F5344CB8AC3E}">
        <p14:creationId xmlns:p14="http://schemas.microsoft.com/office/powerpoint/2010/main" val="368329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Finding the Length of an Array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9413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Finding the Length of an Array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29527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find the length of an array by using the instance variable length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length is a public instance variable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we have the declaration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 [] </a:t>
            </a:r>
            <a:r>
              <a:rPr lang="en-US" sz="2600" b="1" dirty="0" err="1"/>
              <a:t>itemCount</a:t>
            </a:r>
            <a:r>
              <a:rPr lang="en-US" sz="2600" b="1" dirty="0"/>
              <a:t> = new int [100];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 will use this for future examples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can print its length with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 err="1"/>
              <a:t>System.out.println</a:t>
            </a:r>
            <a:r>
              <a:rPr lang="en-US" sz="2400" b="1" dirty="0"/>
              <a:t> (</a:t>
            </a:r>
            <a:r>
              <a:rPr lang="en-US" sz="2400" b="1" dirty="0" err="1"/>
              <a:t>itemCount.length</a:t>
            </a:r>
            <a:r>
              <a:rPr lang="en-US" sz="24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85553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29901" y="1958266"/>
            <a:ext cx="3974909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Printing the Elements of an Array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4482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Printing All Elements of an Array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51762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Printing is one time you need to look at every element of the array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common to use a for loop to do this</a:t>
            </a:r>
          </a:p>
          <a:p>
            <a:pPr marL="596900" lvl="1" indent="0" algn="l"/>
            <a:r>
              <a:rPr lang="en-US" sz="2600" b="1" dirty="0"/>
              <a:t>for (int </a:t>
            </a:r>
            <a:r>
              <a:rPr lang="en-US" sz="2600" b="1" dirty="0" err="1"/>
              <a:t>i</a:t>
            </a:r>
            <a:r>
              <a:rPr lang="en-US" sz="2600" b="1" dirty="0"/>
              <a:t>=0;  </a:t>
            </a:r>
            <a:r>
              <a:rPr lang="en-US" sz="2600" b="1" dirty="0" err="1"/>
              <a:t>i</a:t>
            </a:r>
            <a:r>
              <a:rPr lang="en-US" sz="2600" b="1" dirty="0"/>
              <a:t> &lt; </a:t>
            </a:r>
            <a:r>
              <a:rPr lang="en-US" sz="2600" b="1" dirty="0" err="1"/>
              <a:t>itemCount.length</a:t>
            </a:r>
            <a:r>
              <a:rPr lang="en-US" sz="2600" b="1" dirty="0"/>
              <a:t>;  </a:t>
            </a:r>
            <a:r>
              <a:rPr lang="en-US" sz="2600" b="1" dirty="0" err="1"/>
              <a:t>i</a:t>
            </a:r>
            <a:r>
              <a:rPr lang="en-US" sz="2600" b="1" dirty="0"/>
              <a:t>++)</a:t>
            </a:r>
          </a:p>
          <a:p>
            <a:pPr marL="1054100" lvl="2" indent="0" algn="l"/>
            <a:r>
              <a:rPr lang="en-US" sz="2600" b="1" dirty="0" err="1"/>
              <a:t>System.out.println</a:t>
            </a:r>
            <a:r>
              <a:rPr lang="en-US" sz="2600" b="1" dirty="0"/>
              <a:t> (</a:t>
            </a:r>
            <a:r>
              <a:rPr lang="en-US" sz="2600" b="1" dirty="0" err="1"/>
              <a:t>itemCount</a:t>
            </a:r>
            <a:r>
              <a:rPr lang="en-US" sz="2600" b="1" dirty="0"/>
              <a:t> [</a:t>
            </a:r>
            <a:r>
              <a:rPr lang="en-US" sz="2600" b="1" dirty="0" err="1"/>
              <a:t>i</a:t>
            </a:r>
            <a:r>
              <a:rPr lang="en-US" sz="2600" b="1" dirty="0"/>
              <a:t>]);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03709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Interesting for Loops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Now we see why Java programmers often write for loops as</a:t>
            </a:r>
          </a:p>
          <a:p>
            <a:pPr marL="596900" lvl="1" indent="0" algn="l"/>
            <a:r>
              <a:rPr lang="en-US" sz="2600" b="1" dirty="0"/>
              <a:t>for (int </a:t>
            </a:r>
            <a:r>
              <a:rPr lang="en-US" sz="2600" b="1" dirty="0" err="1"/>
              <a:t>i</a:t>
            </a:r>
            <a:r>
              <a:rPr lang="en-US" sz="2600" b="1" dirty="0"/>
              <a:t>=0;  </a:t>
            </a:r>
            <a:r>
              <a:rPr lang="en-US" sz="2600" b="1" dirty="0" err="1"/>
              <a:t>i</a:t>
            </a:r>
            <a:r>
              <a:rPr lang="en-US" sz="2600" b="1" dirty="0"/>
              <a:t> &lt; cutoff;  </a:t>
            </a:r>
            <a:r>
              <a:rPr lang="en-US" sz="2600" b="1" dirty="0" err="1"/>
              <a:t>i</a:t>
            </a:r>
            <a:r>
              <a:rPr lang="en-US" sz="2600" b="1" dirty="0"/>
              <a:t>++)    vs.</a:t>
            </a:r>
          </a:p>
          <a:p>
            <a:pPr marL="596900" lvl="1" indent="0" algn="l"/>
            <a:r>
              <a:rPr lang="en-US" sz="2600" b="1" dirty="0"/>
              <a:t>for (int </a:t>
            </a:r>
            <a:r>
              <a:rPr lang="en-US" sz="2600" b="1" dirty="0" err="1"/>
              <a:t>i</a:t>
            </a:r>
            <a:r>
              <a:rPr lang="en-US" sz="2600" b="1" dirty="0"/>
              <a:t>=1;  </a:t>
            </a:r>
            <a:r>
              <a:rPr lang="en-US" sz="2600" b="1" dirty="0" err="1"/>
              <a:t>i</a:t>
            </a:r>
            <a:r>
              <a:rPr lang="en-US" sz="2600" b="1" dirty="0"/>
              <a:t> &lt;= cutoff;  </a:t>
            </a:r>
            <a:r>
              <a:rPr lang="en-US" sz="2600" b="1" dirty="0" err="1"/>
              <a:t>i</a:t>
            </a:r>
            <a:r>
              <a:rPr lang="en-US" sz="2600" b="1" dirty="0"/>
              <a:t>++)</a:t>
            </a:r>
          </a:p>
        </p:txBody>
      </p:sp>
    </p:spTree>
    <p:extLst>
      <p:ext uri="{BB962C8B-B14F-4D97-AF65-F5344CB8AC3E}">
        <p14:creationId xmlns:p14="http://schemas.microsoft.com/office/powerpoint/2010/main" val="1734212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Copying One Array to Another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2557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Copying One Array to Another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474441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you want to copy the array </a:t>
            </a:r>
            <a:r>
              <a:rPr lang="en-US" sz="2800" b="1" dirty="0" err="1"/>
              <a:t>itemCount</a:t>
            </a:r>
            <a:r>
              <a:rPr lang="en-US" sz="2800" b="1" dirty="0"/>
              <a:t> to the array </a:t>
            </a:r>
            <a:r>
              <a:rPr lang="en-US" sz="2800" b="1" dirty="0" err="1"/>
              <a:t>newItemCount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cannot code</a:t>
            </a:r>
          </a:p>
          <a:p>
            <a:pPr marL="596900" lvl="1" indent="0" algn="l"/>
            <a:r>
              <a:rPr lang="en-US" sz="2800" b="1" dirty="0"/>
              <a:t>     </a:t>
            </a:r>
            <a:r>
              <a:rPr lang="en-US" sz="2800" b="1" dirty="0" err="1"/>
              <a:t>newItemCount</a:t>
            </a:r>
            <a:r>
              <a:rPr lang="en-US" sz="2800" b="1" dirty="0"/>
              <a:t> = </a:t>
            </a:r>
            <a:r>
              <a:rPr lang="en-US" sz="2800" b="1" dirty="0" err="1"/>
              <a:t>itemCount</a:t>
            </a:r>
            <a:r>
              <a:rPr lang="en-US" sz="28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doesn’t allow you to treat entire arrays  the same as variables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can you do it?</a:t>
            </a:r>
          </a:p>
          <a:p>
            <a:pPr marL="596900" lvl="1" indent="0" algn="l"/>
            <a:r>
              <a:rPr lang="en-US" sz="2600" b="1" dirty="0"/>
              <a:t>     for (int </a:t>
            </a:r>
            <a:r>
              <a:rPr lang="en-US" sz="2600" b="1" dirty="0" err="1"/>
              <a:t>i</a:t>
            </a:r>
            <a:r>
              <a:rPr lang="en-US" sz="2600" b="1" dirty="0"/>
              <a:t>=0;  </a:t>
            </a:r>
            <a:r>
              <a:rPr lang="en-US" sz="2600" b="1" dirty="0" err="1"/>
              <a:t>i</a:t>
            </a:r>
            <a:r>
              <a:rPr lang="en-US" sz="2600" b="1" dirty="0"/>
              <a:t> &lt; </a:t>
            </a:r>
            <a:r>
              <a:rPr lang="en-US" sz="2600" b="1" dirty="0" err="1"/>
              <a:t>itemCount.length</a:t>
            </a:r>
            <a:r>
              <a:rPr lang="en-US" sz="2600" b="1" dirty="0"/>
              <a:t>;  </a:t>
            </a:r>
            <a:r>
              <a:rPr lang="en-US" sz="2600" b="1" dirty="0" err="1"/>
              <a:t>i</a:t>
            </a:r>
            <a:r>
              <a:rPr lang="en-US" sz="2600" b="1" dirty="0"/>
              <a:t>++)</a:t>
            </a:r>
          </a:p>
          <a:p>
            <a:pPr marL="1054100" lvl="2" indent="0" algn="l"/>
            <a:r>
              <a:rPr lang="en-US" sz="2400" b="1" dirty="0"/>
              <a:t>    </a:t>
            </a:r>
            <a:r>
              <a:rPr lang="en-US" sz="2400" b="1" dirty="0" err="1"/>
              <a:t>newItemCount</a:t>
            </a:r>
            <a:r>
              <a:rPr lang="en-US" sz="2400" b="1" dirty="0"/>
              <a:t> [</a:t>
            </a:r>
            <a:r>
              <a:rPr lang="en-US" sz="2400" b="1" dirty="0" err="1"/>
              <a:t>i</a:t>
            </a:r>
            <a:r>
              <a:rPr lang="en-US" sz="2400" b="1" dirty="0"/>
              <a:t>] = </a:t>
            </a:r>
            <a:r>
              <a:rPr lang="en-US" sz="2400" b="1" dirty="0" err="1"/>
              <a:t>itemCount</a:t>
            </a:r>
            <a:r>
              <a:rPr lang="en-US" sz="2400" b="1" dirty="0"/>
              <a:t> [</a:t>
            </a:r>
            <a:r>
              <a:rPr lang="en-US" sz="2400" b="1" dirty="0" err="1"/>
              <a:t>i</a:t>
            </a:r>
            <a:r>
              <a:rPr lang="en-US" sz="2400" b="1" dirty="0"/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500426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405" y="1959757"/>
            <a:ext cx="3949318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/>
              <a:t>Checking If Two Arrays Have the Same Data</a:t>
            </a:r>
            <a:endParaRPr sz="32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0610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38574" cy="590038"/>
          </a:xfrm>
        </p:spPr>
        <p:txBody>
          <a:bodyPr/>
          <a:lstStyle/>
          <a:p>
            <a:pPr algn="l"/>
            <a:r>
              <a:rPr lang="en-US" sz="3300" dirty="0"/>
              <a:t>Do Two Arrays Have the Same Data?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you want to test if the arrays </a:t>
            </a:r>
            <a:r>
              <a:rPr lang="en-US" sz="2800" b="1" dirty="0" err="1"/>
              <a:t>oldItemCount</a:t>
            </a:r>
            <a:r>
              <a:rPr lang="en-US" sz="2800" b="1" dirty="0"/>
              <a:t> and </a:t>
            </a:r>
            <a:r>
              <a:rPr lang="en-US" sz="2800" b="1" dirty="0" err="1"/>
              <a:t>itemCount</a:t>
            </a:r>
            <a:r>
              <a:rPr lang="en-US" sz="2800" b="1" dirty="0"/>
              <a:t> are equal element by element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you cannot code</a:t>
            </a:r>
          </a:p>
          <a:p>
            <a:pPr marL="596900" lvl="1" indent="0" algn="l"/>
            <a:r>
              <a:rPr lang="en-US" sz="2600" b="1" dirty="0"/>
              <a:t>     if (</a:t>
            </a:r>
            <a:r>
              <a:rPr lang="en-US" sz="2600" b="1" dirty="0" err="1"/>
              <a:t>oldItemCount</a:t>
            </a:r>
            <a:r>
              <a:rPr lang="en-US" sz="2600" b="1" dirty="0"/>
              <a:t> == </a:t>
            </a:r>
            <a:r>
              <a:rPr lang="en-US" sz="2600" b="1" dirty="0" err="1"/>
              <a:t>itemCount</a:t>
            </a:r>
            <a:r>
              <a:rPr lang="en-US" sz="2600" b="1" dirty="0"/>
              <a:t>) …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compiler will not allow this</a:t>
            </a:r>
          </a:p>
        </p:txBody>
      </p:sp>
    </p:spTree>
    <p:extLst>
      <p:ext uri="{BB962C8B-B14F-4D97-AF65-F5344CB8AC3E}">
        <p14:creationId xmlns:p14="http://schemas.microsoft.com/office/powerpoint/2010/main" val="3204381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Testing if Two Arrays “Match”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1762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have to code</a:t>
            </a:r>
          </a:p>
          <a:p>
            <a:pPr marL="596900" lvl="1" indent="0" algn="l"/>
            <a:r>
              <a:rPr lang="en-US" sz="2600" b="1" dirty="0"/>
              <a:t>    </a:t>
            </a:r>
            <a:r>
              <a:rPr lang="en-US" sz="2600" b="1" dirty="0" err="1"/>
              <a:t>boolean</a:t>
            </a:r>
            <a:r>
              <a:rPr lang="en-US" sz="2600" b="1" dirty="0"/>
              <a:t> same = true;</a:t>
            </a:r>
          </a:p>
          <a:p>
            <a:pPr marL="596900" lvl="1" indent="0" algn="l"/>
            <a:r>
              <a:rPr lang="en-US" sz="2600" b="1" dirty="0"/>
              <a:t>    for (int </a:t>
            </a:r>
            <a:r>
              <a:rPr lang="en-US" sz="2600" b="1" dirty="0" err="1"/>
              <a:t>i</a:t>
            </a:r>
            <a:r>
              <a:rPr lang="en-US" sz="2600" b="1" dirty="0"/>
              <a:t>=0;  </a:t>
            </a:r>
            <a:r>
              <a:rPr lang="en-US" sz="2600" b="1" dirty="0" err="1"/>
              <a:t>i</a:t>
            </a:r>
            <a:r>
              <a:rPr lang="en-US" sz="2600" b="1" dirty="0"/>
              <a:t> &lt; </a:t>
            </a:r>
            <a:r>
              <a:rPr lang="en-US" sz="2600" b="1" dirty="0" err="1"/>
              <a:t>itemCount.length</a:t>
            </a:r>
            <a:r>
              <a:rPr lang="en-US" sz="2600" b="1" dirty="0"/>
              <a:t>;  </a:t>
            </a:r>
            <a:r>
              <a:rPr lang="en-US" sz="2600" b="1" dirty="0" err="1"/>
              <a:t>i</a:t>
            </a:r>
            <a:r>
              <a:rPr lang="en-US" sz="2600" b="1" dirty="0"/>
              <a:t>++)</a:t>
            </a:r>
          </a:p>
          <a:p>
            <a:pPr marL="596900" lvl="1" indent="0" algn="l"/>
            <a:r>
              <a:rPr lang="en-US" sz="2600" b="1" dirty="0"/>
              <a:t>        if (</a:t>
            </a:r>
            <a:r>
              <a:rPr lang="en-US" sz="2600" b="1" dirty="0" err="1"/>
              <a:t>oldItemCount</a:t>
            </a:r>
            <a:r>
              <a:rPr lang="en-US" sz="2600" b="1" dirty="0"/>
              <a:t> [</a:t>
            </a:r>
            <a:r>
              <a:rPr lang="en-US" sz="2600" b="1" dirty="0" err="1"/>
              <a:t>i</a:t>
            </a:r>
            <a:r>
              <a:rPr lang="en-US" sz="2600" b="1" dirty="0"/>
              <a:t>] != </a:t>
            </a:r>
            <a:r>
              <a:rPr lang="en-US" sz="2600" b="1" dirty="0" err="1"/>
              <a:t>itemCount</a:t>
            </a:r>
            <a:r>
              <a:rPr lang="en-US" sz="2600" b="1" dirty="0"/>
              <a:t> [</a:t>
            </a:r>
            <a:r>
              <a:rPr lang="en-US" sz="2600" b="1" dirty="0" err="1"/>
              <a:t>i</a:t>
            </a:r>
            <a:r>
              <a:rPr lang="en-US" sz="2600" b="1" dirty="0"/>
              <a:t>])</a:t>
            </a:r>
          </a:p>
          <a:p>
            <a:pPr marL="596900" lvl="1" indent="0" algn="l"/>
            <a:r>
              <a:rPr lang="en-US" sz="2600" b="1" dirty="0"/>
              <a:t>             same = false;</a:t>
            </a:r>
          </a:p>
        </p:txBody>
      </p:sp>
    </p:spTree>
    <p:extLst>
      <p:ext uri="{BB962C8B-B14F-4D97-AF65-F5344CB8AC3E}">
        <p14:creationId xmlns:p14="http://schemas.microsoft.com/office/powerpoint/2010/main" val="68951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Better Way to Do That 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lvl="1" indent="0" algn="l"/>
            <a:r>
              <a:rPr lang="en-US" sz="2400" b="1" dirty="0" err="1"/>
              <a:t>boolean</a:t>
            </a:r>
            <a:r>
              <a:rPr lang="en-US" sz="2400" b="1" dirty="0"/>
              <a:t> same = true;</a:t>
            </a:r>
          </a:p>
          <a:p>
            <a:pPr marL="596900" lvl="1" indent="0" algn="l"/>
            <a:r>
              <a:rPr lang="en-US" sz="2400" b="1" dirty="0"/>
              <a:t>int </a:t>
            </a:r>
            <a:r>
              <a:rPr lang="en-US" sz="2400" b="1" dirty="0" err="1"/>
              <a:t>i</a:t>
            </a:r>
            <a:r>
              <a:rPr lang="en-US" sz="2400" b="1" dirty="0"/>
              <a:t>=0;</a:t>
            </a:r>
          </a:p>
          <a:p>
            <a:pPr marL="596900" lvl="1" indent="0" algn="l"/>
            <a:r>
              <a:rPr lang="en-US" sz="2400" b="1" dirty="0"/>
              <a:t>while (same   &amp;&amp;  </a:t>
            </a:r>
            <a:r>
              <a:rPr lang="en-US" sz="2400" b="1" dirty="0" err="1"/>
              <a:t>i</a:t>
            </a:r>
            <a:r>
              <a:rPr lang="en-US" sz="2400" b="1" dirty="0"/>
              <a:t> &lt; </a:t>
            </a:r>
            <a:r>
              <a:rPr lang="en-US" sz="2400" b="1" dirty="0" err="1"/>
              <a:t>itemCount.length</a:t>
            </a:r>
            <a:r>
              <a:rPr lang="en-US" sz="2400" b="1" dirty="0"/>
              <a:t>)</a:t>
            </a:r>
          </a:p>
          <a:p>
            <a:pPr marL="596900" lvl="1" indent="0" algn="l"/>
            <a:r>
              <a:rPr lang="en-US" sz="2400" b="1" dirty="0"/>
              <a:t>   {</a:t>
            </a:r>
          </a:p>
          <a:p>
            <a:pPr marL="596900" lvl="1" indent="0" algn="l"/>
            <a:r>
              <a:rPr lang="en-US" sz="2400" b="1" dirty="0"/>
              <a:t>       if (</a:t>
            </a:r>
            <a:r>
              <a:rPr lang="en-US" sz="2400" b="1" dirty="0" err="1"/>
              <a:t>oldItemCount</a:t>
            </a:r>
            <a:r>
              <a:rPr lang="en-US" sz="2400" b="1" dirty="0"/>
              <a:t> [</a:t>
            </a:r>
            <a:r>
              <a:rPr lang="en-US" sz="2400" b="1" dirty="0" err="1"/>
              <a:t>i</a:t>
            </a:r>
            <a:r>
              <a:rPr lang="en-US" sz="2400" b="1" dirty="0"/>
              <a:t>] != </a:t>
            </a:r>
            <a:r>
              <a:rPr lang="en-US" sz="2400" b="1" dirty="0" err="1"/>
              <a:t>itemCount</a:t>
            </a:r>
            <a:r>
              <a:rPr lang="en-US" sz="2400" b="1" dirty="0"/>
              <a:t> [</a:t>
            </a:r>
            <a:r>
              <a:rPr lang="en-US" sz="2400" b="1" dirty="0" err="1"/>
              <a:t>i</a:t>
            </a:r>
            <a:r>
              <a:rPr lang="en-US" sz="2400" b="1" dirty="0"/>
              <a:t>])</a:t>
            </a:r>
          </a:p>
          <a:p>
            <a:pPr marL="596900" lvl="1" indent="0" algn="l"/>
            <a:r>
              <a:rPr lang="en-US" sz="2400" b="1" dirty="0"/>
              <a:t>           same = false;</a:t>
            </a:r>
          </a:p>
          <a:p>
            <a:pPr marL="596900" lvl="1" indent="0" algn="l"/>
            <a:r>
              <a:rPr lang="en-US" sz="2400" b="1" dirty="0"/>
              <a:t>       </a:t>
            </a:r>
            <a:r>
              <a:rPr lang="en-US" sz="2400" b="1" dirty="0" err="1"/>
              <a:t>i</a:t>
            </a:r>
            <a:r>
              <a:rPr lang="en-US" sz="2400" b="1" dirty="0"/>
              <a:t>++;</a:t>
            </a:r>
          </a:p>
          <a:p>
            <a:pPr marL="596900" lvl="1" indent="0" algn="l"/>
            <a:r>
              <a:rPr lang="en-US" sz="2400" b="1" dirty="0"/>
              <a:t>   }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This avoids continuing to check after different items have been found</a:t>
            </a:r>
          </a:p>
        </p:txBody>
      </p:sp>
    </p:spTree>
    <p:extLst>
      <p:ext uri="{BB962C8B-B14F-4D97-AF65-F5344CB8AC3E}">
        <p14:creationId xmlns:p14="http://schemas.microsoft.com/office/powerpoint/2010/main" val="3820856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2303</TotalTime>
  <Words>874</Words>
  <Application>Microsoft Office PowerPoint</Application>
  <PresentationFormat>On-screen Show (16:9)</PresentationFormat>
  <Paragraphs>148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Bebas Neue</vt:lpstr>
      <vt:lpstr>Kalam</vt:lpstr>
      <vt:lpstr>Special Elite</vt:lpstr>
      <vt:lpstr>US Great Outdoors Month by Slidesgo</vt:lpstr>
      <vt:lpstr>Introduction to Object-Oriented Programming: Java</vt:lpstr>
      <vt:lpstr>Chapter 7</vt:lpstr>
      <vt:lpstr>Vocabulary, Concepts, and  Skills</vt:lpstr>
      <vt:lpstr>VOCABULARY</vt:lpstr>
      <vt:lpstr>CONCEPTS</vt:lpstr>
      <vt:lpstr>CONCEPTS</vt:lpstr>
      <vt:lpstr>SKILLS</vt:lpstr>
      <vt:lpstr>SKILLS</vt:lpstr>
      <vt:lpstr>Chapter 7</vt:lpstr>
      <vt:lpstr>Introducing Arrays</vt:lpstr>
      <vt:lpstr>Introducing Arrays</vt:lpstr>
      <vt:lpstr>Basic Things to Know about Arrays</vt:lpstr>
      <vt:lpstr>More Things to Notice about Arrays</vt:lpstr>
      <vt:lpstr>Declaring an Array</vt:lpstr>
      <vt:lpstr>Declaring an Array-Examples</vt:lpstr>
      <vt:lpstr>Notes about Indexes</vt:lpstr>
      <vt:lpstr>Important Ideas about Arrays</vt:lpstr>
      <vt:lpstr>Array Elements in a Program</vt:lpstr>
      <vt:lpstr>Using an Array</vt:lpstr>
      <vt:lpstr>Array Elements Act Just Like Variables</vt:lpstr>
      <vt:lpstr>Finding the Length of an Array</vt:lpstr>
      <vt:lpstr>Finding the Length of an Array</vt:lpstr>
      <vt:lpstr>Printing the Elements of an Array</vt:lpstr>
      <vt:lpstr>Printing All Elements of an Array</vt:lpstr>
      <vt:lpstr>Interesting for Loops</vt:lpstr>
      <vt:lpstr>Copying One Array to Another</vt:lpstr>
      <vt:lpstr>Copying One Array to Another</vt:lpstr>
      <vt:lpstr>Checking If Two Arrays Have the Same Data</vt:lpstr>
      <vt:lpstr>Do Two Arrays Have the Same Data?</vt:lpstr>
      <vt:lpstr>Testing if Two Arrays “Match”</vt:lpstr>
      <vt:lpstr>A Better Way to Do That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James Hoffman</cp:lastModifiedBy>
  <cp:revision>177</cp:revision>
  <cp:lastPrinted>2022-06-21T15:58:31Z</cp:lastPrinted>
  <dcterms:modified xsi:type="dcterms:W3CDTF">2022-07-14T18:29:49Z</dcterms:modified>
</cp:coreProperties>
</file>