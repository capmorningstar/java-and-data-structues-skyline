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44"/>
  </p:notesMasterIdLst>
  <p:sldIdLst>
    <p:sldId id="256" r:id="rId2"/>
    <p:sldId id="381" r:id="rId3"/>
    <p:sldId id="282" r:id="rId4"/>
    <p:sldId id="257" r:id="rId5"/>
    <p:sldId id="278" r:id="rId6"/>
    <p:sldId id="397" r:id="rId7"/>
    <p:sldId id="291" r:id="rId8"/>
    <p:sldId id="396" r:id="rId9"/>
    <p:sldId id="487" r:id="rId10"/>
    <p:sldId id="436" r:id="rId11"/>
    <p:sldId id="488" r:id="rId12"/>
    <p:sldId id="438" r:id="rId13"/>
    <p:sldId id="456" r:id="rId14"/>
    <p:sldId id="440" r:id="rId15"/>
    <p:sldId id="489" r:id="rId16"/>
    <p:sldId id="441" r:id="rId17"/>
    <p:sldId id="442" r:id="rId18"/>
    <p:sldId id="443" r:id="rId19"/>
    <p:sldId id="444" r:id="rId20"/>
    <p:sldId id="490" r:id="rId21"/>
    <p:sldId id="445" r:id="rId22"/>
    <p:sldId id="465" r:id="rId23"/>
    <p:sldId id="491" r:id="rId24"/>
    <p:sldId id="466" r:id="rId25"/>
    <p:sldId id="446" r:id="rId26"/>
    <p:sldId id="492" r:id="rId27"/>
    <p:sldId id="447" r:id="rId28"/>
    <p:sldId id="448" r:id="rId29"/>
    <p:sldId id="449" r:id="rId30"/>
    <p:sldId id="450" r:id="rId31"/>
    <p:sldId id="493" r:id="rId32"/>
    <p:sldId id="451" r:id="rId33"/>
    <p:sldId id="467" r:id="rId34"/>
    <p:sldId id="468" r:id="rId35"/>
    <p:sldId id="474" r:id="rId36"/>
    <p:sldId id="475" r:id="rId37"/>
    <p:sldId id="476" r:id="rId38"/>
    <p:sldId id="453" r:id="rId39"/>
    <p:sldId id="494" r:id="rId40"/>
    <p:sldId id="452" r:id="rId41"/>
    <p:sldId id="457" r:id="rId42"/>
    <p:sldId id="290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4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83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429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314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058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615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208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929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46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4618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083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4904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449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781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11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049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820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49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101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283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090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089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83975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2221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562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522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5515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133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7181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76966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9618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8300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3907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6553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1096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58146"/>
              </p:ext>
            </p:extLst>
          </p:nvPr>
        </p:nvGraphicFramePr>
        <p:xfrm>
          <a:off x="860320" y="1512717"/>
          <a:ext cx="743701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1648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Instantiating an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Input Validation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Logical Operators:  !, &amp;&amp;, and ||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 err="1"/>
                        <a:t>DeMorgan’s</a:t>
                      </a:r>
                      <a:r>
                        <a:rPr lang="en-US" sz="1800" b="1" dirty="0"/>
                        <a:t> Law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Whitespace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Short Circuit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Conditional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if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  <a:r>
                        <a:rPr lang="en-US" sz="1800" b="1" dirty="0"/>
                        <a:t> with else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switch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Comparison Operators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Boolean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if Statement with Multiple Choices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Enumerated Types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Nested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CONCEPTS:  USING AN if STATEMENT-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&amp;&amp;, ||, and !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One Choice out of Many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an else Clause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a Simple Decision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OTHER 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DeMorgan’s</a:t>
            </a: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Law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Short Circuit if Statements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Pseudocode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Structured Programming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  <p:extLst>
      <p:ext uri="{BB962C8B-B14F-4D97-AF65-F5344CB8AC3E}">
        <p14:creationId xmlns:p14="http://schemas.microsoft.com/office/powerpoint/2010/main" val="5449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switch Statement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Enumerated Types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Scanner and Its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Boolean Variables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Braces, Braces, and More Braces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10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About Those Extra Braces…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this reason, some programmers always use braces after an if or an else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 good habit to develop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Then you are in control of nested if statements with else clauses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You don’t have to worry about misinterpretations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Always use braces</a:t>
            </a:r>
          </a:p>
        </p:txBody>
      </p:sp>
    </p:spTree>
    <p:extLst>
      <p:ext uri="{BB962C8B-B14F-4D97-AF65-F5344CB8AC3E}">
        <p14:creationId xmlns:p14="http://schemas.microsoft.com/office/powerpoint/2010/main" val="255008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Choosing One Item from Many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68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Making Many Choices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series of if statements matches a letter to a test score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is for 90-100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 is for 80-90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etc.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Assume grade was declared as char:</a:t>
            </a:r>
          </a:p>
          <a:p>
            <a:pPr marL="596900" lvl="1" indent="0" algn="l"/>
            <a:r>
              <a:rPr lang="en-US" sz="2600" b="1" dirty="0"/>
              <a:t>     char grade;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Watch how it does this</a:t>
            </a:r>
          </a:p>
        </p:txBody>
      </p:sp>
    </p:spTree>
    <p:extLst>
      <p:ext uri="{BB962C8B-B14F-4D97-AF65-F5344CB8AC3E}">
        <p14:creationId xmlns:p14="http://schemas.microsoft.com/office/powerpoint/2010/main" val="367106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Multiple Choice if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400" b="1" dirty="0"/>
              <a:t>if (</a:t>
            </a:r>
            <a:r>
              <a:rPr lang="en-US" sz="2400" b="1" dirty="0" err="1"/>
              <a:t>testScore</a:t>
            </a:r>
            <a:r>
              <a:rPr lang="en-US" sz="2400" b="1" dirty="0"/>
              <a:t> &gt;= 90)</a:t>
            </a:r>
          </a:p>
          <a:p>
            <a:pPr marL="139700" indent="0"/>
            <a:r>
              <a:rPr lang="en-US" sz="2400" b="1" dirty="0"/>
              <a:t>    grade = ‘A’;</a:t>
            </a:r>
          </a:p>
          <a:p>
            <a:pPr marL="139700" indent="0"/>
            <a:r>
              <a:rPr lang="en-US" sz="2400" b="1" dirty="0"/>
              <a:t>else if (</a:t>
            </a:r>
            <a:r>
              <a:rPr lang="en-US" sz="2400" b="1" dirty="0" err="1"/>
              <a:t>testScore</a:t>
            </a:r>
            <a:r>
              <a:rPr lang="en-US" sz="2400" b="1" dirty="0"/>
              <a:t> &gt;= 80)</a:t>
            </a:r>
          </a:p>
          <a:p>
            <a:pPr marL="139700" indent="0"/>
            <a:r>
              <a:rPr lang="en-US" sz="2400" b="1" dirty="0"/>
              <a:t>    grade = ‘B’;</a:t>
            </a:r>
          </a:p>
          <a:p>
            <a:pPr marL="139700" indent="0"/>
            <a:r>
              <a:rPr lang="en-US" sz="2400" b="1" dirty="0"/>
              <a:t>else if (</a:t>
            </a:r>
            <a:r>
              <a:rPr lang="en-US" sz="2400" b="1" dirty="0" err="1"/>
              <a:t>testScore</a:t>
            </a:r>
            <a:r>
              <a:rPr lang="en-US" sz="2400" b="1" dirty="0"/>
              <a:t> &gt;= 70)</a:t>
            </a:r>
          </a:p>
          <a:p>
            <a:pPr marL="0" lvl="0" indent="0">
              <a:buClr>
                <a:srgbClr val="000000"/>
              </a:buClr>
              <a:buSzTx/>
              <a:defRPr/>
            </a:pPr>
            <a:r>
              <a:rPr lang="en-US" sz="2400" b="1" dirty="0"/>
              <a:t>      grade = ‘C’;</a:t>
            </a:r>
          </a:p>
          <a:p>
            <a:pPr marL="139700" indent="0"/>
            <a:r>
              <a:rPr lang="en-US" sz="2400" b="1" dirty="0"/>
              <a:t>else if (</a:t>
            </a:r>
            <a:r>
              <a:rPr lang="en-US" sz="2400" b="1" dirty="0" err="1"/>
              <a:t>testScore</a:t>
            </a:r>
            <a:r>
              <a:rPr lang="en-US" sz="2400" b="1" dirty="0"/>
              <a:t> &gt;= 60)</a:t>
            </a:r>
          </a:p>
          <a:p>
            <a:pPr marL="139700" indent="0"/>
            <a:r>
              <a:rPr lang="en-US" sz="2400" b="1" dirty="0"/>
              <a:t>    grade = ‘D’;</a:t>
            </a:r>
          </a:p>
          <a:p>
            <a:pPr marL="139700" indent="0"/>
            <a:r>
              <a:rPr lang="en-US" sz="2400" b="1" dirty="0"/>
              <a:t>else  // if (</a:t>
            </a:r>
            <a:r>
              <a:rPr lang="en-US" sz="2400" b="1" dirty="0" err="1"/>
              <a:t>testScore</a:t>
            </a:r>
            <a:r>
              <a:rPr lang="en-US" sz="2400" b="1" dirty="0"/>
              <a:t> &lt; 60)</a:t>
            </a:r>
          </a:p>
          <a:p>
            <a:pPr marL="139700" indent="0"/>
            <a:r>
              <a:rPr lang="en-US" sz="2400" b="1" dirty="0"/>
              <a:t>    grade = ‘F’;</a:t>
            </a:r>
          </a:p>
        </p:txBody>
      </p:sp>
    </p:spTree>
    <p:extLst>
      <p:ext uri="{BB962C8B-B14F-4D97-AF65-F5344CB8AC3E}">
        <p14:creationId xmlns:p14="http://schemas.microsoft.com/office/powerpoint/2010/main" val="316966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Notes on Using a Multiple Choice if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First, let’s understand how this if statement works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notice the last option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It doesn’t have a condition following the else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The condition is commented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This is because an if statement always takes one alternative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We want to force that last one</a:t>
            </a:r>
          </a:p>
        </p:txBody>
      </p:sp>
    </p:spTree>
    <p:extLst>
      <p:ext uri="{BB962C8B-B14F-4D97-AF65-F5344CB8AC3E}">
        <p14:creationId xmlns:p14="http://schemas.microsoft.com/office/powerpoint/2010/main" val="44445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Using the switch Statement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5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switch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switch statement is an alternative to a multiple choice if statement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have to fill out a questionnaire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choices are</a:t>
            </a:r>
          </a:p>
          <a:p>
            <a:pPr marL="596900" lvl="1" indent="0" algn="l"/>
            <a:r>
              <a:rPr lang="en-US" sz="2400" b="1" dirty="0"/>
              <a:t>          1 = Strongly disagree</a:t>
            </a:r>
          </a:p>
          <a:p>
            <a:pPr marL="596900" lvl="1" indent="0" algn="l"/>
            <a:r>
              <a:rPr lang="en-US" sz="2400" b="1" dirty="0"/>
              <a:t>          2 = Disagree, etc., up to</a:t>
            </a:r>
          </a:p>
          <a:p>
            <a:pPr marL="596900" lvl="1" indent="0" algn="l"/>
            <a:r>
              <a:rPr lang="en-US" sz="2400" b="1" dirty="0"/>
              <a:t>          5 = Strongly agree</a:t>
            </a:r>
          </a:p>
        </p:txBody>
      </p:sp>
    </p:spTree>
    <p:extLst>
      <p:ext uri="{BB962C8B-B14F-4D97-AF65-F5344CB8AC3E}">
        <p14:creationId xmlns:p14="http://schemas.microsoft.com/office/powerpoint/2010/main" val="189397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Comparing the if and the switch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will display them both side-by-side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then compare them</a:t>
            </a:r>
          </a:p>
        </p:txBody>
      </p:sp>
    </p:spTree>
    <p:extLst>
      <p:ext uri="{BB962C8B-B14F-4D97-AF65-F5344CB8AC3E}">
        <p14:creationId xmlns:p14="http://schemas.microsoft.com/office/powerpoint/2010/main" val="2835248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Side-By-Side 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A4ECA9-E7EE-41A6-BF94-0F9744BD8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389686"/>
              </p:ext>
            </p:extLst>
          </p:nvPr>
        </p:nvGraphicFramePr>
        <p:xfrm>
          <a:off x="1286720" y="1185333"/>
          <a:ext cx="7090165" cy="4038836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3714969">
                  <a:extLst>
                    <a:ext uri="{9D8B030D-6E8A-4147-A177-3AD203B41FA5}">
                      <a16:colId xmlns:a16="http://schemas.microsoft.com/office/drawing/2014/main" val="3679155895"/>
                    </a:ext>
                  </a:extLst>
                </a:gridCol>
                <a:gridCol w="3375196">
                  <a:extLst>
                    <a:ext uri="{9D8B030D-6E8A-4147-A177-3AD203B41FA5}">
                      <a16:colId xmlns:a16="http://schemas.microsoft.com/office/drawing/2014/main" val="1300009476"/>
                    </a:ext>
                  </a:extLst>
                </a:gridCol>
              </a:tblGrid>
              <a:tr h="320276">
                <a:tc>
                  <a:txBody>
                    <a:bodyPr/>
                    <a:lstStyle/>
                    <a:p>
                      <a:r>
                        <a:rPr lang="en-US" dirty="0"/>
                        <a:t>Version 1:  Using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Version 2:  Using switch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21508"/>
                  </a:ext>
                </a:extLst>
              </a:tr>
              <a:tr h="363789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if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 == 5)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(“Strongly agree”);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else if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 == 4)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(“Agree”);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else if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 == 3)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(“Am indifferent”);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else if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 ==2)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(“Disagree”);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else //  if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 == 1)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(“Strongly disagree”);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 (</a:t>
                      </a:r>
                      <a:r>
                        <a:rPr lang="en-US" dirty="0" err="1"/>
                        <a:t>userChoice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{</a:t>
                      </a:r>
                    </a:p>
                    <a:p>
                      <a:r>
                        <a:rPr lang="en-US" dirty="0"/>
                        <a:t>    case 5: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(“Str. agree”);</a:t>
                      </a:r>
                    </a:p>
                    <a:p>
                      <a:r>
                        <a:rPr lang="en-US" dirty="0"/>
                        <a:t>        break;</a:t>
                      </a:r>
                    </a:p>
                    <a:p>
                      <a:r>
                        <a:rPr lang="en-US" dirty="0"/>
                        <a:t>    case 4: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(“Agree”);</a:t>
                      </a:r>
                    </a:p>
                    <a:p>
                      <a:r>
                        <a:rPr lang="en-US" dirty="0"/>
                        <a:t>        break;</a:t>
                      </a:r>
                    </a:p>
                    <a:p>
                      <a:r>
                        <a:rPr lang="en-US" dirty="0"/>
                        <a:t>    case 3: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(“Am </a:t>
                      </a:r>
                      <a:r>
                        <a:rPr lang="en-US" dirty="0" err="1"/>
                        <a:t>indiff</a:t>
                      </a:r>
                      <a:r>
                        <a:rPr lang="en-US" dirty="0"/>
                        <a:t>.”);</a:t>
                      </a:r>
                    </a:p>
                    <a:p>
                      <a:r>
                        <a:rPr lang="en-US" dirty="0"/>
                        <a:t>        break;</a:t>
                      </a:r>
                    </a:p>
                    <a:p>
                      <a:r>
                        <a:rPr lang="en-US" dirty="0"/>
                        <a:t>    case 2: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(“Disagree”);</a:t>
                      </a:r>
                    </a:p>
                    <a:p>
                      <a:r>
                        <a:rPr lang="en-US" dirty="0"/>
                        <a:t>        break;</a:t>
                      </a:r>
                    </a:p>
                    <a:p>
                      <a:r>
                        <a:rPr lang="en-US" dirty="0"/>
                        <a:t>    default:</a:t>
                      </a:r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 (“Str. disagree”);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415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904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78326" cy="590038"/>
          </a:xfrm>
        </p:spPr>
        <p:txBody>
          <a:bodyPr/>
          <a:lstStyle/>
          <a:p>
            <a:pPr algn="l"/>
            <a:r>
              <a:rPr lang="en-US" sz="3300" dirty="0"/>
              <a:t>Notes on that switch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the cases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case (case 5</a:t>
            </a:r>
            <a:r>
              <a:rPr lang="en-US" sz="2800" b="1" dirty="0">
                <a:sym typeface="Wingdings" panose="05000000000000000000" pitchFamily="2" charset="2"/>
              </a:rPr>
              <a:t>:) </a:t>
            </a:r>
            <a:r>
              <a:rPr lang="en-US" sz="2800" b="1" dirty="0"/>
              <a:t>means</a:t>
            </a:r>
          </a:p>
          <a:p>
            <a:pPr marL="596900" lvl="1" indent="0" algn="l"/>
            <a:r>
              <a:rPr lang="en-US" sz="2600" b="1" dirty="0"/>
              <a:t>     if (</a:t>
            </a:r>
            <a:r>
              <a:rPr lang="en-US" sz="2600" b="1" dirty="0" err="1"/>
              <a:t>userChoice</a:t>
            </a:r>
            <a:r>
              <a:rPr lang="en-US" sz="2600" b="1" dirty="0"/>
              <a:t> == 5)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rest are similar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always use break at the end of each case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only time I will allow the use of break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Internet users love break—I don’t</a:t>
            </a:r>
          </a:p>
        </p:txBody>
      </p:sp>
    </p:spTree>
    <p:extLst>
      <p:ext uri="{BB962C8B-B14F-4D97-AF65-F5344CB8AC3E}">
        <p14:creationId xmlns:p14="http://schemas.microsoft.com/office/powerpoint/2010/main" val="3293545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The Conditional Operator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Conditional Operator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a shortcut operator for simple if statements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if should have this format</a:t>
            </a:r>
          </a:p>
          <a:p>
            <a:pPr marL="596900" lvl="1" indent="0" algn="l"/>
            <a:r>
              <a:rPr lang="en-US" sz="2600" b="1" dirty="0"/>
              <a:t>    if (y = = 13)</a:t>
            </a:r>
          </a:p>
          <a:p>
            <a:pPr marL="596900" lvl="1" indent="0" algn="l"/>
            <a:r>
              <a:rPr lang="en-US" sz="2600" b="1" dirty="0"/>
              <a:t>        x = 100;</a:t>
            </a:r>
          </a:p>
          <a:p>
            <a:pPr marL="596900" lvl="1" indent="0" algn="l"/>
            <a:r>
              <a:rPr lang="en-US" sz="2600" b="1" dirty="0"/>
              <a:t>    else</a:t>
            </a:r>
          </a:p>
          <a:p>
            <a:pPr marL="596900" lvl="1" indent="0" algn="l"/>
            <a:r>
              <a:rPr lang="en-US" sz="2600" b="1" dirty="0"/>
              <a:t>        x = 0;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equivalent code is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800" b="1" dirty="0"/>
              <a:t>x =   y = = 13? 100: 0;</a:t>
            </a:r>
          </a:p>
        </p:txBody>
      </p:sp>
    </p:spTree>
    <p:extLst>
      <p:ext uri="{BB962C8B-B14F-4D97-AF65-F5344CB8AC3E}">
        <p14:creationId xmlns:p14="http://schemas.microsoft.com/office/powerpoint/2010/main" val="2067675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430803" cy="590038"/>
          </a:xfrm>
        </p:spPr>
        <p:txBody>
          <a:bodyPr/>
          <a:lstStyle/>
          <a:p>
            <a:pPr algn="l"/>
            <a:r>
              <a:rPr lang="en-US" sz="3300" dirty="0"/>
              <a:t>Avoiding That Conditional Operator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this for a lot more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Anything you can code in an if you can also code using this operator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can lead to some pretty seriously unreadable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Many people advise against its use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look this up in the book</a:t>
            </a:r>
          </a:p>
        </p:txBody>
      </p:sp>
    </p:spTree>
    <p:extLst>
      <p:ext uri="{BB962C8B-B14F-4D97-AF65-F5344CB8AC3E}">
        <p14:creationId xmlns:p14="http://schemas.microsoft.com/office/powerpoint/2010/main" val="2121139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Revisiting Boolean Variables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41324" cy="590038"/>
          </a:xfrm>
        </p:spPr>
        <p:txBody>
          <a:bodyPr/>
          <a:lstStyle/>
          <a:p>
            <a:pPr algn="l"/>
            <a:r>
              <a:rPr lang="en-US" sz="3300" dirty="0"/>
              <a:t>Using Boolean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Boolean is a type, like int or double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usually name Boolean variables ___is___   or   ___has___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some examples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boolean</a:t>
            </a:r>
            <a:r>
              <a:rPr lang="en-US" sz="2600" b="1" dirty="0"/>
              <a:t> </a:t>
            </a:r>
            <a:r>
              <a:rPr lang="en-US" sz="2600" b="1" dirty="0" err="1"/>
              <a:t>ageIsValid</a:t>
            </a:r>
            <a:r>
              <a:rPr lang="en-US" sz="2600" b="1" dirty="0"/>
              <a:t>;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ageIsValid</a:t>
            </a:r>
            <a:r>
              <a:rPr lang="en-US" sz="2600" b="1" dirty="0"/>
              <a:t> = (</a:t>
            </a:r>
            <a:r>
              <a:rPr lang="en-US" sz="2600" b="1" dirty="0" err="1"/>
              <a:t>personsAge</a:t>
            </a:r>
            <a:r>
              <a:rPr lang="en-US" sz="2600" b="1" dirty="0"/>
              <a:t> &gt; 0  &amp;&amp;</a:t>
            </a:r>
          </a:p>
          <a:p>
            <a:pPr marL="596900" lvl="1" indent="0" algn="l"/>
            <a:r>
              <a:rPr lang="en-US" sz="2600" b="1" dirty="0"/>
              <a:t>	                                </a:t>
            </a:r>
            <a:r>
              <a:rPr lang="en-US" sz="2600" b="1" dirty="0" err="1"/>
              <a:t>personsAge</a:t>
            </a:r>
            <a:r>
              <a:rPr lang="en-US" sz="2600" b="1" dirty="0"/>
              <a:t> &lt; 125);</a:t>
            </a:r>
          </a:p>
        </p:txBody>
      </p:sp>
    </p:spTree>
    <p:extLst>
      <p:ext uri="{BB962C8B-B14F-4D97-AF65-F5344CB8AC3E}">
        <p14:creationId xmlns:p14="http://schemas.microsoft.com/office/powerpoint/2010/main" val="331428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956214" cy="590038"/>
          </a:xfrm>
        </p:spPr>
        <p:txBody>
          <a:bodyPr/>
          <a:lstStyle/>
          <a:p>
            <a:pPr algn="l"/>
            <a:r>
              <a:rPr lang="en-US" sz="3300" dirty="0"/>
              <a:t>Using “is”, “has” in Boolean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Why do we do that?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an if statement, we could code</a:t>
            </a:r>
          </a:p>
          <a:p>
            <a:pPr marL="596900" lvl="1" indent="0" algn="l"/>
            <a:r>
              <a:rPr lang="en-US" sz="2600" b="1" dirty="0"/>
              <a:t>     if (</a:t>
            </a:r>
            <a:r>
              <a:rPr lang="en-US" sz="2600" b="1" dirty="0" err="1"/>
              <a:t>ageIsValid</a:t>
            </a:r>
            <a:r>
              <a:rPr lang="en-US" sz="2600" b="1" dirty="0"/>
              <a:t> == true)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Or, we could also code</a:t>
            </a:r>
          </a:p>
          <a:p>
            <a:pPr marL="596900" lvl="1" indent="0" algn="l"/>
            <a:r>
              <a:rPr lang="en-US" sz="2600" b="1" dirty="0"/>
              <a:t>     if (</a:t>
            </a:r>
            <a:r>
              <a:rPr lang="en-US" sz="2600" b="1" dirty="0" err="1"/>
              <a:t>ageIsValid</a:t>
            </a:r>
            <a:r>
              <a:rPr lang="en-US" sz="26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 always, we let readability determine the choice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Which is more readable?</a:t>
            </a:r>
          </a:p>
        </p:txBody>
      </p:sp>
    </p:spTree>
    <p:extLst>
      <p:ext uri="{BB962C8B-B14F-4D97-AF65-F5344CB8AC3E}">
        <p14:creationId xmlns:p14="http://schemas.microsoft.com/office/powerpoint/2010/main" val="3254894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Using Enumerated Variables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447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Enumerated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your program has to deal with days of the week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call them 1, 2, …, 7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problem with that is that you have to remember that Sunday =1, Monday=2, etc.</a:t>
            </a:r>
          </a:p>
        </p:txBody>
      </p:sp>
    </p:spTree>
    <p:extLst>
      <p:ext uri="{BB962C8B-B14F-4D97-AF65-F5344CB8AC3E}">
        <p14:creationId xmlns:p14="http://schemas.microsoft.com/office/powerpoint/2010/main" val="2196898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Problems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But wait!  In some cultures, the week starts with Monday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So, maybe, we should make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Monday=1, Tuesday=2, etc.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Different programmers will produce different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makes it very easy to (unintentionally) write code with bugs</a:t>
            </a:r>
          </a:p>
        </p:txBody>
      </p:sp>
    </p:spTree>
    <p:extLst>
      <p:ext uri="{BB962C8B-B14F-4D97-AF65-F5344CB8AC3E}">
        <p14:creationId xmlns:p14="http://schemas.microsoft.com/office/powerpoint/2010/main" val="4019254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Solution: Using the Name Itself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would be easier to use Sunday, Monday, etc., instead of 1, 2, …, 7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way, we don’t have to remember that the week starts on Sunday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Er</a:t>
            </a:r>
            <a:r>
              <a:rPr lang="en-US" sz="2800" b="1" dirty="0"/>
              <a:t>, was it Monday?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forget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ym typeface="Wingdings" panose="05000000000000000000" pitchFamily="2" charset="2"/>
              </a:rPr>
              <a:t>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0947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an Enumerated Type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create an enumerated type</a:t>
            </a:r>
          </a:p>
          <a:p>
            <a:pPr marL="596900" lvl="1" indent="0" algn="l"/>
            <a:r>
              <a:rPr lang="en-US" sz="2400" b="1" dirty="0" err="1"/>
              <a:t>enum</a:t>
            </a:r>
            <a:r>
              <a:rPr lang="en-US" sz="2400" b="1" dirty="0"/>
              <a:t> weekday {Sunday, Monday, etc.,</a:t>
            </a:r>
          </a:p>
          <a:p>
            <a:pPr marL="596900" lvl="1" indent="0" algn="l"/>
            <a:r>
              <a:rPr lang="en-US" sz="2400" b="1" dirty="0"/>
              <a:t>                                                     Saturday}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creates a new type named weekday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EnumDemo.java for another example</a:t>
            </a:r>
          </a:p>
        </p:txBody>
      </p:sp>
    </p:spTree>
    <p:extLst>
      <p:ext uri="{BB962C8B-B14F-4D97-AF65-F5344CB8AC3E}">
        <p14:creationId xmlns:p14="http://schemas.microsoft.com/office/powerpoint/2010/main" val="3636141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Lab 5:  Making Change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60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5-Making Change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Programming Project 2 on p. 194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have to determine change from a dollar</a:t>
            </a:r>
          </a:p>
        </p:txBody>
      </p:sp>
    </p:spTree>
    <p:extLst>
      <p:ext uri="{BB962C8B-B14F-4D97-AF65-F5344CB8AC3E}">
        <p14:creationId xmlns:p14="http://schemas.microsoft.com/office/powerpoint/2010/main" val="354908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Lab’s Vending Machine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vending machine sells items from 5c to 85c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items’ costs are in 5c increments: 5c, 10c, 15c, 20c, …, 85c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person using the program will tell you what the item costs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tell the person what kind of change he/she will gets</a:t>
            </a:r>
          </a:p>
        </p:txBody>
      </p:sp>
    </p:spTree>
    <p:extLst>
      <p:ext uri="{BB962C8B-B14F-4D97-AF65-F5344CB8AC3E}">
        <p14:creationId xmlns:p14="http://schemas.microsoft.com/office/powerpoint/2010/main" val="394462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Lab5-Background Material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background information (Programming Project 5 of Chapter 2—p. 132 in the text.)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First, code that project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use it to write a program that determines the change owed to the customer</a:t>
            </a:r>
          </a:p>
        </p:txBody>
      </p:sp>
    </p:spTree>
    <p:extLst>
      <p:ext uri="{BB962C8B-B14F-4D97-AF65-F5344CB8AC3E}">
        <p14:creationId xmlns:p14="http://schemas.microsoft.com/office/powerpoint/2010/main" val="274120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Lab5-Background Material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possible user dialogue might be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Enter price of item (from 5 cents to 85c, in 5-cent increments): 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45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bought an item for 45 cents, gave me a dollar.  Your change is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2 quarters,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0 dimes, and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1 nickel.</a:t>
            </a:r>
          </a:p>
        </p:txBody>
      </p:sp>
    </p:spTree>
    <p:extLst>
      <p:ext uri="{BB962C8B-B14F-4D97-AF65-F5344CB8AC3E}">
        <p14:creationId xmlns:p14="http://schemas.microsoft.com/office/powerpoint/2010/main" val="1537722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Lab5-Background Material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base this program on the program in Listing 2.11 on p. 125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do it instead with if statements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 always, please cite the book if you use their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39701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Lab5-Dealing with Errors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Display the change only if a valid price is entered 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Otherwise, display separate error messages for any of the following invalid inputs: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cost under 5 cents,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cost that is not an integer multiple of 5,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 a cost that is more than 85c</a:t>
            </a:r>
          </a:p>
        </p:txBody>
      </p:sp>
    </p:spTree>
    <p:extLst>
      <p:ext uri="{BB962C8B-B14F-4D97-AF65-F5344CB8AC3E}">
        <p14:creationId xmlns:p14="http://schemas.microsoft.com/office/powerpoint/2010/main" val="2675200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Ideas to Remember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Make sure you check the Class Coding Principles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Don’t break those rules!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the rules of academic honesty apply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you submit must be completely your own work</a:t>
            </a:r>
          </a:p>
        </p:txBody>
      </p:sp>
    </p:spTree>
    <p:extLst>
      <p:ext uri="{BB962C8B-B14F-4D97-AF65-F5344CB8AC3E}">
        <p14:creationId xmlns:p14="http://schemas.microsoft.com/office/powerpoint/2010/main" val="3448371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Lab 6-Logic and </a:t>
            </a:r>
            <a:r>
              <a:rPr lang="en-US" sz="3500"/>
              <a:t>a Dialog Box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5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6-Using a Yes/No Dialog Box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Create a short program for a coffee shop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coffee shop is having a sale on lattes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program should ask the customer if he/she wants a latte using a yes/no dialog box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print an appropriate response based the person’s answer</a:t>
            </a:r>
          </a:p>
        </p:txBody>
      </p:sp>
    </p:spTree>
    <p:extLst>
      <p:ext uri="{BB962C8B-B14F-4D97-AF65-F5344CB8AC3E}">
        <p14:creationId xmlns:p14="http://schemas.microsoft.com/office/powerpoint/2010/main" val="708686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Ideas to Remember from Lab 5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Please remember the ideas to remember  </a:t>
            </a:r>
            <a:r>
              <a:rPr lang="en-US" sz="2800" b="1" dirty="0">
                <a:sym typeface="Wingdings" panose="05000000000000000000" pitchFamily="2" charset="2"/>
              </a:rPr>
              <a:t>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ym typeface="Wingdings" panose="05000000000000000000" pitchFamily="2" charset="2"/>
              </a:rPr>
              <a:t>Those are the Class Coding Principles and Academic Honesty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ym typeface="Wingdings" panose="05000000000000000000" pitchFamily="2" charset="2"/>
              </a:rPr>
              <a:t>Both are always very important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55581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1433</Words>
  <Application>Microsoft Office PowerPoint</Application>
  <PresentationFormat>On-screen Show (16:9)</PresentationFormat>
  <Paragraphs>246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Bebas Neue</vt:lpstr>
      <vt:lpstr>Kalam</vt:lpstr>
      <vt:lpstr>Special Elite</vt:lpstr>
      <vt:lpstr>Wingdings</vt:lpstr>
      <vt:lpstr>US Great Outdoors Month by Slidesgo</vt:lpstr>
      <vt:lpstr>Introduction to Object-Oriented Programming: Java</vt:lpstr>
      <vt:lpstr>Chapter 3</vt:lpstr>
      <vt:lpstr>Vocabulary, Concepts, and  Skills</vt:lpstr>
      <vt:lpstr>VOCABULARY</vt:lpstr>
      <vt:lpstr>CONCEPTS:  USING AN if STATEMENT-</vt:lpstr>
      <vt:lpstr>OTHER CONCEPTS</vt:lpstr>
      <vt:lpstr>SKILLS</vt:lpstr>
      <vt:lpstr>Chapter 3</vt:lpstr>
      <vt:lpstr>Braces, Braces, and More Braces</vt:lpstr>
      <vt:lpstr>About Those Extra Braces…</vt:lpstr>
      <vt:lpstr>Choosing One Item from Many</vt:lpstr>
      <vt:lpstr>Making Many Choices</vt:lpstr>
      <vt:lpstr>A Multiple Choice if Statement</vt:lpstr>
      <vt:lpstr>Notes on Using a Multiple Choice if</vt:lpstr>
      <vt:lpstr>Using the switch Statement</vt:lpstr>
      <vt:lpstr>The switch Statement</vt:lpstr>
      <vt:lpstr>Comparing the if and the switch</vt:lpstr>
      <vt:lpstr>A Side-By-Side Comparison</vt:lpstr>
      <vt:lpstr>Notes on that switch Statement</vt:lpstr>
      <vt:lpstr>The Conditional Operator</vt:lpstr>
      <vt:lpstr>The Conditional Operator</vt:lpstr>
      <vt:lpstr>Avoiding That Conditional Operator</vt:lpstr>
      <vt:lpstr>Revisiting Boolean Variables</vt:lpstr>
      <vt:lpstr>Using Boolean Variables</vt:lpstr>
      <vt:lpstr>Using “is”, “has” in Boolean Variables</vt:lpstr>
      <vt:lpstr>Using Enumerated Variables</vt:lpstr>
      <vt:lpstr>Enumerated Types</vt:lpstr>
      <vt:lpstr>More Problems</vt:lpstr>
      <vt:lpstr>The Solution: Using the Name Itself</vt:lpstr>
      <vt:lpstr>Using an Enumerated Type</vt:lpstr>
      <vt:lpstr>Lab 5:  Making Change</vt:lpstr>
      <vt:lpstr>Lab 5-Making Change</vt:lpstr>
      <vt:lpstr>The Lab’s Vending Machine</vt:lpstr>
      <vt:lpstr>Lab5-Background Material</vt:lpstr>
      <vt:lpstr>Lab5-Background Material</vt:lpstr>
      <vt:lpstr>Lab5-Background Material</vt:lpstr>
      <vt:lpstr>Lab5-Dealing with Errors</vt:lpstr>
      <vt:lpstr>Ideas to Remember</vt:lpstr>
      <vt:lpstr>Lab 6-Logic and a Dialog Box</vt:lpstr>
      <vt:lpstr>Lab 6-Using a Yes/No Dialog Box</vt:lpstr>
      <vt:lpstr>The Ideas to Remember from Lab 5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117</cp:revision>
  <dcterms:modified xsi:type="dcterms:W3CDTF">2022-10-06T02:17:54Z</dcterms:modified>
</cp:coreProperties>
</file>